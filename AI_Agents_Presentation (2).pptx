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7" r:id="rId2"/>
    <p:sldId id="288" r:id="rId3"/>
    <p:sldId id="291" r:id="rId4"/>
    <p:sldId id="258" r:id="rId5"/>
    <p:sldId id="259" r:id="rId6"/>
    <p:sldId id="260" r:id="rId7"/>
    <p:sldId id="298" r:id="rId8"/>
    <p:sldId id="262" r:id="rId9"/>
    <p:sldId id="292" r:id="rId10"/>
    <p:sldId id="293" r:id="rId11"/>
    <p:sldId id="294" r:id="rId12"/>
    <p:sldId id="295" r:id="rId13"/>
    <p:sldId id="29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97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8FF"/>
    <a:srgbClr val="C400FF"/>
    <a:srgbClr val="000000"/>
    <a:srgbClr val="8C52FF"/>
    <a:srgbClr val="A8A3C9"/>
    <a:srgbClr val="B6B6B6"/>
    <a:srgbClr val="1E3660"/>
    <a:srgbClr val="00AEEF"/>
    <a:srgbClr val="0C1D3F"/>
    <a:srgbClr val="082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4820A-680A-4E42-8C0F-A9025D306B7D}" v="100" dt="2026-07-23T04:55:59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i, Chaitanya Shirishkumar" userId="S::chaitanya-shirishkumar.joshi@capgemini.com::18712c0a-f842-4d14-a2eb-d273292d5125" providerId="AD" clId="Web-{6F47AD11-01BE-E847-73BD-F8E132F0D610}"/>
    <pc:docChg chg="modSld">
      <pc:chgData name="Joshi, Chaitanya Shirishkumar" userId="S::chaitanya-shirishkumar.joshi@capgemini.com::18712c0a-f842-4d14-a2eb-d273292d5125" providerId="AD" clId="Web-{6F47AD11-01BE-E847-73BD-F8E132F0D610}" dt="2026-07-06T07:08:35.344" v="2" actId="14100"/>
      <pc:docMkLst>
        <pc:docMk/>
      </pc:docMkLst>
      <pc:sldChg chg="modSp">
        <pc:chgData name="Joshi, Chaitanya Shirishkumar" userId="S::chaitanya-shirishkumar.joshi@capgemini.com::18712c0a-f842-4d14-a2eb-d273292d5125" providerId="AD" clId="Web-{6F47AD11-01BE-E847-73BD-F8E132F0D610}" dt="2026-07-06T07:08:35.344" v="2" actId="14100"/>
        <pc:sldMkLst>
          <pc:docMk/>
          <pc:sldMk cId="0" sldId="267"/>
        </pc:sldMkLst>
        <pc:spChg chg="mod">
          <ac:chgData name="Joshi, Chaitanya Shirishkumar" userId="S::chaitanya-shirishkumar.joshi@capgemini.com::18712c0a-f842-4d14-a2eb-d273292d5125" providerId="AD" clId="Web-{6F47AD11-01BE-E847-73BD-F8E132F0D610}" dt="2026-07-06T07:08:35.344" v="2" actId="1410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Joshi, Chaitanya Shirishkumar" userId="S::chaitanya-shirishkumar.joshi@capgemini.com::18712c0a-f842-4d14-a2eb-d273292d5125" providerId="AD" clId="Web-{6F47AD11-01BE-E847-73BD-F8E132F0D610}" dt="2026-07-06T07:08:25.437" v="0" actId="1076"/>
          <ac:spMkLst>
            <pc:docMk/>
            <pc:sldMk cId="0" sldId="267"/>
            <ac:spMk id="26" creationId="{00000000-0000-0000-0000-000000000000}"/>
          </ac:spMkLst>
        </pc:spChg>
      </pc:sldChg>
    </pc:docChg>
  </pc:docChgLst>
  <pc:docChgLst>
    <pc:chgData name="Shinde, Dakshata" userId="5d03429c-cb62-4e9e-919a-cfd414931d10" providerId="ADAL" clId="{D68C68C2-49BF-49D3-9B89-497A58C49F1C}"/>
    <pc:docChg chg="undo custSel addSld delSld modSld sldOrd modMainMaster">
      <pc:chgData name="Shinde, Dakshata" userId="5d03429c-cb62-4e9e-919a-cfd414931d10" providerId="ADAL" clId="{D68C68C2-49BF-49D3-9B89-497A58C49F1C}" dt="2026-06-24T14:51:12.126" v="610" actId="339"/>
      <pc:docMkLst>
        <pc:docMk/>
      </pc:docMkLst>
      <pc:sldChg chg="addSp delSp modSp mod">
        <pc:chgData name="Shinde, Dakshata" userId="5d03429c-cb62-4e9e-919a-cfd414931d10" providerId="ADAL" clId="{D68C68C2-49BF-49D3-9B89-497A58C49F1C}" dt="2026-06-24T14:51:12.126" v="610" actId="339"/>
        <pc:sldMkLst>
          <pc:docMk/>
          <pc:sldMk cId="0" sldId="256"/>
        </pc:sldMkLst>
        <pc:spChg chg="mod">
          <ac:chgData name="Shinde, Dakshata" userId="5d03429c-cb62-4e9e-919a-cfd414931d10" providerId="ADAL" clId="{D68C68C2-49BF-49D3-9B89-497A58C49F1C}" dt="2026-06-24T08:12:54.136" v="371" actId="14100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Shinde, Dakshata" userId="5d03429c-cb62-4e9e-919a-cfd414931d10" providerId="ADAL" clId="{D68C68C2-49BF-49D3-9B89-497A58C49F1C}" dt="2026-06-24T14:51:12.126" v="610" actId="339"/>
          <ac:picMkLst>
            <pc:docMk/>
            <pc:sldMk cId="0" sldId="256"/>
            <ac:picMk id="18" creationId="{72214334-5BFD-713A-B8E6-903E6E04D5B1}"/>
          </ac:picMkLst>
        </pc:picChg>
      </pc:sldChg>
      <pc:sldChg chg="modSp mod">
        <pc:chgData name="Shinde, Dakshata" userId="5d03429c-cb62-4e9e-919a-cfd414931d10" providerId="ADAL" clId="{D68C68C2-49BF-49D3-9B89-497A58C49F1C}" dt="2026-06-23T13:54:36.804" v="17" actId="207"/>
        <pc:sldMkLst>
          <pc:docMk/>
          <pc:sldMk cId="0" sldId="258"/>
        </pc:sldMkLst>
        <pc:spChg chg="mod">
          <ac:chgData name="Shinde, Dakshata" userId="5d03429c-cb62-4e9e-919a-cfd414931d10" providerId="ADAL" clId="{D68C68C2-49BF-49D3-9B89-497A58C49F1C}" dt="2026-06-23T13:53:31.578" v="1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4:28.451" v="16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3:13.743" v="11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4:36.804" v="17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3:18.408" v="12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hinde, Dakshata" userId="5d03429c-cb62-4e9e-919a-cfd414931d10" providerId="ADAL" clId="{D68C68C2-49BF-49D3-9B89-497A58C49F1C}" dt="2026-06-23T13:51:55.528" v="8" actId="1076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Shinde, Dakshata" userId="5d03429c-cb62-4e9e-919a-cfd414931d10" providerId="ADAL" clId="{D68C68C2-49BF-49D3-9B89-497A58C49F1C}" dt="2026-06-23T15:56:41.119" v="20" actId="1076"/>
        <pc:sldMkLst>
          <pc:docMk/>
          <pc:sldMk cId="0" sldId="262"/>
        </pc:sldMkLst>
        <pc:spChg chg="mod">
          <ac:chgData name="Shinde, Dakshata" userId="5d03429c-cb62-4e9e-919a-cfd414931d10" providerId="ADAL" clId="{D68C68C2-49BF-49D3-9B89-497A58C49F1C}" dt="2026-06-23T15:56:41.119" v="20" actId="1076"/>
          <ac:spMkLst>
            <pc:docMk/>
            <pc:sldMk cId="0" sldId="262"/>
            <ac:spMk id="24" creationId="{00000000-0000-0000-0000-000000000000}"/>
          </ac:spMkLst>
        </pc:spChg>
      </pc:sldChg>
      <pc:sldMasterChg chg="modSldLayout">
        <pc:chgData name="Shinde, Dakshata" userId="5d03429c-cb62-4e9e-919a-cfd414931d10" providerId="ADAL" clId="{D68C68C2-49BF-49D3-9B89-497A58C49F1C}" dt="2026-06-24T08:10:59.075" v="370" actId="6549"/>
        <pc:sldMasterMkLst>
          <pc:docMk/>
          <pc:sldMasterMk cId="0" sldId="2147483648"/>
        </pc:sldMasterMkLst>
        <pc:sldLayoutChg chg="modSp mod setBg">
          <pc:chgData name="Shinde, Dakshata" userId="5d03429c-cb62-4e9e-919a-cfd414931d10" providerId="ADAL" clId="{D68C68C2-49BF-49D3-9B89-497A58C49F1C}" dt="2026-06-24T08:10:59.075" v="370" actId="6549"/>
          <pc:sldLayoutMkLst>
            <pc:docMk/>
            <pc:sldMasterMk cId="0" sldId="2147483648"/>
            <pc:sldLayoutMk cId="0" sldId="2147483649"/>
          </pc:sldLayoutMkLst>
          <pc:spChg chg="mod">
            <ac:chgData name="Shinde, Dakshata" userId="5d03429c-cb62-4e9e-919a-cfd414931d10" providerId="ADAL" clId="{D68C68C2-49BF-49D3-9B89-497A58C49F1C}" dt="2026-06-24T08:10:38.760" v="366" actId="207"/>
            <ac:spMkLst>
              <pc:docMk/>
              <pc:sldMasterMk cId="0" sldId="2147483648"/>
              <pc:sldLayoutMk cId="0" sldId="2147483649"/>
              <ac:spMk id="5" creationId="{1291BE9C-3C4E-1A22-DAE3-5B0E6D99B44E}"/>
            </ac:spMkLst>
          </pc:spChg>
          <pc:spChg chg="mod">
            <ac:chgData name="Shinde, Dakshata" userId="5d03429c-cb62-4e9e-919a-cfd414931d10" providerId="ADAL" clId="{D68C68C2-49BF-49D3-9B89-497A58C49F1C}" dt="2026-06-24T08:10:59.075" v="370" actId="6549"/>
            <ac:spMkLst>
              <pc:docMk/>
              <pc:sldMasterMk cId="0" sldId="2147483648"/>
              <pc:sldLayoutMk cId="0" sldId="2147483649"/>
              <ac:spMk id="6" creationId="{1537D353-4EB7-902E-6917-D57EC6DEF246}"/>
            </ac:spMkLst>
          </pc:spChg>
        </pc:sldLayoutChg>
      </pc:sldMasterChg>
    </pc:docChg>
  </pc:docChgLst>
  <pc:docChgLst>
    <pc:chgData name="Joshi, Chaitanya Shirishkumar" userId="18712c0a-f842-4d14-a2eb-d273292d5125" providerId="ADAL" clId="{B71AC933-134D-47F7-9907-15CF2125D6EA}"/>
    <pc:docChg chg="undo custSel addSld delSld modSld sldOrd modMainMaster">
      <pc:chgData name="Joshi, Chaitanya Shirishkumar" userId="18712c0a-f842-4d14-a2eb-d273292d5125" providerId="ADAL" clId="{B71AC933-134D-47F7-9907-15CF2125D6EA}" dt="2026-07-23T05:27:34.004" v="222" actId="732"/>
      <pc:docMkLst>
        <pc:docMk/>
      </pc:docMkLst>
      <pc:sldChg chg="addSp delSp mod setBg">
        <pc:chgData name="Joshi, Chaitanya Shirishkumar" userId="18712c0a-f842-4d14-a2eb-d273292d5125" providerId="ADAL" clId="{B71AC933-134D-47F7-9907-15CF2125D6EA}" dt="2026-06-24T08:42:22.663" v="16" actId="478"/>
        <pc:sldMkLst>
          <pc:docMk/>
          <pc:sldMk cId="0" sldId="256"/>
        </pc:sldMkLst>
        <pc:spChg chg="add del">
          <ac:chgData name="Joshi, Chaitanya Shirishkumar" userId="18712c0a-f842-4d14-a2eb-d273292d5125" providerId="ADAL" clId="{B71AC933-134D-47F7-9907-15CF2125D6EA}" dt="2026-06-24T08:42:22.663" v="16" actId="478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Joshi, Chaitanya Shirishkumar" userId="18712c0a-f842-4d14-a2eb-d273292d5125" providerId="ADAL" clId="{B71AC933-134D-47F7-9907-15CF2125D6EA}" dt="2026-06-24T08:42:21.946" v="15" actId="478"/>
          <ac:spMkLst>
            <pc:docMk/>
            <pc:sldMk cId="0" sldId="256"/>
            <ac:spMk id="3" creationId="{00000000-0000-0000-0000-000000000000}"/>
          </ac:spMkLst>
        </pc:spChg>
        <pc:picChg chg="add del">
          <ac:chgData name="Joshi, Chaitanya Shirishkumar" userId="18712c0a-f842-4d14-a2eb-d273292d5125" providerId="ADAL" clId="{B71AC933-134D-47F7-9907-15CF2125D6EA}" dt="2026-06-24T08:42:21.301" v="14" actId="478"/>
          <ac:picMkLst>
            <pc:docMk/>
            <pc:sldMk cId="0" sldId="256"/>
            <ac:picMk id="4" creationId="{00000000-0000-0000-0000-000000000000}"/>
          </ac:picMkLst>
        </pc:picChg>
      </pc:sldChg>
      <pc:sldChg chg="del">
        <pc:chgData name="Joshi, Chaitanya Shirishkumar" userId="18712c0a-f842-4d14-a2eb-d273292d5125" providerId="ADAL" clId="{B71AC933-134D-47F7-9907-15CF2125D6EA}" dt="2026-07-23T05:01:17.774" v="177" actId="47"/>
        <pc:sldMkLst>
          <pc:docMk/>
          <pc:sldMk cId="0" sldId="263"/>
        </pc:sldMkLst>
      </pc:sldChg>
      <pc:sldChg chg="del ord">
        <pc:chgData name="Joshi, Chaitanya Shirishkumar" userId="18712c0a-f842-4d14-a2eb-d273292d5125" providerId="ADAL" clId="{B71AC933-134D-47F7-9907-15CF2125D6EA}" dt="2026-07-23T04:56:08.014" v="169" actId="47"/>
        <pc:sldMkLst>
          <pc:docMk/>
          <pc:sldMk cId="0" sldId="264"/>
        </pc:sldMkLst>
      </pc:sldChg>
      <pc:sldChg chg="del">
        <pc:chgData name="Joshi, Chaitanya Shirishkumar" userId="18712c0a-f842-4d14-a2eb-d273292d5125" providerId="ADAL" clId="{B71AC933-134D-47F7-9907-15CF2125D6EA}" dt="2026-07-23T04:59:08.802" v="171" actId="47"/>
        <pc:sldMkLst>
          <pc:docMk/>
          <pc:sldMk cId="0" sldId="265"/>
        </pc:sldMkLst>
      </pc:sldChg>
      <pc:sldChg chg="del">
        <pc:chgData name="Joshi, Chaitanya Shirishkumar" userId="18712c0a-f842-4d14-a2eb-d273292d5125" providerId="ADAL" clId="{B71AC933-134D-47F7-9907-15CF2125D6EA}" dt="2026-07-23T05:25:42.279" v="219" actId="47"/>
        <pc:sldMkLst>
          <pc:docMk/>
          <pc:sldMk cId="0" sldId="266"/>
        </pc:sldMkLst>
      </pc:sldChg>
      <pc:sldChg chg="modSp del mod">
        <pc:chgData name="Joshi, Chaitanya Shirishkumar" userId="18712c0a-f842-4d14-a2eb-d273292d5125" providerId="ADAL" clId="{B71AC933-134D-47F7-9907-15CF2125D6EA}" dt="2026-07-23T04:59:42.067" v="176" actId="47"/>
        <pc:sldMkLst>
          <pc:docMk/>
          <pc:sldMk cId="0" sldId="276"/>
        </pc:sldMkLst>
        <pc:spChg chg="mod">
          <ac:chgData name="Joshi, Chaitanya Shirishkumar" userId="18712c0a-f842-4d14-a2eb-d273292d5125" providerId="ADAL" clId="{B71AC933-134D-47F7-9907-15CF2125D6EA}" dt="2026-07-23T03:20:47.414" v="20" actId="1076"/>
          <ac:spMkLst>
            <pc:docMk/>
            <pc:sldMk cId="0" sldId="276"/>
            <ac:spMk id="3" creationId="{00000000-0000-0000-0000-000000000000}"/>
          </ac:spMkLst>
        </pc:spChg>
      </pc:sldChg>
      <pc:sldChg chg="del">
        <pc:chgData name="Joshi, Chaitanya Shirishkumar" userId="18712c0a-f842-4d14-a2eb-d273292d5125" providerId="ADAL" clId="{B71AC933-134D-47F7-9907-15CF2125D6EA}" dt="2026-07-23T04:58:34.684" v="170" actId="47"/>
        <pc:sldMkLst>
          <pc:docMk/>
          <pc:sldMk cId="0" sldId="277"/>
        </pc:sldMkLst>
      </pc:sldChg>
      <pc:sldChg chg="addSp delSp modSp add del mod setBg">
        <pc:chgData name="Joshi, Chaitanya Shirishkumar" userId="18712c0a-f842-4d14-a2eb-d273292d5125" providerId="ADAL" clId="{B71AC933-134D-47F7-9907-15CF2125D6EA}" dt="2026-07-23T04:25:58.617" v="135" actId="47"/>
        <pc:sldMkLst>
          <pc:docMk/>
          <pc:sldMk cId="1280823449" sldId="278"/>
        </pc:sldMkLst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3" creationId="{753F750F-402E-BB29-8AF1-1DA1FC77D0FA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9" creationId="{D80D5C56-051F-9BCB-512C-102B6BD16164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11" creationId="{AFEC2AEF-996F-A0DC-8661-CB2B7BB1F527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13" creationId="{620D7A11-B0EB-738C-3C04-58DF61F87D2C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16" creationId="{9C15678C-2A3C-70D4-125E-58D609A135FE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20" creationId="{CF1994D4-E75B-C4B5-8A6E-CCCC9F00A063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24" creationId="{6B2F9E9A-C8EB-FE36-09D1-AEB78D2C9655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29" creationId="{BC127CEF-FF70-DF94-5785-842309D36B0C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30" creationId="{7A209F02-F0C2-3ACC-46FC-7705D0D1A12D}"/>
          </ac:spMkLst>
        </pc:spChg>
        <pc:spChg chg="del">
          <ac:chgData name="Joshi, Chaitanya Shirishkumar" userId="18712c0a-f842-4d14-a2eb-d273292d5125" providerId="ADAL" clId="{B71AC933-134D-47F7-9907-15CF2125D6EA}" dt="2026-07-23T04:04:56.133" v="22" actId="478"/>
          <ac:spMkLst>
            <pc:docMk/>
            <pc:sldMk cId="1280823449" sldId="278"/>
            <ac:spMk id="34" creationId="{E5C24309-E788-D3C5-272C-C9961D8A1C5C}"/>
          </ac:spMkLst>
        </pc:spChg>
        <pc:picChg chg="add del">
          <ac:chgData name="Joshi, Chaitanya Shirishkumar" userId="18712c0a-f842-4d14-a2eb-d273292d5125" providerId="ADAL" clId="{B71AC933-134D-47F7-9907-15CF2125D6EA}" dt="2026-07-23T04:18:20.594" v="102" actId="22"/>
          <ac:picMkLst>
            <pc:docMk/>
            <pc:sldMk cId="1280823449" sldId="278"/>
            <ac:picMk id="36" creationId="{0D01655C-C0DC-FFC4-2CE6-063E0D7E96FB}"/>
          </ac:picMkLst>
        </pc:picChg>
        <pc:picChg chg="add del mod modCrop">
          <ac:chgData name="Joshi, Chaitanya Shirishkumar" userId="18712c0a-f842-4d14-a2eb-d273292d5125" providerId="ADAL" clId="{B71AC933-134D-47F7-9907-15CF2125D6EA}" dt="2026-07-23T04:25:55.571" v="134" actId="478"/>
          <ac:picMkLst>
            <pc:docMk/>
            <pc:sldMk cId="1280823449" sldId="278"/>
            <ac:picMk id="38" creationId="{C1233E20-099C-282E-18D4-B4964397B89F}"/>
          </ac:picMkLst>
        </pc:picChg>
      </pc:sldChg>
      <pc:sldChg chg="addSp modSp new del mod setBg">
        <pc:chgData name="Joshi, Chaitanya Shirishkumar" userId="18712c0a-f842-4d14-a2eb-d273292d5125" providerId="ADAL" clId="{B71AC933-134D-47F7-9907-15CF2125D6EA}" dt="2026-07-23T04:25:36.528" v="133" actId="47"/>
        <pc:sldMkLst>
          <pc:docMk/>
          <pc:sldMk cId="3090369612" sldId="279"/>
        </pc:sldMkLst>
        <pc:picChg chg="add mod modCrop">
          <ac:chgData name="Joshi, Chaitanya Shirishkumar" userId="18712c0a-f842-4d14-a2eb-d273292d5125" providerId="ADAL" clId="{B71AC933-134D-47F7-9907-15CF2125D6EA}" dt="2026-07-23T04:20:39.218" v="114" actId="732"/>
          <ac:picMkLst>
            <pc:docMk/>
            <pc:sldMk cId="3090369612" sldId="279"/>
            <ac:picMk id="3" creationId="{51256BB0-C92C-412F-4394-AB8E963A1A2C}"/>
          </ac:picMkLst>
        </pc:picChg>
        <pc:picChg chg="add mod">
          <ac:chgData name="Joshi, Chaitanya Shirishkumar" userId="18712c0a-f842-4d14-a2eb-d273292d5125" providerId="ADAL" clId="{B71AC933-134D-47F7-9907-15CF2125D6EA}" dt="2026-07-23T04:21:39.386" v="115"/>
          <ac:picMkLst>
            <pc:docMk/>
            <pc:sldMk cId="3090369612" sldId="279"/>
            <ac:picMk id="4" creationId="{1F23AE39-619E-D4D7-E118-95FF08D349BC}"/>
          </ac:picMkLst>
        </pc:picChg>
      </pc:sldChg>
      <pc:sldChg chg="delSp add del mod setBg">
        <pc:chgData name="Joshi, Chaitanya Shirishkumar" userId="18712c0a-f842-4d14-a2eb-d273292d5125" providerId="ADAL" clId="{B71AC933-134D-47F7-9907-15CF2125D6EA}" dt="2026-07-23T04:24:12.893" v="129" actId="47"/>
        <pc:sldMkLst>
          <pc:docMk/>
          <pc:sldMk cId="145141485" sldId="280"/>
        </pc:sldMkLst>
        <pc:picChg chg="del">
          <ac:chgData name="Joshi, Chaitanya Shirishkumar" userId="18712c0a-f842-4d14-a2eb-d273292d5125" providerId="ADAL" clId="{B71AC933-134D-47F7-9907-15CF2125D6EA}" dt="2026-07-23T04:21:46.320" v="117" actId="478"/>
          <ac:picMkLst>
            <pc:docMk/>
            <pc:sldMk cId="145141485" sldId="280"/>
            <ac:picMk id="3" creationId="{376C736E-3F98-ECEA-2EB5-B4D67CD6C681}"/>
          </ac:picMkLst>
        </pc:picChg>
      </pc:sldChg>
      <pc:sldChg chg="addSp modSp new mod ord">
        <pc:chgData name="Joshi, Chaitanya Shirishkumar" userId="18712c0a-f842-4d14-a2eb-d273292d5125" providerId="ADAL" clId="{B71AC933-134D-47F7-9907-15CF2125D6EA}" dt="2026-07-23T04:55:49.631" v="166"/>
        <pc:sldMkLst>
          <pc:docMk/>
          <pc:sldMk cId="2992056560" sldId="281"/>
        </pc:sldMkLst>
        <pc:spChg chg="mod">
          <ac:chgData name="Joshi, Chaitanya Shirishkumar" userId="18712c0a-f842-4d14-a2eb-d273292d5125" providerId="ADAL" clId="{B71AC933-134D-47F7-9907-15CF2125D6EA}" dt="2026-07-23T04:55:49.631" v="166"/>
          <ac:spMkLst>
            <pc:docMk/>
            <pc:sldMk cId="2992056560" sldId="281"/>
            <ac:spMk id="5" creationId="{D4165EC7-A13C-11B1-34EE-C6CCEE6A4A31}"/>
          </ac:spMkLst>
        </pc:spChg>
        <pc:spChg chg="mod">
          <ac:chgData name="Joshi, Chaitanya Shirishkumar" userId="18712c0a-f842-4d14-a2eb-d273292d5125" providerId="ADAL" clId="{B71AC933-134D-47F7-9907-15CF2125D6EA}" dt="2026-07-23T04:55:49.631" v="166"/>
          <ac:spMkLst>
            <pc:docMk/>
            <pc:sldMk cId="2992056560" sldId="281"/>
            <ac:spMk id="6" creationId="{DC0D1CD4-3D03-3A9A-E576-BD9105F33D91}"/>
          </ac:spMkLst>
        </pc:spChg>
        <pc:grpChg chg="add mod">
          <ac:chgData name="Joshi, Chaitanya Shirishkumar" userId="18712c0a-f842-4d14-a2eb-d273292d5125" providerId="ADAL" clId="{B71AC933-134D-47F7-9907-15CF2125D6EA}" dt="2026-07-23T04:55:49.631" v="166"/>
          <ac:grpSpMkLst>
            <pc:docMk/>
            <pc:sldMk cId="2992056560" sldId="281"/>
            <ac:grpSpMk id="4" creationId="{33E91709-B1E6-E570-F07C-7B0FE5E4E580}"/>
          </ac:grpSpMkLst>
        </pc:grpChg>
        <pc:picChg chg="add mod">
          <ac:chgData name="Joshi, Chaitanya Shirishkumar" userId="18712c0a-f842-4d14-a2eb-d273292d5125" providerId="ADAL" clId="{B71AC933-134D-47F7-9907-15CF2125D6EA}" dt="2026-07-23T04:24:37.269" v="132" actId="1076"/>
          <ac:picMkLst>
            <pc:docMk/>
            <pc:sldMk cId="2992056560" sldId="281"/>
            <ac:picMk id="3" creationId="{5EDDD4ED-24E0-B750-7F68-976D8C2AB86D}"/>
          </ac:picMkLst>
        </pc:picChg>
      </pc:sldChg>
      <pc:sldChg chg="addSp modSp new mod ord">
        <pc:chgData name="Joshi, Chaitanya Shirishkumar" userId="18712c0a-f842-4d14-a2eb-d273292d5125" providerId="ADAL" clId="{B71AC933-134D-47F7-9907-15CF2125D6EA}" dt="2026-07-23T04:59:24.279" v="175"/>
        <pc:sldMkLst>
          <pc:docMk/>
          <pc:sldMk cId="974146246" sldId="282"/>
        </pc:sldMkLst>
        <pc:picChg chg="add mod modCrop">
          <ac:chgData name="Joshi, Chaitanya Shirishkumar" userId="18712c0a-f842-4d14-a2eb-d273292d5125" providerId="ADAL" clId="{B71AC933-134D-47F7-9907-15CF2125D6EA}" dt="2026-07-23T04:31:10.115" v="151" actId="14100"/>
          <ac:picMkLst>
            <pc:docMk/>
            <pc:sldMk cId="974146246" sldId="282"/>
            <ac:picMk id="4" creationId="{CA4CD20F-53CD-A3EC-EAE8-44DCB4BA3C6C}"/>
          </ac:picMkLst>
        </pc:picChg>
      </pc:sldChg>
      <pc:sldChg chg="new del">
        <pc:chgData name="Joshi, Chaitanya Shirishkumar" userId="18712c0a-f842-4d14-a2eb-d273292d5125" providerId="ADAL" clId="{B71AC933-134D-47F7-9907-15CF2125D6EA}" dt="2026-07-23T04:30:20.914" v="147" actId="47"/>
        <pc:sldMkLst>
          <pc:docMk/>
          <pc:sldMk cId="1982384083" sldId="282"/>
        </pc:sldMkLst>
      </pc:sldChg>
      <pc:sldChg chg="addSp modSp new mod">
        <pc:chgData name="Joshi, Chaitanya Shirishkumar" userId="18712c0a-f842-4d14-a2eb-d273292d5125" providerId="ADAL" clId="{B71AC933-134D-47F7-9907-15CF2125D6EA}" dt="2026-07-23T04:55:54.701" v="167"/>
        <pc:sldMkLst>
          <pc:docMk/>
          <pc:sldMk cId="1052516067" sldId="283"/>
        </pc:sldMkLst>
        <pc:spChg chg="mod">
          <ac:chgData name="Joshi, Chaitanya Shirishkumar" userId="18712c0a-f842-4d14-a2eb-d273292d5125" providerId="ADAL" clId="{B71AC933-134D-47F7-9907-15CF2125D6EA}" dt="2026-07-23T04:55:54.701" v="167"/>
          <ac:spMkLst>
            <pc:docMk/>
            <pc:sldMk cId="1052516067" sldId="283"/>
            <ac:spMk id="6" creationId="{0F7CFBC8-C40C-16A9-31B5-1B5E0C30350C}"/>
          </ac:spMkLst>
        </pc:spChg>
        <pc:spChg chg="mod">
          <ac:chgData name="Joshi, Chaitanya Shirishkumar" userId="18712c0a-f842-4d14-a2eb-d273292d5125" providerId="ADAL" clId="{B71AC933-134D-47F7-9907-15CF2125D6EA}" dt="2026-07-23T04:55:54.701" v="167"/>
          <ac:spMkLst>
            <pc:docMk/>
            <pc:sldMk cId="1052516067" sldId="283"/>
            <ac:spMk id="7" creationId="{B6184442-3BD8-FCB4-E4BB-2D6EEB3604BC}"/>
          </ac:spMkLst>
        </pc:spChg>
        <pc:grpChg chg="add mod">
          <ac:chgData name="Joshi, Chaitanya Shirishkumar" userId="18712c0a-f842-4d14-a2eb-d273292d5125" providerId="ADAL" clId="{B71AC933-134D-47F7-9907-15CF2125D6EA}" dt="2026-07-23T04:55:54.701" v="167"/>
          <ac:grpSpMkLst>
            <pc:docMk/>
            <pc:sldMk cId="1052516067" sldId="283"/>
            <ac:grpSpMk id="5" creationId="{F9A11FFC-5A18-27E4-22C6-4CB238C84220}"/>
          </ac:grpSpMkLst>
        </pc:grpChg>
        <pc:picChg chg="add mod modCrop">
          <ac:chgData name="Joshi, Chaitanya Shirishkumar" userId="18712c0a-f842-4d14-a2eb-d273292d5125" providerId="ADAL" clId="{B71AC933-134D-47F7-9907-15CF2125D6EA}" dt="2026-07-23T04:31:35.281" v="154" actId="732"/>
          <ac:picMkLst>
            <pc:docMk/>
            <pc:sldMk cId="1052516067" sldId="283"/>
            <ac:picMk id="4" creationId="{B47940BB-4D07-AE68-4F17-343BC626366D}"/>
          </ac:picMkLst>
        </pc:picChg>
      </pc:sldChg>
      <pc:sldChg chg="addSp modSp new mod ord">
        <pc:chgData name="Joshi, Chaitanya Shirishkumar" userId="18712c0a-f842-4d14-a2eb-d273292d5125" providerId="ADAL" clId="{B71AC933-134D-47F7-9907-15CF2125D6EA}" dt="2026-07-23T04:55:39.305" v="165"/>
        <pc:sldMkLst>
          <pc:docMk/>
          <pc:sldMk cId="502253883" sldId="284"/>
        </pc:sldMkLst>
        <pc:spChg chg="mod">
          <ac:chgData name="Joshi, Chaitanya Shirishkumar" userId="18712c0a-f842-4d14-a2eb-d273292d5125" providerId="ADAL" clId="{B71AC933-134D-47F7-9907-15CF2125D6EA}" dt="2026-07-23T04:55:39.305" v="165"/>
          <ac:spMkLst>
            <pc:docMk/>
            <pc:sldMk cId="502253883" sldId="284"/>
            <ac:spMk id="6" creationId="{F727AA37-8115-B6FB-8959-38520ED4CB26}"/>
          </ac:spMkLst>
        </pc:spChg>
        <pc:spChg chg="mod">
          <ac:chgData name="Joshi, Chaitanya Shirishkumar" userId="18712c0a-f842-4d14-a2eb-d273292d5125" providerId="ADAL" clId="{B71AC933-134D-47F7-9907-15CF2125D6EA}" dt="2026-07-23T04:55:39.305" v="165"/>
          <ac:spMkLst>
            <pc:docMk/>
            <pc:sldMk cId="502253883" sldId="284"/>
            <ac:spMk id="7" creationId="{0177F126-7963-EE72-14DE-213E41CF6781}"/>
          </ac:spMkLst>
        </pc:spChg>
        <pc:grpChg chg="add mod">
          <ac:chgData name="Joshi, Chaitanya Shirishkumar" userId="18712c0a-f842-4d14-a2eb-d273292d5125" providerId="ADAL" clId="{B71AC933-134D-47F7-9907-15CF2125D6EA}" dt="2026-07-23T04:55:39.305" v="165"/>
          <ac:grpSpMkLst>
            <pc:docMk/>
            <pc:sldMk cId="502253883" sldId="284"/>
            <ac:grpSpMk id="5" creationId="{F28AE483-1382-1025-B76C-34D31F4F2D0F}"/>
          </ac:grpSpMkLst>
        </pc:grpChg>
        <pc:picChg chg="add mod modCrop">
          <ac:chgData name="Joshi, Chaitanya Shirishkumar" userId="18712c0a-f842-4d14-a2eb-d273292d5125" providerId="ADAL" clId="{B71AC933-134D-47F7-9907-15CF2125D6EA}" dt="2026-07-23T04:32:19.199" v="158" actId="732"/>
          <ac:picMkLst>
            <pc:docMk/>
            <pc:sldMk cId="502253883" sldId="284"/>
            <ac:picMk id="4" creationId="{E02E3C09-2244-E75A-F12F-5FABB35934B5}"/>
          </ac:picMkLst>
        </pc:picChg>
      </pc:sldChg>
      <pc:sldChg chg="addSp modSp new mod">
        <pc:chgData name="Joshi, Chaitanya Shirishkumar" userId="18712c0a-f842-4d14-a2eb-d273292d5125" providerId="ADAL" clId="{B71AC933-134D-47F7-9907-15CF2125D6EA}" dt="2026-07-23T04:55:59.825" v="168"/>
        <pc:sldMkLst>
          <pc:docMk/>
          <pc:sldMk cId="771695451" sldId="285"/>
        </pc:sldMkLst>
        <pc:spChg chg="mod">
          <ac:chgData name="Joshi, Chaitanya Shirishkumar" userId="18712c0a-f842-4d14-a2eb-d273292d5125" providerId="ADAL" clId="{B71AC933-134D-47F7-9907-15CF2125D6EA}" dt="2026-07-23T04:55:59.825" v="168"/>
          <ac:spMkLst>
            <pc:docMk/>
            <pc:sldMk cId="771695451" sldId="285"/>
            <ac:spMk id="6" creationId="{1081A4AD-70C1-F95C-50B3-B897A740BA10}"/>
          </ac:spMkLst>
        </pc:spChg>
        <pc:spChg chg="mod">
          <ac:chgData name="Joshi, Chaitanya Shirishkumar" userId="18712c0a-f842-4d14-a2eb-d273292d5125" providerId="ADAL" clId="{B71AC933-134D-47F7-9907-15CF2125D6EA}" dt="2026-07-23T04:55:59.825" v="168"/>
          <ac:spMkLst>
            <pc:docMk/>
            <pc:sldMk cId="771695451" sldId="285"/>
            <ac:spMk id="7" creationId="{F1C12316-0593-103F-D828-5C73D7313DCE}"/>
          </ac:spMkLst>
        </pc:spChg>
        <pc:grpChg chg="add mod">
          <ac:chgData name="Joshi, Chaitanya Shirishkumar" userId="18712c0a-f842-4d14-a2eb-d273292d5125" providerId="ADAL" clId="{B71AC933-134D-47F7-9907-15CF2125D6EA}" dt="2026-07-23T04:55:59.825" v="168"/>
          <ac:grpSpMkLst>
            <pc:docMk/>
            <pc:sldMk cId="771695451" sldId="285"/>
            <ac:grpSpMk id="5" creationId="{555F9298-BBF7-F247-17F6-2742085FB0FA}"/>
          </ac:grpSpMkLst>
        </pc:grpChg>
        <pc:picChg chg="add mod modCrop">
          <ac:chgData name="Joshi, Chaitanya Shirishkumar" userId="18712c0a-f842-4d14-a2eb-d273292d5125" providerId="ADAL" clId="{B71AC933-134D-47F7-9907-15CF2125D6EA}" dt="2026-07-23T04:55:11.772" v="164" actId="732"/>
          <ac:picMkLst>
            <pc:docMk/>
            <pc:sldMk cId="771695451" sldId="285"/>
            <ac:picMk id="4" creationId="{A64342D8-6D95-AF57-B481-D53F376A8070}"/>
          </ac:picMkLst>
        </pc:picChg>
      </pc:sldChg>
      <pc:sldChg chg="addSp modSp new mod">
        <pc:chgData name="Joshi, Chaitanya Shirishkumar" userId="18712c0a-f842-4d14-a2eb-d273292d5125" providerId="ADAL" clId="{B71AC933-134D-47F7-9907-15CF2125D6EA}" dt="2026-07-23T05:27:34.004" v="222" actId="732"/>
        <pc:sldMkLst>
          <pc:docMk/>
          <pc:sldMk cId="585939717" sldId="286"/>
        </pc:sldMkLst>
        <pc:spChg chg="mod">
          <ac:chgData name="Joshi, Chaitanya Shirishkumar" userId="18712c0a-f842-4d14-a2eb-d273292d5125" providerId="ADAL" clId="{B71AC933-134D-47F7-9907-15CF2125D6EA}" dt="2026-07-23T05:25:38.510" v="218" actId="20577"/>
          <ac:spMkLst>
            <pc:docMk/>
            <pc:sldMk cId="585939717" sldId="286"/>
            <ac:spMk id="2" creationId="{9E7ADC25-231E-04A1-2D34-50BC9729C371}"/>
          </ac:spMkLst>
        </pc:spChg>
        <pc:picChg chg="add mod modCrop">
          <ac:chgData name="Joshi, Chaitanya Shirishkumar" userId="18712c0a-f842-4d14-a2eb-d273292d5125" providerId="ADAL" clId="{B71AC933-134D-47F7-9907-15CF2125D6EA}" dt="2026-07-23T05:27:34.004" v="222" actId="732"/>
          <ac:picMkLst>
            <pc:docMk/>
            <pc:sldMk cId="585939717" sldId="286"/>
            <ac:picMk id="4" creationId="{DDADB617-A9EB-4B4E-AEC7-F409DDA36A59}"/>
          </ac:picMkLst>
        </pc:picChg>
      </pc:sldChg>
      <pc:sldMasterChg chg="modSldLayout">
        <pc:chgData name="Joshi, Chaitanya Shirishkumar" userId="18712c0a-f842-4d14-a2eb-d273292d5125" providerId="ADAL" clId="{B71AC933-134D-47F7-9907-15CF2125D6EA}" dt="2026-07-23T04:27:27.899" v="146" actId="1076"/>
        <pc:sldMasterMkLst>
          <pc:docMk/>
          <pc:sldMasterMk cId="0" sldId="2147483648"/>
        </pc:sldMasterMkLst>
        <pc:sldLayoutChg chg="addSp delSp modSp mod setBg">
          <pc:chgData name="Joshi, Chaitanya Shirishkumar" userId="18712c0a-f842-4d14-a2eb-d273292d5125" providerId="ADAL" clId="{B71AC933-134D-47F7-9907-15CF2125D6EA}" dt="2026-07-23T04:27:27.899" v="146" actId="1076"/>
          <pc:sldLayoutMkLst>
            <pc:docMk/>
            <pc:sldMasterMk cId="0" sldId="2147483648"/>
            <pc:sldLayoutMk cId="4190525890" sldId="2147483650"/>
          </pc:sldLayoutMkLst>
          <pc:spChg chg="mod">
            <ac:chgData name="Joshi, Chaitanya Shirishkumar" userId="18712c0a-f842-4d14-a2eb-d273292d5125" providerId="ADAL" clId="{B71AC933-134D-47F7-9907-15CF2125D6EA}" dt="2026-07-23T04:22:35.784" v="120"/>
            <ac:spMkLst>
              <pc:docMk/>
              <pc:sldMasterMk cId="0" sldId="2147483648"/>
              <pc:sldLayoutMk cId="4190525890" sldId="2147483650"/>
              <ac:spMk id="4" creationId="{46AE4600-277F-C680-CCF6-CB26C40128E8}"/>
            </ac:spMkLst>
          </pc:spChg>
          <pc:spChg chg="mod">
            <ac:chgData name="Joshi, Chaitanya Shirishkumar" userId="18712c0a-f842-4d14-a2eb-d273292d5125" providerId="ADAL" clId="{B71AC933-134D-47F7-9907-15CF2125D6EA}" dt="2026-07-23T04:22:35.784" v="120"/>
            <ac:spMkLst>
              <pc:docMk/>
              <pc:sldMasterMk cId="0" sldId="2147483648"/>
              <pc:sldLayoutMk cId="4190525890" sldId="2147483650"/>
              <ac:spMk id="5" creationId="{F8E83AA6-3AB8-FD34-E186-333DBE66DCA9}"/>
            </ac:spMkLst>
          </pc:spChg>
          <pc:spChg chg="add mod">
            <ac:chgData name="Joshi, Chaitanya Shirishkumar" userId="18712c0a-f842-4d14-a2eb-d273292d5125" providerId="ADAL" clId="{B71AC933-134D-47F7-9907-15CF2125D6EA}" dt="2026-07-23T04:26:48.705" v="140" actId="1076"/>
            <ac:spMkLst>
              <pc:docMk/>
              <pc:sldMasterMk cId="0" sldId="2147483648"/>
              <pc:sldLayoutMk cId="4190525890" sldId="2147483650"/>
              <ac:spMk id="6" creationId="{882E8A3A-3BEC-F2E4-425B-927D1AA19543}"/>
            </ac:spMkLst>
          </pc:spChg>
          <pc:spChg chg="add del mod">
            <ac:chgData name="Joshi, Chaitanya Shirishkumar" userId="18712c0a-f842-4d14-a2eb-d273292d5125" providerId="ADAL" clId="{B71AC933-134D-47F7-9907-15CF2125D6EA}" dt="2026-07-23T04:26:55.727" v="142" actId="478"/>
            <ac:spMkLst>
              <pc:docMk/>
              <pc:sldMasterMk cId="0" sldId="2147483648"/>
              <pc:sldLayoutMk cId="4190525890" sldId="2147483650"/>
              <ac:spMk id="7" creationId="{2633A524-5E48-61A3-55C0-54A510E8BE2F}"/>
            </ac:spMkLst>
          </pc:spChg>
          <pc:spChg chg="add mod">
            <ac:chgData name="Joshi, Chaitanya Shirishkumar" userId="18712c0a-f842-4d14-a2eb-d273292d5125" providerId="ADAL" clId="{B71AC933-134D-47F7-9907-15CF2125D6EA}" dt="2026-07-23T04:27:27.899" v="146" actId="1076"/>
            <ac:spMkLst>
              <pc:docMk/>
              <pc:sldMasterMk cId="0" sldId="2147483648"/>
              <pc:sldLayoutMk cId="4190525890" sldId="2147483650"/>
              <ac:spMk id="9" creationId="{8F328ED5-03AA-6169-5732-83C901EB765C}"/>
            </ac:spMkLst>
          </pc:spChg>
          <pc:grpChg chg="add mod">
            <ac:chgData name="Joshi, Chaitanya Shirishkumar" userId="18712c0a-f842-4d14-a2eb-d273292d5125" providerId="ADAL" clId="{B71AC933-134D-47F7-9907-15CF2125D6EA}" dt="2026-07-23T04:23:34.478" v="127" actId="1076"/>
            <ac:grpSpMkLst>
              <pc:docMk/>
              <pc:sldMasterMk cId="0" sldId="2147483648"/>
              <pc:sldLayoutMk cId="4190525890" sldId="2147483650"/>
              <ac:grpSpMk id="3" creationId="{C4445ED1-09FC-D110-CAE7-2E4865CC8C5C}"/>
            </ac:grpSpMkLst>
          </pc:grpChg>
          <pc:picChg chg="add mod">
            <ac:chgData name="Joshi, Chaitanya Shirishkumar" userId="18712c0a-f842-4d14-a2eb-d273292d5125" providerId="ADAL" clId="{B71AC933-134D-47F7-9907-15CF2125D6EA}" dt="2026-07-23T04:27:05.278" v="143"/>
            <ac:picMkLst>
              <pc:docMk/>
              <pc:sldMasterMk cId="0" sldId="2147483648"/>
              <pc:sldLayoutMk cId="4190525890" sldId="2147483650"/>
              <ac:picMk id="8" creationId="{C33773E2-DF75-8E2F-F848-0334885BA1B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21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9DE9-3F6F-9C63-73D9-24420AE2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8D162-F48E-B5A2-2A39-B8D6B1D54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0AF32-89B5-704B-C642-C89C122C6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11096-A90A-F8E2-BC7D-CAA9FC122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9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81EA-527E-8B11-E8C9-7270E167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42123-6CDA-FA61-FBA4-5349297C5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A8E55-546F-A597-9A71-B8744A937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A4790-CBB3-13B4-2A1B-D2C104FCD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2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01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3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4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5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6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1297-B206-34CC-025C-9CDEBDFA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B723-5E91-F053-A06A-88A0B7FE0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D8440-28C5-1219-4B8B-12DC02CB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D41DF-5E8C-4E81-95C6-6CB4DA9A1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7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17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8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14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15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16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17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18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19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20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Roboto" panose="02000000000000000000" pitchFamily="2" charset="0"/>
              </a:rPr>
              <a:t>22</a:t>
            </a:fld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gradFill flip="none" rotWithShape="1">
          <a:gsLst>
            <a:gs pos="20000">
              <a:schemeClr val="accent1">
                <a:lumMod val="75000"/>
              </a:schemeClr>
            </a:gs>
            <a:gs pos="61000">
              <a:srgbClr val="152A4E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1CF5A7-B077-95DE-A27F-B2CBB53CFA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59" y="5680"/>
            <a:ext cx="9139141" cy="5143500"/>
          </a:xfrm>
          <a:prstGeom prst="rect">
            <a:avLst/>
          </a:prstGeom>
        </p:spPr>
      </p:pic>
      <p:grpSp>
        <p:nvGrpSpPr>
          <p:cNvPr id="9" name="Groupe 1">
            <a:extLst>
              <a:ext uri="{FF2B5EF4-FFF2-40B4-BE49-F238E27FC236}">
                <a16:creationId xmlns:a16="http://schemas.microsoft.com/office/drawing/2014/main" id="{0C3B4CEA-FD90-4130-1528-8EC64EC66B93}"/>
              </a:ext>
            </a:extLst>
          </p:cNvPr>
          <p:cNvGrpSpPr/>
          <p:nvPr userDrawn="1"/>
        </p:nvGrpSpPr>
        <p:grpSpPr>
          <a:xfrm>
            <a:off x="8557877" y="94961"/>
            <a:ext cx="419436" cy="388988"/>
            <a:chOff x="11501102" y="171573"/>
            <a:chExt cx="419436" cy="388988"/>
          </a:xfrm>
        </p:grpSpPr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5AFFC3C8-B03D-BEEC-AAAB-952CD40D4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EF0DFD2-00D1-633D-3184-71661EF2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3" name="Rectangle 27">
            <a:extLst>
              <a:ext uri="{FF2B5EF4-FFF2-40B4-BE49-F238E27FC236}">
                <a16:creationId xmlns:a16="http://schemas.microsoft.com/office/drawing/2014/main" id="{B33A8261-A445-34F6-13B9-5BFCF704B47E}"/>
              </a:ext>
            </a:extLst>
          </p:cNvPr>
          <p:cNvSpPr/>
          <p:nvPr userDrawn="1"/>
        </p:nvSpPr>
        <p:spPr>
          <a:xfrm>
            <a:off x="108960" y="4902570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>
              <a:defRPr/>
            </a:pPr>
            <a:r>
              <a:rPr lang="en-US" sz="700" kern="0" dirty="0">
                <a:solidFill>
                  <a:schemeClr val="bg1"/>
                </a:solidFill>
                <a:latin typeface="Roboto" panose="02000000000000000000" pitchFamily="2" charset="0"/>
                <a:cs typeface="Arial" panose="020B0604020202020204" pitchFamily="34" charset="0"/>
              </a:rPr>
              <a:t>Capgemini –AI Autonomous Intelligence |  July 2026</a:t>
            </a: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3ACF1DC8-1610-EDAC-42F2-3178A3738C37}"/>
              </a:ext>
            </a:extLst>
          </p:cNvPr>
          <p:cNvSpPr/>
          <p:nvPr userDrawn="1"/>
        </p:nvSpPr>
        <p:spPr>
          <a:xfrm>
            <a:off x="6763656" y="4891096"/>
            <a:ext cx="2366055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algn="r">
              <a:defRPr/>
            </a:pPr>
            <a:r>
              <a:rPr lang="en-GB" sz="700" dirty="0">
                <a:solidFill>
                  <a:schemeClr val="bg1"/>
                </a:solidFill>
                <a:latin typeface="Roboto" panose="02000000000000000000" pitchFamily="2" charset="0"/>
                <a:cs typeface="Arial" panose="020B0604020202020204" pitchFamily="34" charset="0"/>
              </a:rPr>
              <a:t>Company Confidential © Capgemini 2026. All rights reserved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A16B01-61EF-1AB9-AE9B-8314CF8878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grpSp>
        <p:nvGrpSpPr>
          <p:cNvPr id="18" name="Groupe 1">
            <a:extLst>
              <a:ext uri="{FF2B5EF4-FFF2-40B4-BE49-F238E27FC236}">
                <a16:creationId xmlns:a16="http://schemas.microsoft.com/office/drawing/2014/main" id="{FA0A54E7-808D-F495-F732-335AE9E46C88}"/>
              </a:ext>
            </a:extLst>
          </p:cNvPr>
          <p:cNvGrpSpPr/>
          <p:nvPr userDrawn="1"/>
        </p:nvGrpSpPr>
        <p:grpSpPr>
          <a:xfrm>
            <a:off x="8663934" y="78805"/>
            <a:ext cx="419436" cy="388988"/>
            <a:chOff x="11501102" y="171573"/>
            <a:chExt cx="419436" cy="388988"/>
          </a:xfrm>
        </p:grpSpPr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BE06A05-F643-3CD2-B5BA-519018614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33E863C6-008D-59A5-99EA-DDA7ECF99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26" name="Rectangle 27">
            <a:extLst>
              <a:ext uri="{FF2B5EF4-FFF2-40B4-BE49-F238E27FC236}">
                <a16:creationId xmlns:a16="http://schemas.microsoft.com/office/drawing/2014/main" id="{D9BCCD4C-17C5-832A-F329-B1E68387FE8E}"/>
              </a:ext>
            </a:extLst>
          </p:cNvPr>
          <p:cNvSpPr/>
          <p:nvPr userDrawn="1"/>
        </p:nvSpPr>
        <p:spPr>
          <a:xfrm>
            <a:off x="14290" y="4902570"/>
            <a:ext cx="2187890" cy="207982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>
              <a:defRPr/>
            </a:pPr>
            <a:r>
              <a:rPr lang="en-US" sz="700" kern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cs typeface="Arial" panose="020B0604020202020204" pitchFamily="34" charset="0"/>
              </a:rPr>
              <a:t>Capgemini –AI Autonomous Intelligence |  July 2026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FA1B5E-1EF7-442C-596E-3DD72C4E6FB3}"/>
              </a:ext>
            </a:extLst>
          </p:cNvPr>
          <p:cNvSpPr/>
          <p:nvPr userDrawn="1"/>
        </p:nvSpPr>
        <p:spPr>
          <a:xfrm>
            <a:off x="6507597" y="4885736"/>
            <a:ext cx="2575773" cy="23629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algn="r">
              <a:defRPr/>
            </a:pPr>
            <a:r>
              <a:rPr lang="en-GB" sz="7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cs typeface="Arial" panose="020B0604020202020204" pitchFamily="34" charset="0"/>
              </a:rPr>
              <a:t>Company Confidential © Capgemini 2026. All rights reserved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pattFill prst="pct5">
          <a:fgClr>
            <a:srgbClr val="0A1628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9848-1F84-A5F0-C68F-C83A8D11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e 1">
            <a:extLst>
              <a:ext uri="{FF2B5EF4-FFF2-40B4-BE49-F238E27FC236}">
                <a16:creationId xmlns:a16="http://schemas.microsoft.com/office/drawing/2014/main" id="{C4445ED1-09FC-D110-CAE7-2E4865CC8C5C}"/>
              </a:ext>
            </a:extLst>
          </p:cNvPr>
          <p:cNvGrpSpPr/>
          <p:nvPr userDrawn="1"/>
        </p:nvGrpSpPr>
        <p:grpSpPr>
          <a:xfrm>
            <a:off x="8694801" y="80144"/>
            <a:ext cx="419436" cy="388988"/>
            <a:chOff x="11501102" y="171573"/>
            <a:chExt cx="419436" cy="388988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AE4600-277F-C680-CCF6-CB26C4012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F8E83AA6-3AB8-FD34-E186-333DBE66D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prstClr val="black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6" name="Rectangle 27">
            <a:extLst>
              <a:ext uri="{FF2B5EF4-FFF2-40B4-BE49-F238E27FC236}">
                <a16:creationId xmlns:a16="http://schemas.microsoft.com/office/drawing/2014/main" id="{882E8A3A-3BEC-F2E4-425B-927D1AA19543}"/>
              </a:ext>
            </a:extLst>
          </p:cNvPr>
          <p:cNvSpPr/>
          <p:nvPr userDrawn="1"/>
        </p:nvSpPr>
        <p:spPr>
          <a:xfrm>
            <a:off x="65314" y="4971288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>
              <a:defRPr/>
            </a:pPr>
            <a:r>
              <a:rPr lang="en-US" sz="700" kern="0" dirty="0">
                <a:solidFill>
                  <a:schemeClr val="tx1"/>
                </a:solidFill>
                <a:latin typeface="Roboto" panose="02000000000000000000" pitchFamily="2" charset="0"/>
                <a:cs typeface="Arial" panose="020B0604020202020204" pitchFamily="34" charset="0"/>
              </a:rPr>
              <a:t>Capgemini –AI Autonomous Intelligence |  July 2026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8F328ED5-03AA-6169-5732-83C901EB765C}"/>
              </a:ext>
            </a:extLst>
          </p:cNvPr>
          <p:cNvSpPr/>
          <p:nvPr userDrawn="1"/>
        </p:nvSpPr>
        <p:spPr>
          <a:xfrm>
            <a:off x="6748182" y="4953628"/>
            <a:ext cx="2366055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algn="r">
              <a:defRPr/>
            </a:pPr>
            <a:r>
              <a:rPr lang="en-GB" sz="700" dirty="0">
                <a:solidFill>
                  <a:schemeClr val="tx1"/>
                </a:solidFill>
                <a:latin typeface="Roboto" panose="02000000000000000000" pitchFamily="2" charset="0"/>
                <a:cs typeface="Arial" panose="020B0604020202020204" pitchFamily="34" charset="0"/>
              </a:rPr>
              <a:t>Company Confidential © Capgemini 2026. All rights reserved </a:t>
            </a:r>
          </a:p>
        </p:txBody>
      </p:sp>
    </p:spTree>
    <p:extLst>
      <p:ext uri="{BB962C8B-B14F-4D97-AF65-F5344CB8AC3E}">
        <p14:creationId xmlns:p14="http://schemas.microsoft.com/office/powerpoint/2010/main" val="419052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0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CF2B-32CE-4376-DDDC-08F18351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A11C1560-0AD2-A195-02C6-B15CA60B700B}"/>
              </a:ext>
            </a:extLst>
          </p:cNvPr>
          <p:cNvSpPr/>
          <p:nvPr/>
        </p:nvSpPr>
        <p:spPr>
          <a:xfrm>
            <a:off x="457200" y="6400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chemeClr val="bg1"/>
                </a:solidFill>
                <a:effectLst>
                  <a:outerShdw blurRad="76200" dist="25400" dir="5400000" algn="t" rotWithShape="0">
                    <a:prstClr val="black">
                      <a:alpha val="30000"/>
                    </a:prstClr>
                  </a:outerShdw>
                </a:effectLst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AI AGENTS</a:t>
            </a:r>
            <a:endParaRPr lang="en-US" sz="4800" dirty="0">
              <a:solidFill>
                <a:schemeClr val="bg1"/>
              </a:solidFill>
              <a:effectLst>
                <a:outerShdw blurRad="76200" dist="25400" dir="5400000" algn="t" rotWithShape="0">
                  <a:prstClr val="black">
                    <a:alpha val="30000"/>
                  </a:prstClr>
                </a:outerShdw>
              </a:effectLst>
              <a:latin typeface="Aptos Display" panose="020B0004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F186F-85E4-5909-6E2C-50400FF92E38}"/>
              </a:ext>
            </a:extLst>
          </p:cNvPr>
          <p:cNvSpPr txBox="1"/>
          <p:nvPr/>
        </p:nvSpPr>
        <p:spPr>
          <a:xfrm>
            <a:off x="358140" y="1569715"/>
            <a:ext cx="4625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2000" b="1" i="1" dirty="0">
                <a:solidFill>
                  <a:srgbClr val="00C9FF"/>
                </a:solidFill>
                <a:effectLst/>
                <a:latin typeface="Roboto" panose="02000000000000000000" pitchFamily="2" charset="0"/>
              </a:rPr>
              <a:t>The Future of Intelligent </a:t>
            </a:r>
            <a:r>
              <a:rPr lang="en-IN" sz="2000" b="1" i="1" dirty="0">
                <a:solidFill>
                  <a:srgbClr val="C74FFF"/>
                </a:solidFill>
                <a:effectLst/>
                <a:latin typeface="Roboto" panose="02000000000000000000" pitchFamily="2" charset="0"/>
              </a:rPr>
              <a:t>Automation</a:t>
            </a:r>
            <a:endParaRPr lang="en-IN" sz="2000" dirty="0">
              <a:effectLst/>
              <a:latin typeface="Roboto" panose="02000000000000000000" pitchFamily="2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BCF38FA3-405D-95BA-4035-B7B4C6817003}"/>
              </a:ext>
            </a:extLst>
          </p:cNvPr>
          <p:cNvSpPr/>
          <p:nvPr/>
        </p:nvSpPr>
        <p:spPr>
          <a:xfrm>
            <a:off x="236220" y="1892618"/>
            <a:ext cx="4907280" cy="118115"/>
          </a:xfrm>
          <a:custGeom>
            <a:avLst/>
            <a:gdLst/>
            <a:ahLst/>
            <a:cxnLst/>
            <a:rect l="l" t="t" r="r" b="b"/>
            <a:pathLst>
              <a:path w="1476375" h="161925">
                <a:moveTo>
                  <a:pt x="0" y="0"/>
                </a:moveTo>
                <a:lnTo>
                  <a:pt x="1476375" y="0"/>
                </a:lnTo>
                <a:lnTo>
                  <a:pt x="147637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5" name="Freeform 9">
            <a:extLst>
              <a:ext uri="{FF2B5EF4-FFF2-40B4-BE49-F238E27FC236}">
                <a16:creationId xmlns:a16="http://schemas.microsoft.com/office/drawing/2014/main" id="{F50498D6-E1B8-E397-CA26-AC96E1680F06}"/>
              </a:ext>
            </a:extLst>
          </p:cNvPr>
          <p:cNvSpPr/>
          <p:nvPr/>
        </p:nvSpPr>
        <p:spPr>
          <a:xfrm>
            <a:off x="358141" y="2390894"/>
            <a:ext cx="312420" cy="471260"/>
          </a:xfrm>
          <a:custGeom>
            <a:avLst/>
            <a:gdLst/>
            <a:ahLst/>
            <a:cxnLst/>
            <a:rect l="l" t="t" r="r" b="b"/>
            <a:pathLst>
              <a:path w="409575" h="628650">
                <a:moveTo>
                  <a:pt x="0" y="0"/>
                </a:moveTo>
                <a:lnTo>
                  <a:pt x="409575" y="0"/>
                </a:lnTo>
                <a:lnTo>
                  <a:pt x="4095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751B27B-1181-E899-FC7A-76AAFF1A2555}"/>
              </a:ext>
            </a:extLst>
          </p:cNvPr>
          <p:cNvSpPr txBox="1"/>
          <p:nvPr/>
        </p:nvSpPr>
        <p:spPr>
          <a:xfrm>
            <a:off x="435531" y="2898928"/>
            <a:ext cx="381476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Understanding how AI agents perceive, reason, learn, and automate tasks.</a:t>
            </a:r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FB80552F-5BEF-37FB-E7CA-4AFE66525A8B}"/>
              </a:ext>
            </a:extLst>
          </p:cNvPr>
          <p:cNvSpPr/>
          <p:nvPr/>
        </p:nvSpPr>
        <p:spPr>
          <a:xfrm>
            <a:off x="396000" y="3825758"/>
            <a:ext cx="2520000" cy="1080000"/>
          </a:xfrm>
          <a:custGeom>
            <a:avLst/>
            <a:gdLst/>
            <a:ahLst/>
            <a:cxnLst/>
            <a:rect l="l" t="t" r="r" b="b"/>
            <a:pathLst>
              <a:path w="3086100" h="1400175">
                <a:moveTo>
                  <a:pt x="0" y="0"/>
                </a:moveTo>
                <a:lnTo>
                  <a:pt x="3086100" y="0"/>
                </a:lnTo>
                <a:lnTo>
                  <a:pt x="3086100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9" name="Freeform 12">
            <a:extLst>
              <a:ext uri="{FF2B5EF4-FFF2-40B4-BE49-F238E27FC236}">
                <a16:creationId xmlns:a16="http://schemas.microsoft.com/office/drawing/2014/main" id="{9E8FF5D0-257B-3C2D-7DC4-7964F6D3709C}"/>
              </a:ext>
            </a:extLst>
          </p:cNvPr>
          <p:cNvSpPr/>
          <p:nvPr/>
        </p:nvSpPr>
        <p:spPr>
          <a:xfrm>
            <a:off x="492657" y="3990215"/>
            <a:ext cx="693194" cy="637843"/>
          </a:xfrm>
          <a:custGeom>
            <a:avLst/>
            <a:gdLst/>
            <a:ahLst/>
            <a:cxnLst/>
            <a:rect l="l" t="t" r="r" b="b"/>
            <a:pathLst>
              <a:path w="809625" h="781050">
                <a:moveTo>
                  <a:pt x="0" y="0"/>
                </a:moveTo>
                <a:lnTo>
                  <a:pt x="809625" y="0"/>
                </a:lnTo>
                <a:lnTo>
                  <a:pt x="8096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1" name="Freeform 13">
            <a:extLst>
              <a:ext uri="{FF2B5EF4-FFF2-40B4-BE49-F238E27FC236}">
                <a16:creationId xmlns:a16="http://schemas.microsoft.com/office/drawing/2014/main" id="{9047491C-76D2-B129-9F04-87756A39E5B2}"/>
              </a:ext>
            </a:extLst>
          </p:cNvPr>
          <p:cNvSpPr/>
          <p:nvPr/>
        </p:nvSpPr>
        <p:spPr>
          <a:xfrm>
            <a:off x="1290360" y="4011893"/>
            <a:ext cx="166105" cy="540000"/>
          </a:xfrm>
          <a:custGeom>
            <a:avLst/>
            <a:gdLst/>
            <a:ahLst/>
            <a:cxnLst/>
            <a:rect l="l" t="t" r="r" b="b"/>
            <a:pathLst>
              <a:path w="142875" h="933450">
                <a:moveTo>
                  <a:pt x="0" y="0"/>
                </a:moveTo>
                <a:lnTo>
                  <a:pt x="142875" y="0"/>
                </a:lnTo>
                <a:lnTo>
                  <a:pt x="1428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3" name="TextBox 14">
            <a:extLst>
              <a:ext uri="{FF2B5EF4-FFF2-40B4-BE49-F238E27FC236}">
                <a16:creationId xmlns:a16="http://schemas.microsoft.com/office/drawing/2014/main" id="{914A1A04-48FE-69EB-276C-65978F9374B1}"/>
              </a:ext>
            </a:extLst>
          </p:cNvPr>
          <p:cNvSpPr txBox="1"/>
          <p:nvPr/>
        </p:nvSpPr>
        <p:spPr>
          <a:xfrm>
            <a:off x="1528525" y="3967518"/>
            <a:ext cx="1210866" cy="26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Autonomous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42AB0A21-A32E-1D58-11B6-757200E94E53}"/>
              </a:ext>
            </a:extLst>
          </p:cNvPr>
          <p:cNvSpPr txBox="1"/>
          <p:nvPr/>
        </p:nvSpPr>
        <p:spPr>
          <a:xfrm>
            <a:off x="1504287" y="4264672"/>
            <a:ext cx="1457325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9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Acts independently to achieve goals.</a:t>
            </a:r>
          </a:p>
        </p:txBody>
      </p:sp>
      <p:sp>
        <p:nvSpPr>
          <p:cNvPr id="57" name="Freeform 16">
            <a:extLst>
              <a:ext uri="{FF2B5EF4-FFF2-40B4-BE49-F238E27FC236}">
                <a16:creationId xmlns:a16="http://schemas.microsoft.com/office/drawing/2014/main" id="{1C8EAD86-B233-A8C7-D9BB-833160A482E9}"/>
              </a:ext>
            </a:extLst>
          </p:cNvPr>
          <p:cNvSpPr/>
          <p:nvPr/>
        </p:nvSpPr>
        <p:spPr>
          <a:xfrm>
            <a:off x="3312000" y="3798142"/>
            <a:ext cx="2520000" cy="1080000"/>
          </a:xfrm>
          <a:custGeom>
            <a:avLst/>
            <a:gdLst/>
            <a:ahLst/>
            <a:cxnLst/>
            <a:rect l="l" t="t" r="r" b="b"/>
            <a:pathLst>
              <a:path w="3095625" h="1400175">
                <a:moveTo>
                  <a:pt x="0" y="0"/>
                </a:moveTo>
                <a:lnTo>
                  <a:pt x="3095625" y="0"/>
                </a:lnTo>
                <a:lnTo>
                  <a:pt x="3095625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9" name="Freeform 17">
            <a:extLst>
              <a:ext uri="{FF2B5EF4-FFF2-40B4-BE49-F238E27FC236}">
                <a16:creationId xmlns:a16="http://schemas.microsoft.com/office/drawing/2014/main" id="{10B40D27-D947-8FEF-F73F-75B77D363DA5}"/>
              </a:ext>
            </a:extLst>
          </p:cNvPr>
          <p:cNvSpPr/>
          <p:nvPr/>
        </p:nvSpPr>
        <p:spPr>
          <a:xfrm>
            <a:off x="3505242" y="4085205"/>
            <a:ext cx="623554" cy="542853"/>
          </a:xfrm>
          <a:custGeom>
            <a:avLst/>
            <a:gdLst/>
            <a:ahLst/>
            <a:cxnLst/>
            <a:rect l="l" t="t" r="r" b="b"/>
            <a:pathLst>
              <a:path w="819150" h="781050">
                <a:moveTo>
                  <a:pt x="0" y="0"/>
                </a:moveTo>
                <a:lnTo>
                  <a:pt x="819150" y="0"/>
                </a:lnTo>
                <a:lnTo>
                  <a:pt x="8191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C5272D71-712A-128F-F2AA-15E88892522C}"/>
              </a:ext>
            </a:extLst>
          </p:cNvPr>
          <p:cNvSpPr/>
          <p:nvPr/>
        </p:nvSpPr>
        <p:spPr>
          <a:xfrm>
            <a:off x="4119364" y="4033187"/>
            <a:ext cx="100596" cy="540000"/>
          </a:xfrm>
          <a:custGeom>
            <a:avLst/>
            <a:gdLst/>
            <a:ahLst/>
            <a:cxnLst/>
            <a:rect l="l" t="t" r="r" b="b"/>
            <a:pathLst>
              <a:path w="142875" h="933450">
                <a:moveTo>
                  <a:pt x="0" y="0"/>
                </a:moveTo>
                <a:lnTo>
                  <a:pt x="142875" y="0"/>
                </a:lnTo>
                <a:lnTo>
                  <a:pt x="1428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63" name="TextBox 19">
            <a:extLst>
              <a:ext uri="{FF2B5EF4-FFF2-40B4-BE49-F238E27FC236}">
                <a16:creationId xmlns:a16="http://schemas.microsoft.com/office/drawing/2014/main" id="{286BC6A3-C69D-A9D1-9AEB-33D9764ABF9C}"/>
              </a:ext>
            </a:extLst>
          </p:cNvPr>
          <p:cNvSpPr txBox="1"/>
          <p:nvPr/>
        </p:nvSpPr>
        <p:spPr>
          <a:xfrm>
            <a:off x="4454845" y="3940667"/>
            <a:ext cx="942975" cy="54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400" dirty="0">
              <a:latin typeface="Roboto" panose="02000000000000000000" pitchFamily="2" charset="0"/>
            </a:endParaRPr>
          </a:p>
          <a:p>
            <a:pPr algn="l">
              <a:lnSpc>
                <a:spcPts val="2279"/>
              </a:lnSpc>
            </a:pPr>
            <a:endParaRPr lang="en-US" sz="10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5" name="TextBox 20">
            <a:extLst>
              <a:ext uri="{FF2B5EF4-FFF2-40B4-BE49-F238E27FC236}">
                <a16:creationId xmlns:a16="http://schemas.microsoft.com/office/drawing/2014/main" id="{47BF3E7F-98F3-C794-099F-8288368285F4}"/>
              </a:ext>
            </a:extLst>
          </p:cNvPr>
          <p:cNvSpPr txBox="1"/>
          <p:nvPr/>
        </p:nvSpPr>
        <p:spPr>
          <a:xfrm>
            <a:off x="4367662" y="4259398"/>
            <a:ext cx="1521619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9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Learns continuously from experience.</a:t>
            </a:r>
          </a:p>
        </p:txBody>
      </p:sp>
      <p:sp>
        <p:nvSpPr>
          <p:cNvPr id="67" name="Freeform 21">
            <a:extLst>
              <a:ext uri="{FF2B5EF4-FFF2-40B4-BE49-F238E27FC236}">
                <a16:creationId xmlns:a16="http://schemas.microsoft.com/office/drawing/2014/main" id="{EEC8D8D4-3671-4182-75A8-C806F0CE5DAC}"/>
              </a:ext>
            </a:extLst>
          </p:cNvPr>
          <p:cNvSpPr/>
          <p:nvPr/>
        </p:nvSpPr>
        <p:spPr>
          <a:xfrm>
            <a:off x="6228000" y="3798142"/>
            <a:ext cx="2520000" cy="1080000"/>
          </a:xfrm>
          <a:custGeom>
            <a:avLst/>
            <a:gdLst/>
            <a:ahLst/>
            <a:cxnLst/>
            <a:rect l="l" t="t" r="r" b="b"/>
            <a:pathLst>
              <a:path w="3219450" h="1400175">
                <a:moveTo>
                  <a:pt x="0" y="0"/>
                </a:moveTo>
                <a:lnTo>
                  <a:pt x="3219450" y="0"/>
                </a:lnTo>
                <a:lnTo>
                  <a:pt x="3219450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</a:t>
            </a:r>
          </a:p>
          <a:p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69" name="Freeform 22">
            <a:extLst>
              <a:ext uri="{FF2B5EF4-FFF2-40B4-BE49-F238E27FC236}">
                <a16:creationId xmlns:a16="http://schemas.microsoft.com/office/drawing/2014/main" id="{C23F38A0-E0DB-D236-D3FA-B06E60411437}"/>
              </a:ext>
            </a:extLst>
          </p:cNvPr>
          <p:cNvSpPr/>
          <p:nvPr/>
        </p:nvSpPr>
        <p:spPr>
          <a:xfrm>
            <a:off x="6585050" y="4011893"/>
            <a:ext cx="315078" cy="640560"/>
          </a:xfrm>
          <a:custGeom>
            <a:avLst/>
            <a:gdLst/>
            <a:ahLst/>
            <a:cxnLst/>
            <a:rect l="l" t="t" r="r" b="b"/>
            <a:pathLst>
              <a:path w="542925" h="781050">
                <a:moveTo>
                  <a:pt x="0" y="0"/>
                </a:moveTo>
                <a:lnTo>
                  <a:pt x="542925" y="0"/>
                </a:lnTo>
                <a:lnTo>
                  <a:pt x="5429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5CB7AA5E-F495-4EDA-FAB1-4DFE398666A4}"/>
              </a:ext>
            </a:extLst>
          </p:cNvPr>
          <p:cNvSpPr txBox="1"/>
          <p:nvPr/>
        </p:nvSpPr>
        <p:spPr>
          <a:xfrm>
            <a:off x="7208044" y="4233616"/>
            <a:ext cx="1478756" cy="43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9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Adapts quickly to changing situations.</a:t>
            </a:r>
          </a:p>
        </p:txBody>
      </p:sp>
      <p:sp>
        <p:nvSpPr>
          <p:cNvPr id="75" name="Freeform 23">
            <a:extLst>
              <a:ext uri="{FF2B5EF4-FFF2-40B4-BE49-F238E27FC236}">
                <a16:creationId xmlns:a16="http://schemas.microsoft.com/office/drawing/2014/main" id="{B87515DB-7B78-0FEB-985B-F8A8EFFA9612}"/>
              </a:ext>
            </a:extLst>
          </p:cNvPr>
          <p:cNvSpPr/>
          <p:nvPr/>
        </p:nvSpPr>
        <p:spPr>
          <a:xfrm>
            <a:off x="6986897" y="4003226"/>
            <a:ext cx="142875" cy="540000"/>
          </a:xfrm>
          <a:custGeom>
            <a:avLst/>
            <a:gdLst/>
            <a:ahLst/>
            <a:cxnLst/>
            <a:rect l="l" t="t" r="r" b="b"/>
            <a:pathLst>
              <a:path w="142875" h="933450">
                <a:moveTo>
                  <a:pt x="0" y="0"/>
                </a:moveTo>
                <a:lnTo>
                  <a:pt x="142875" y="0"/>
                </a:lnTo>
                <a:lnTo>
                  <a:pt x="1428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6CA37D5F-F815-28B3-8AB7-8B32F81AD1FF}"/>
              </a:ext>
            </a:extLst>
          </p:cNvPr>
          <p:cNvSpPr/>
          <p:nvPr/>
        </p:nvSpPr>
        <p:spPr>
          <a:xfrm>
            <a:off x="5286994" y="258437"/>
            <a:ext cx="3399806" cy="3403659"/>
          </a:xfrm>
          <a:custGeom>
            <a:avLst/>
            <a:gdLst/>
            <a:ahLst/>
            <a:cxnLst/>
            <a:rect l="l" t="t" r="r" b="b"/>
            <a:pathLst>
              <a:path w="4829175" h="4953000">
                <a:moveTo>
                  <a:pt x="0" y="0"/>
                </a:moveTo>
                <a:lnTo>
                  <a:pt x="4829175" y="0"/>
                </a:lnTo>
                <a:lnTo>
                  <a:pt x="4829175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D2EC4D6F-5E19-0CFE-3E3D-32317A4FD5C4}"/>
              </a:ext>
            </a:extLst>
          </p:cNvPr>
          <p:cNvSpPr txBox="1"/>
          <p:nvPr/>
        </p:nvSpPr>
        <p:spPr>
          <a:xfrm>
            <a:off x="7258622" y="3927576"/>
            <a:ext cx="942975" cy="54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79"/>
              </a:lnSpc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Adaptive</a:t>
            </a:r>
            <a:endParaRPr lang="en-US" sz="1400" dirty="0">
              <a:latin typeface="Roboto" panose="02000000000000000000" pitchFamily="2" charset="0"/>
            </a:endParaRPr>
          </a:p>
          <a:p>
            <a:pPr algn="l">
              <a:lnSpc>
                <a:spcPts val="2279"/>
              </a:lnSpc>
            </a:pPr>
            <a:endParaRPr lang="en-US" sz="10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333740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B0B3-CDB8-51CD-56CE-33988E5D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929563A-80AF-DC9B-884B-ED2CF0517D62}"/>
              </a:ext>
            </a:extLst>
          </p:cNvPr>
          <p:cNvSpPr txBox="1"/>
          <p:nvPr/>
        </p:nvSpPr>
        <p:spPr>
          <a:xfrm>
            <a:off x="186793" y="110261"/>
            <a:ext cx="3800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bg1"/>
                </a:solidFill>
                <a:latin typeface="Aptos Display" panose="020B0004020202020204" pitchFamily="34" charset="0"/>
              </a:rPr>
              <a:t>Presentation Roadmap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7FA4BA-A0DB-07E2-4320-A498622123A9}"/>
              </a:ext>
            </a:extLst>
          </p:cNvPr>
          <p:cNvCxnSpPr>
            <a:cxnSpLocks/>
          </p:cNvCxnSpPr>
          <p:nvPr/>
        </p:nvCxnSpPr>
        <p:spPr>
          <a:xfrm flipV="1">
            <a:off x="469012" y="2552402"/>
            <a:ext cx="8141588" cy="19348"/>
          </a:xfrm>
          <a:prstGeom prst="line">
            <a:avLst/>
          </a:prstGeom>
          <a:ln w="38100">
            <a:solidFill>
              <a:srgbClr val="00AEEF">
                <a:alpha val="8470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AE32899-642E-9FAE-6503-FC13410066C0}"/>
              </a:ext>
            </a:extLst>
          </p:cNvPr>
          <p:cNvSpPr/>
          <p:nvPr/>
        </p:nvSpPr>
        <p:spPr>
          <a:xfrm>
            <a:off x="218052" y="1445899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is an AI Agent?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8AD5966-96D4-D165-64E8-BD56515CE954}"/>
              </a:ext>
            </a:extLst>
          </p:cNvPr>
          <p:cNvSpPr/>
          <p:nvPr/>
        </p:nvSpPr>
        <p:spPr>
          <a:xfrm>
            <a:off x="974812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C3ABA06-8391-417A-0AF6-37C84CD96481}"/>
              </a:ext>
            </a:extLst>
          </p:cNvPr>
          <p:cNvSpPr/>
          <p:nvPr/>
        </p:nvSpPr>
        <p:spPr>
          <a:xfrm>
            <a:off x="2336343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13898EB-5394-58EB-45F0-174E9F3765F5}"/>
              </a:ext>
            </a:extLst>
          </p:cNvPr>
          <p:cNvSpPr/>
          <p:nvPr/>
        </p:nvSpPr>
        <p:spPr>
          <a:xfrm>
            <a:off x="3697874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151B8F3-6191-A917-68E9-E2A92406EE54}"/>
              </a:ext>
            </a:extLst>
          </p:cNvPr>
          <p:cNvSpPr/>
          <p:nvPr/>
        </p:nvSpPr>
        <p:spPr>
          <a:xfrm>
            <a:off x="5059405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BEF4A5-53FA-E5A2-53F9-2A9C8457591F}"/>
              </a:ext>
            </a:extLst>
          </p:cNvPr>
          <p:cNvSpPr/>
          <p:nvPr/>
        </p:nvSpPr>
        <p:spPr>
          <a:xfrm>
            <a:off x="6420936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07D2B9F-343F-CBDF-2F56-F647DBF3AB03}"/>
              </a:ext>
            </a:extLst>
          </p:cNvPr>
          <p:cNvSpPr/>
          <p:nvPr/>
        </p:nvSpPr>
        <p:spPr>
          <a:xfrm>
            <a:off x="7782467" y="2372374"/>
            <a:ext cx="386719" cy="381262"/>
          </a:xfrm>
          <a:prstGeom prst="ellipse">
            <a:avLst/>
          </a:prstGeom>
          <a:solidFill>
            <a:srgbClr val="08264F"/>
          </a:solidFill>
          <a:ln w="38100">
            <a:solidFill>
              <a:srgbClr val="00AEEF">
                <a:alpha val="40000"/>
              </a:srgbClr>
            </a:solidFill>
          </a:ln>
          <a:effectLst>
            <a:glow rad="101600">
              <a:srgbClr val="00AEEF">
                <a:alpha val="65098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335618-14BC-4E28-0222-7F9CBFE4332B}"/>
              </a:ext>
            </a:extLst>
          </p:cNvPr>
          <p:cNvSpPr txBox="1"/>
          <p:nvPr/>
        </p:nvSpPr>
        <p:spPr>
          <a:xfrm>
            <a:off x="853107" y="2331868"/>
            <a:ext cx="595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01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0B85BB-FEBE-F144-3B91-171C62CF79B9}"/>
              </a:ext>
            </a:extLst>
          </p:cNvPr>
          <p:cNvSpPr txBox="1"/>
          <p:nvPr/>
        </p:nvSpPr>
        <p:spPr>
          <a:xfrm>
            <a:off x="2242934" y="2331868"/>
            <a:ext cx="514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02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3E137F-D4B5-180D-7CA9-88894DE1556F}"/>
              </a:ext>
            </a:extLst>
          </p:cNvPr>
          <p:cNvSpPr txBox="1"/>
          <p:nvPr/>
        </p:nvSpPr>
        <p:spPr>
          <a:xfrm>
            <a:off x="3600837" y="2331867"/>
            <a:ext cx="514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03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144E0A-F3B4-0167-35F7-EE208D6BAF9C}"/>
              </a:ext>
            </a:extLst>
          </p:cNvPr>
          <p:cNvSpPr txBox="1"/>
          <p:nvPr/>
        </p:nvSpPr>
        <p:spPr>
          <a:xfrm>
            <a:off x="4982820" y="2331866"/>
            <a:ext cx="514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04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0A5DB3-E965-F3F9-B328-E19A94505D0F}"/>
              </a:ext>
            </a:extLst>
          </p:cNvPr>
          <p:cNvSpPr txBox="1"/>
          <p:nvPr/>
        </p:nvSpPr>
        <p:spPr>
          <a:xfrm>
            <a:off x="6340723" y="2356306"/>
            <a:ext cx="514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05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C9CE75-C6FA-6D83-33CA-24DA34A1F218}"/>
              </a:ext>
            </a:extLst>
          </p:cNvPr>
          <p:cNvSpPr txBox="1"/>
          <p:nvPr/>
        </p:nvSpPr>
        <p:spPr>
          <a:xfrm>
            <a:off x="7722706" y="2331868"/>
            <a:ext cx="514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06</a:t>
            </a:r>
            <a:endParaRPr lang="en-IN" sz="22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BDF5F4C-8010-910B-1E89-087E339F3B2A}"/>
              </a:ext>
            </a:extLst>
          </p:cNvPr>
          <p:cNvSpPr/>
          <p:nvPr/>
        </p:nvSpPr>
        <p:spPr>
          <a:xfrm>
            <a:off x="1585197" y="2933664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AI Agents Work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F00A7F1-4758-5BEA-0737-C3BF072E7FDA}"/>
              </a:ext>
            </a:extLst>
          </p:cNvPr>
          <p:cNvSpPr/>
          <p:nvPr/>
        </p:nvSpPr>
        <p:spPr>
          <a:xfrm>
            <a:off x="2976321" y="1441200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Types of AI Agents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A725F2-650E-CD7A-DE32-E4FAF673811E}"/>
              </a:ext>
            </a:extLst>
          </p:cNvPr>
          <p:cNvSpPr/>
          <p:nvPr/>
        </p:nvSpPr>
        <p:spPr>
          <a:xfrm>
            <a:off x="4428102" y="2933663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Real-World Applications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77728F5-940C-B0CF-49A3-1355EEBDEAA7}"/>
              </a:ext>
            </a:extLst>
          </p:cNvPr>
          <p:cNvSpPr/>
          <p:nvPr/>
        </p:nvSpPr>
        <p:spPr>
          <a:xfrm>
            <a:off x="5699383" y="1426573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Benefits &amp; Challenges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B015459-B323-D3FC-26A9-1F612EFA17DE}"/>
              </a:ext>
            </a:extLst>
          </p:cNvPr>
          <p:cNvSpPr/>
          <p:nvPr/>
        </p:nvSpPr>
        <p:spPr>
          <a:xfrm>
            <a:off x="7180827" y="2917180"/>
            <a:ext cx="1829823" cy="780399"/>
          </a:xfrm>
          <a:prstGeom prst="roundRect">
            <a:avLst/>
          </a:prstGeom>
          <a:solidFill>
            <a:schemeClr val="accent1">
              <a:alpha val="11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Future of AI Agents</a:t>
            </a:r>
            <a:endParaRPr lang="en-US" dirty="0">
              <a:latin typeface="Roboto" panose="02000000000000000000" pitchFamily="2" charset="0"/>
            </a:endParaRPr>
          </a:p>
        </p:txBody>
      </p:sp>
      <p:sp>
        <p:nvSpPr>
          <p:cNvPr id="95" name="Text 2">
            <a:extLst>
              <a:ext uri="{FF2B5EF4-FFF2-40B4-BE49-F238E27FC236}">
                <a16:creationId xmlns:a16="http://schemas.microsoft.com/office/drawing/2014/main" id="{739DD500-AC9A-B452-EBAF-7FFD62305C5B}"/>
              </a:ext>
            </a:extLst>
          </p:cNvPr>
          <p:cNvSpPr/>
          <p:nvPr/>
        </p:nvSpPr>
        <p:spPr>
          <a:xfrm>
            <a:off x="186793" y="607794"/>
            <a:ext cx="3299357" cy="553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Here’s What we’ll cover in this session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Freeform 8">
            <a:extLst>
              <a:ext uri="{FF2B5EF4-FFF2-40B4-BE49-F238E27FC236}">
                <a16:creationId xmlns:a16="http://schemas.microsoft.com/office/drawing/2014/main" id="{6D8B9D0A-0F9D-6A81-A5A9-DA7610DB677B}"/>
              </a:ext>
            </a:extLst>
          </p:cNvPr>
          <p:cNvSpPr/>
          <p:nvPr/>
        </p:nvSpPr>
        <p:spPr>
          <a:xfrm>
            <a:off x="232071" y="508496"/>
            <a:ext cx="1147966" cy="84145"/>
          </a:xfrm>
          <a:custGeom>
            <a:avLst/>
            <a:gdLst/>
            <a:ahLst/>
            <a:cxnLst/>
            <a:rect l="l" t="t" r="r" b="b"/>
            <a:pathLst>
              <a:path w="1476375" h="161925">
                <a:moveTo>
                  <a:pt x="0" y="0"/>
                </a:moveTo>
                <a:lnTo>
                  <a:pt x="1476375" y="0"/>
                </a:lnTo>
                <a:lnTo>
                  <a:pt x="147637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4513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05740"/>
            <a:ext cx="1165860" cy="240030"/>
          </a:xfrm>
          <a:prstGeom prst="roundRect">
            <a:avLst>
              <a:gd name="adj" fmla="val 48571"/>
            </a:avLst>
          </a:prstGeom>
          <a:solidFill>
            <a:srgbClr val="0E3A4A"/>
          </a:solidFill>
          <a:ln/>
        </p:spPr>
      </p:sp>
      <p:sp>
        <p:nvSpPr>
          <p:cNvPr id="3" name="Text 1"/>
          <p:cNvSpPr/>
          <p:nvPr/>
        </p:nvSpPr>
        <p:spPr>
          <a:xfrm>
            <a:off x="377190" y="205740"/>
            <a:ext cx="11658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COMPARISON</a:t>
            </a:r>
            <a:endParaRPr lang="en-US" sz="7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366903"/>
            <a:ext cx="685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 </a:t>
            </a:r>
            <a:r>
              <a:rPr lang="en-US" sz="2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 </a:t>
            </a:r>
            <a:r>
              <a:rPr lang="en-US" sz="2100" b="1" dirty="0">
                <a:solidFill>
                  <a:srgbClr val="A78B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AI</a:t>
            </a: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1829" y="73632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Understanding the key differences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17670" y="2005965"/>
            <a:ext cx="675000" cy="675000"/>
          </a:xfrm>
          <a:prstGeom prst="ellipse">
            <a:avLst/>
          </a:prstGeom>
          <a:solidFill>
            <a:srgbClr val="0B10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0840" y="1897147"/>
            <a:ext cx="7200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</a:t>
            </a:r>
            <a:endParaRPr lang="en-US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7190" y="1062990"/>
            <a:ext cx="3611647" cy="2503171"/>
          </a:xfrm>
          <a:prstGeom prst="roundRect">
            <a:avLst>
              <a:gd name="adj" fmla="val 2667"/>
            </a:avLst>
          </a:prstGeom>
          <a:solidFill>
            <a:srgbClr val="0D133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13866"/>
            <a:ext cx="480060" cy="48006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10" name="Image 0" descr="/home/claude/deck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" y="1337310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65860" y="1200150"/>
            <a:ext cx="26060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</a:t>
            </a:r>
            <a:endParaRPr lang="en-US" sz="127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65860" y="1426464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Autonomous. Goal-driven. Intelligent.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174879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14" name="Image 1" descr="/home/claude/deck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1786509"/>
            <a:ext cx="144018" cy="1440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5830" y="172821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Makes </a:t>
            </a:r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decisions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" y="200596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17" name="Image 2" descr="/home/claude/dec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" y="2043684"/>
            <a:ext cx="144018" cy="1440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5830" y="198539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Uses </a:t>
            </a:r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memory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226314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0" name="Image 3" descr="/home/claude/dec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62" y="2300859"/>
            <a:ext cx="144018" cy="1440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5830" y="224256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Plans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breaks down tasks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48640" y="252031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3" name="Image 4" descr="/home/claude/deck/icons/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2" y="2558034"/>
            <a:ext cx="144018" cy="1440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5830" y="249974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Uses external </a:t>
            </a:r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tools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APIs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548640" y="277749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6" name="Image 5" descr="/home/claude/deck/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362" y="2815209"/>
            <a:ext cx="144018" cy="14401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5830" y="275691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Learns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from feedback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548640" y="303466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9" name="Image 6" descr="/home/claude/deck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3072384"/>
            <a:ext cx="144018" cy="14401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5830" y="301409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Goal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oriented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548640" y="329184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13234A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32" name="Image 7" descr="/home/claude/deck/icons/bo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362" y="3329559"/>
            <a:ext cx="144018" cy="14401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25830" y="327126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Autonomous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proactive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5074920" y="1062990"/>
            <a:ext cx="3611647" cy="2503171"/>
          </a:xfrm>
          <a:prstGeom prst="roundRect">
            <a:avLst>
              <a:gd name="adj" fmla="val 2667"/>
            </a:avLst>
          </a:prstGeom>
          <a:solidFill>
            <a:srgbClr val="0D1330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5246370" y="1213866"/>
            <a:ext cx="480060" cy="480060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pic>
        <p:nvPicPr>
          <p:cNvPr id="36" name="Image 8" descr="/home/claude/deck/icons/com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956" y="1337310"/>
            <a:ext cx="246888" cy="2468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863590" y="1200150"/>
            <a:ext cx="26746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A78B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AI</a:t>
            </a:r>
            <a:endParaRPr lang="en-US" sz="127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5863590" y="1426464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Reactive. Prompt-based. Limited.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5246370" y="174879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40" name="Image 9" descr="/home/claude/deck/icons/ques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8092" y="1786509"/>
            <a:ext cx="144018" cy="14401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623560" y="172821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Answers </a:t>
            </a:r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questions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5246370" y="200596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43" name="Image 10" descr="/home/claude/deck/icons/ba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8092" y="2043684"/>
            <a:ext cx="144018" cy="14401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623560" y="198539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long-term </a:t>
            </a:r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memory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2"/>
          <p:cNvSpPr/>
          <p:nvPr/>
        </p:nvSpPr>
        <p:spPr>
          <a:xfrm>
            <a:off x="5246370" y="226314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46" name="Image 11" descr="/home/claude/deck/icons/com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8092" y="2300859"/>
            <a:ext cx="144018" cy="14401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623560" y="224256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Prompt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based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8" name="Shape 34"/>
          <p:cNvSpPr/>
          <p:nvPr/>
        </p:nvSpPr>
        <p:spPr>
          <a:xfrm>
            <a:off x="5246370" y="252031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49" name="Image 12" descr="/home/claude/deck/icons/puzz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8092" y="2558034"/>
            <a:ext cx="144018" cy="14401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5623560" y="249974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Cannot </a:t>
            </a:r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independently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1" name="Shape 36"/>
          <p:cNvSpPr/>
          <p:nvPr/>
        </p:nvSpPr>
        <p:spPr>
          <a:xfrm>
            <a:off x="5246370" y="277749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52" name="Image 13" descr="/home/claude/deck/icons/ba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8092" y="2815209"/>
            <a:ext cx="144018" cy="14401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5623560" y="275691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</a:t>
            </a:r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autonomous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execution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38"/>
          <p:cNvSpPr/>
          <p:nvPr/>
        </p:nvSpPr>
        <p:spPr>
          <a:xfrm>
            <a:off x="5246370" y="3034665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55" name="Image 14" descr="/home/claude/deck/icons/inf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8092" y="3072384"/>
            <a:ext cx="144018" cy="144018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5623560" y="3014091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Limited </a:t>
            </a:r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40"/>
          <p:cNvSpPr/>
          <p:nvPr/>
        </p:nvSpPr>
        <p:spPr>
          <a:xfrm>
            <a:off x="5246370" y="3291840"/>
            <a:ext cx="288036" cy="219456"/>
          </a:xfrm>
          <a:prstGeom prst="roundRect">
            <a:avLst>
              <a:gd name="adj" fmla="val 15625"/>
            </a:avLst>
          </a:prstGeom>
          <a:solidFill>
            <a:srgbClr val="241535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58" name="Image 15" descr="/home/claude/deck/icons/bolt_purp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8092" y="3329559"/>
            <a:ext cx="144018" cy="144018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5623560" y="3271266"/>
            <a:ext cx="2948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C084F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Reactive</a:t>
            </a:r>
            <a:r>
              <a:rPr lang="en-US" sz="938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not proactive</a:t>
            </a:r>
            <a:endParaRPr lang="en-US" sz="93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Shape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3914393"/>
            <a:ext cx="8332470" cy="925830"/>
          </a:xfrm>
          <a:prstGeom prst="roundRect">
            <a:avLst>
              <a:gd name="adj" fmla="val 6667"/>
            </a:avLst>
          </a:prstGeom>
          <a:solidFill>
            <a:srgbClr val="0B1030"/>
          </a:solidFill>
          <a:ln w="12700">
            <a:solidFill>
              <a:srgbClr val="2A3155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3336248" y="3682746"/>
            <a:ext cx="2458762" cy="23454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62" name="Text 44"/>
          <p:cNvSpPr/>
          <p:nvPr/>
        </p:nvSpPr>
        <p:spPr>
          <a:xfrm>
            <a:off x="3326130" y="3682746"/>
            <a:ext cx="24688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EXAMPLE: BOOK A FLIGHT</a:t>
            </a:r>
            <a:endParaRPr lang="en-US" sz="82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Text 45"/>
          <p:cNvSpPr/>
          <p:nvPr/>
        </p:nvSpPr>
        <p:spPr>
          <a:xfrm>
            <a:off x="507323" y="393856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A78B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 AI</a:t>
            </a:r>
            <a:endParaRPr lang="en-US" sz="7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Text 46"/>
          <p:cNvSpPr/>
          <p:nvPr/>
        </p:nvSpPr>
        <p:spPr>
          <a:xfrm>
            <a:off x="4494280" y="3917290"/>
            <a:ext cx="1108706" cy="21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</a:t>
            </a:r>
            <a:endParaRPr lang="en-US" sz="7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857250" y="4183380"/>
            <a:ext cx="270000" cy="270000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pic>
        <p:nvPicPr>
          <p:cNvPr id="66" name="Image 16" descr="/home/claude/deck/icons/user_pur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670" y="4250880"/>
            <a:ext cx="135000" cy="135000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458431" y="4488569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A78B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8" name="Text 49"/>
          <p:cNvSpPr/>
          <p:nvPr/>
        </p:nvSpPr>
        <p:spPr>
          <a:xfrm>
            <a:off x="480060" y="4612005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Book me a flight.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9" name="Shape 50"/>
          <p:cNvSpPr/>
          <p:nvPr/>
        </p:nvSpPr>
        <p:spPr>
          <a:xfrm rot="-2700000">
            <a:off x="1508759" y="4218710"/>
            <a:ext cx="270000" cy="270000"/>
          </a:xfrm>
          <a:prstGeom prst="line">
            <a:avLst/>
          </a:prstGeom>
          <a:noFill/>
          <a:ln w="19050">
            <a:solidFill>
              <a:srgbClr val="4B5480"/>
            </a:solidFill>
            <a:prstDash val="solid"/>
            <a:tailEnd type="triangle"/>
          </a:ln>
        </p:spPr>
      </p:sp>
      <p:sp>
        <p:nvSpPr>
          <p:cNvPr id="70" name="Shape 51"/>
          <p:cNvSpPr/>
          <p:nvPr/>
        </p:nvSpPr>
        <p:spPr>
          <a:xfrm>
            <a:off x="2160270" y="4183380"/>
            <a:ext cx="270000" cy="270000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pic>
        <p:nvPicPr>
          <p:cNvPr id="71" name="Image 17" descr="/home/claude/deck/icons/com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2623" y="4236306"/>
            <a:ext cx="135000" cy="135000"/>
          </a:xfrm>
          <a:prstGeom prst="rect">
            <a:avLst/>
          </a:prstGeom>
        </p:spPr>
      </p:pic>
      <p:sp>
        <p:nvSpPr>
          <p:cNvPr id="72" name="Text 52"/>
          <p:cNvSpPr/>
          <p:nvPr/>
        </p:nvSpPr>
        <p:spPr>
          <a:xfrm>
            <a:off x="1801588" y="4488569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A78B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Replies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3" name="Text 53"/>
          <p:cNvSpPr/>
          <p:nvPr/>
        </p:nvSpPr>
        <p:spPr>
          <a:xfrm>
            <a:off x="1865291" y="4605089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"I can help you search."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4457700" y="3909060"/>
            <a:ext cx="0" cy="822960"/>
          </a:xfrm>
          <a:prstGeom prst="line">
            <a:avLst/>
          </a:prstGeom>
          <a:noFill/>
          <a:ln w="12700">
            <a:solidFill>
              <a:srgbClr val="2A3155"/>
            </a:solidFill>
            <a:prstDash val="solid"/>
          </a:ln>
        </p:spPr>
      </p:sp>
      <p:sp>
        <p:nvSpPr>
          <p:cNvPr id="75" name="Shape 55"/>
          <p:cNvSpPr/>
          <p:nvPr/>
        </p:nvSpPr>
        <p:spPr>
          <a:xfrm>
            <a:off x="4697730" y="4183380"/>
            <a:ext cx="270000" cy="2700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76" name="Image 18" descr="/home/claude/deck/icons/user_cya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76338" y="4249030"/>
            <a:ext cx="135000" cy="135000"/>
          </a:xfrm>
          <a:prstGeom prst="rect">
            <a:avLst/>
          </a:prstGeom>
        </p:spPr>
      </p:pic>
      <p:sp>
        <p:nvSpPr>
          <p:cNvPr id="77" name="Text 56"/>
          <p:cNvSpPr/>
          <p:nvPr/>
        </p:nvSpPr>
        <p:spPr>
          <a:xfrm>
            <a:off x="4351565" y="4533177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8" name="Text 57"/>
          <p:cNvSpPr/>
          <p:nvPr/>
        </p:nvSpPr>
        <p:spPr>
          <a:xfrm>
            <a:off x="4347534" y="4625702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Book flight.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58"/>
          <p:cNvSpPr/>
          <p:nvPr/>
        </p:nvSpPr>
        <p:spPr>
          <a:xfrm rot="-2700000">
            <a:off x="5150303" y="4190238"/>
            <a:ext cx="270000" cy="270000"/>
          </a:xfrm>
          <a:prstGeom prst="line">
            <a:avLst/>
          </a:prstGeom>
          <a:noFill/>
          <a:ln w="19050">
            <a:solidFill>
              <a:srgbClr val="4B5480"/>
            </a:solidFill>
            <a:prstDash val="solid"/>
            <a:tailEnd type="triangle"/>
          </a:ln>
        </p:spPr>
      </p:sp>
      <p:sp>
        <p:nvSpPr>
          <p:cNvPr id="80" name="Shape 59"/>
          <p:cNvSpPr/>
          <p:nvPr/>
        </p:nvSpPr>
        <p:spPr>
          <a:xfrm>
            <a:off x="5602986" y="4183380"/>
            <a:ext cx="270000" cy="2700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81" name="Image 19" descr="/home/claude/deck/icons/searc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63229" y="4249030"/>
            <a:ext cx="135000" cy="135000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5256821" y="4533177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Searches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3" name="Text 61"/>
          <p:cNvSpPr/>
          <p:nvPr/>
        </p:nvSpPr>
        <p:spPr>
          <a:xfrm>
            <a:off x="5252790" y="4625702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airlines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Shape 62"/>
          <p:cNvSpPr/>
          <p:nvPr/>
        </p:nvSpPr>
        <p:spPr>
          <a:xfrm rot="-2700000">
            <a:off x="6055559" y="4190238"/>
            <a:ext cx="270000" cy="270000"/>
          </a:xfrm>
          <a:prstGeom prst="line">
            <a:avLst/>
          </a:prstGeom>
          <a:noFill/>
          <a:ln w="19050">
            <a:solidFill>
              <a:srgbClr val="4B5480"/>
            </a:solidFill>
            <a:prstDash val="solid"/>
            <a:tailEnd type="triangle"/>
          </a:ln>
        </p:spPr>
      </p:sp>
      <p:sp>
        <p:nvSpPr>
          <p:cNvPr id="85" name="Shape 63"/>
          <p:cNvSpPr/>
          <p:nvPr/>
        </p:nvSpPr>
        <p:spPr>
          <a:xfrm>
            <a:off x="6508242" y="4183380"/>
            <a:ext cx="270000" cy="2700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86" name="Image 20" descr="/home/claude/deck/icons/ta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1112" y="4259331"/>
            <a:ext cx="135000" cy="135000"/>
          </a:xfrm>
          <a:prstGeom prst="rect">
            <a:avLst/>
          </a:prstGeom>
        </p:spPr>
      </p:pic>
      <p:sp>
        <p:nvSpPr>
          <p:cNvPr id="87" name="Text 64"/>
          <p:cNvSpPr/>
          <p:nvPr/>
        </p:nvSpPr>
        <p:spPr>
          <a:xfrm>
            <a:off x="6162077" y="4533177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Compares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Text 65"/>
          <p:cNvSpPr/>
          <p:nvPr/>
        </p:nvSpPr>
        <p:spPr>
          <a:xfrm>
            <a:off x="6158046" y="4625702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prices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9" name="Shape 66"/>
          <p:cNvSpPr/>
          <p:nvPr/>
        </p:nvSpPr>
        <p:spPr>
          <a:xfrm rot="-2700000">
            <a:off x="6960815" y="4190238"/>
            <a:ext cx="270000" cy="270000"/>
          </a:xfrm>
          <a:prstGeom prst="line">
            <a:avLst/>
          </a:prstGeom>
          <a:noFill/>
          <a:ln w="19050">
            <a:solidFill>
              <a:srgbClr val="4B5480"/>
            </a:solidFill>
            <a:prstDash val="solid"/>
            <a:tailEnd type="triangle"/>
          </a:ln>
        </p:spPr>
      </p:sp>
      <p:sp>
        <p:nvSpPr>
          <p:cNvPr id="90" name="Shape 67"/>
          <p:cNvSpPr/>
          <p:nvPr/>
        </p:nvSpPr>
        <p:spPr>
          <a:xfrm>
            <a:off x="7413498" y="4183380"/>
            <a:ext cx="270000" cy="2700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91" name="Image 21" descr="/home/claude/deck/icons/car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96232" y="4249030"/>
            <a:ext cx="135000" cy="135000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7067333" y="4533177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Books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3" name="Text 69"/>
          <p:cNvSpPr/>
          <p:nvPr/>
        </p:nvSpPr>
        <p:spPr>
          <a:xfrm>
            <a:off x="7063302" y="4625702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ticket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Shape 70"/>
          <p:cNvSpPr/>
          <p:nvPr/>
        </p:nvSpPr>
        <p:spPr>
          <a:xfrm rot="-2700000">
            <a:off x="7866071" y="4190238"/>
            <a:ext cx="270000" cy="270000"/>
          </a:xfrm>
          <a:prstGeom prst="line">
            <a:avLst/>
          </a:prstGeom>
          <a:noFill/>
          <a:ln w="19050">
            <a:solidFill>
              <a:srgbClr val="4B5480"/>
            </a:solidFill>
            <a:prstDash val="solid"/>
            <a:tailEnd type="triangle"/>
          </a:ln>
        </p:spPr>
      </p:sp>
      <p:sp>
        <p:nvSpPr>
          <p:cNvPr id="95" name="Shape 71"/>
          <p:cNvSpPr/>
          <p:nvPr/>
        </p:nvSpPr>
        <p:spPr>
          <a:xfrm>
            <a:off x="8263890" y="4183380"/>
            <a:ext cx="270000" cy="270000"/>
          </a:xfrm>
          <a:prstGeom prst="ellipse">
            <a:avLst/>
          </a:prstGeom>
          <a:ln w="19050">
            <a:solidFill>
              <a:srgbClr val="22D3EE"/>
            </a:solidFill>
            <a:prstDash val="solid"/>
          </a:ln>
        </p:spPr>
      </p:sp>
      <p:pic>
        <p:nvPicPr>
          <p:cNvPr id="96" name="Image 22" descr="/home/claude/deck/icons/envelop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6118" y="4265717"/>
            <a:ext cx="135000" cy="135000"/>
          </a:xfrm>
          <a:prstGeom prst="rect">
            <a:avLst/>
          </a:prstGeom>
        </p:spPr>
      </p:pic>
      <p:sp>
        <p:nvSpPr>
          <p:cNvPr id="97" name="Text 72"/>
          <p:cNvSpPr/>
          <p:nvPr/>
        </p:nvSpPr>
        <p:spPr>
          <a:xfrm>
            <a:off x="7917725" y="4533177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2D3E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Sends</a:t>
            </a:r>
            <a:endParaRPr lang="en-US" sz="788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8" name="Text 73"/>
          <p:cNvSpPr/>
          <p:nvPr/>
        </p:nvSpPr>
        <p:spPr>
          <a:xfrm>
            <a:off x="7913694" y="4625702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13" dirty="0">
                <a:solidFill>
                  <a:srgbClr val="B7C0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confirmation</a:t>
            </a:r>
            <a:endParaRPr lang="en-US" sz="71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9" name="Text 74"/>
          <p:cNvSpPr/>
          <p:nvPr/>
        </p:nvSpPr>
        <p:spPr>
          <a:xfrm>
            <a:off x="411480" y="490347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5B64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Capgemini – AI Autonomous Intelligence   |   July 2026</a:t>
            </a:r>
            <a:endParaRPr lang="en-US" sz="67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0" name="Text 75"/>
          <p:cNvSpPr/>
          <p:nvPr/>
        </p:nvSpPr>
        <p:spPr>
          <a:xfrm>
            <a:off x="8709660" y="490347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B64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n-US" sz="7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solidFill>
                <a:srgbClr val="00B4D8"/>
              </a:solidFill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DEFINITION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is an AI Agent?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 AI Agent</a:t>
            </a:r>
            <a:r>
              <a:rPr lang="en-US" sz="15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is a software program that can:
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Perceive its environment
Make its own decisions
Take actions to achieve a 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latin typeface="Roboto" panose="02000000000000000000" pitchFamily="2" charset="0"/>
                <a:ea typeface="Space Grotesk" pitchFamily="34" charset="-122"/>
                <a:cs typeface="Space Grotesk" pitchFamily="34" charset="-120"/>
              </a:rPr>
              <a:t>Observes</a:t>
            </a:r>
            <a:r>
              <a:rPr lang="en-US" sz="1500" b="1" dirty="0">
                <a:solidFill>
                  <a:srgbClr val="B0BEC5"/>
                </a:solidFill>
                <a:latin typeface="Roboto" panose="02000000000000000000" pitchFamily="2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1500" dirty="0">
                <a:solidFill>
                  <a:srgbClr val="B0BEC5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the result of each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0BEC5"/>
                </a:solidFill>
                <a:latin typeface="Roboto" panose="02000000000000000000" pitchFamily="2" charset="0"/>
                <a:ea typeface="Space Grotesk" pitchFamily="34" charset="-122"/>
                <a:cs typeface="Space Grotesk" pitchFamily="34" charset="-120"/>
              </a:rPr>
              <a:t>Repeats </a:t>
            </a:r>
            <a:r>
              <a:rPr lang="en-US" sz="1500" dirty="0">
                <a:solidFill>
                  <a:srgbClr val="B0BEC5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the cycle until the goal is met</a:t>
            </a:r>
            <a:endParaRPr lang="en-US" sz="1500" dirty="0">
              <a:solidFill>
                <a:srgbClr val="B0BEC5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sz="1500" dirty="0">
              <a:latin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029200" cy="9601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D16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💡  </a:t>
            </a:r>
            <a:r>
              <a:rPr lang="en-US" sz="1400" dirty="0">
                <a:solidFill>
                  <a:srgbClr val="B0BEC5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The key word is </a:t>
            </a:r>
            <a:r>
              <a:rPr lang="en-US" sz="1400" b="1" dirty="0">
                <a:solidFill>
                  <a:srgbClr val="00B4D8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autonomy</a:t>
            </a:r>
            <a:r>
              <a:rPr lang="en-US" sz="1400" dirty="0">
                <a:solidFill>
                  <a:srgbClr val="B0BEC5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 - the agent decides the next       step, not you.</a:t>
            </a:r>
            <a:endParaRPr lang="en-US" sz="1400" dirty="0">
              <a:solidFill>
                <a:srgbClr val="B0BEC5"/>
              </a:solidFill>
              <a:latin typeface="Roboto" panose="02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0462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72"/>
              </a:lnSpc>
            </a:pPr>
            <a:r>
              <a:rPr lang="en-US" sz="1200" dirty="0">
                <a:solidFill>
                  <a:srgbClr val="BAC1D3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The “intelligence” is the decision-making - not just</a:t>
            </a:r>
            <a:r>
              <a:rPr lang="en-US" sz="1200" dirty="0">
                <a:latin typeface="Roboto" panose="02000000000000000000" pitchFamily="2" charset="0"/>
              </a:rPr>
              <a:t> </a:t>
            </a:r>
            <a:r>
              <a:rPr lang="en-US" sz="1200" dirty="0">
                <a:solidFill>
                  <a:srgbClr val="BAC1D3"/>
                </a:solidFill>
                <a:latin typeface="Roboto" panose="02000000000000000000" pitchFamily="2" charset="0"/>
                <a:ea typeface="IBM Plex Sans" pitchFamily="34" charset="-122"/>
                <a:cs typeface="IBM Plex Sans" pitchFamily="34" charset="-120"/>
              </a:rPr>
              <a:t>knowing facts.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560320" cy="2637692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Roboto" panose="02000000000000000000" pitchFamily="2" charset="0"/>
              </a:rPr>
              <a:t>Autonomous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Roboto" panose="02000000000000000000" pitchFamily="2" charset="0"/>
              </a:rPr>
              <a:t>Goal-Oriented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Roboto" panose="02000000000000000000" pitchFamily="2" charset="0"/>
              </a:rPr>
              <a:t>Intelligent</a:t>
            </a:r>
            <a:endParaRPr lang="en-US" sz="13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COMPARISON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 vs Regular AI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boto" panose="02000000000000000000" pitchFamily="2" charset="0"/>
              </a:rPr>
              <a:t>Regular AI (like ChatGPT)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boto" panose="02000000000000000000" pitchFamily="2" charset="0"/>
              </a:rPr>
              <a:t>AI Agent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Roboto" panose="02000000000000000000" pitchFamily="2" charset="0"/>
              </a:rPr>
              <a:t>✗  Answers one question at a time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0916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Roboto" panose="02000000000000000000" pitchFamily="2" charset="0"/>
              </a:rPr>
              <a:t>✓  Plans &amp; executes multi-step tasks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Roboto" panose="02000000000000000000" pitchFamily="2" charset="0"/>
              </a:rPr>
              <a:t>✗  Waits for your next message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2542032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Roboto" panose="02000000000000000000" pitchFamily="2" charset="0"/>
              </a:rPr>
              <a:t>✓  Acts on its own without prompting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Roboto" panose="02000000000000000000" pitchFamily="2" charset="0"/>
              </a:rPr>
              <a:t>✗  No memory between chats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Roboto" panose="02000000000000000000" pitchFamily="2" charset="0"/>
              </a:rPr>
              <a:t>✓  Remembers context across tasks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Roboto" panose="02000000000000000000" pitchFamily="2" charset="0"/>
              </a:rPr>
              <a:t>✗  Can't use tools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3602736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Roboto" panose="02000000000000000000" pitchFamily="2" charset="0"/>
              </a:rPr>
              <a:t>✓  Uses tools: web, email, code, APIs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Roboto" panose="02000000000000000000" pitchFamily="2" charset="0"/>
              </a:rPr>
              <a:t>✗  You do the thinking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4133088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Roboto" panose="02000000000000000000" pitchFamily="2" charset="0"/>
              </a:rPr>
              <a:t>✓  It does the thinking FOR you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66260" y="2560320"/>
            <a:ext cx="342900" cy="3383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51960" y="2423160"/>
            <a:ext cx="5802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VS</a:t>
            </a:r>
            <a:endParaRPr lang="en-US" sz="13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HOW IT WORKS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Brain of an AI Agent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737360" cy="173736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1480" y="306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Roboto" panose="02000000000000000000" pitchFamily="2" charset="0"/>
              </a:rPr>
              <a:t>PERCEIVE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1123" y="3427190"/>
            <a:ext cx="1440000" cy="765720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3456625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Takes in data: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Text, images,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websites, files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88920" y="1325880"/>
            <a:ext cx="1737360" cy="173736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697480" y="306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Roboto" panose="02000000000000000000" pitchFamily="2" charset="0"/>
              </a:rPr>
              <a:t>THINK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971800" y="3421863"/>
            <a:ext cx="1440000" cy="766800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838157" y="3497018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Uses AI to plan: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is the goal?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steps to take?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074920" y="1325880"/>
            <a:ext cx="1737360" cy="1737360"/>
          </a:xfrm>
          <a:prstGeom prst="ellipse">
            <a:avLst/>
          </a:prstGeom>
          <a:solidFill>
            <a:srgbClr val="00C896">
              <a:alpha val="10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983480" y="306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C896"/>
                </a:solidFill>
                <a:latin typeface="Roboto" panose="02000000000000000000" pitchFamily="2" charset="0"/>
              </a:rPr>
              <a:t>ACT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257800" y="3421863"/>
            <a:ext cx="1440000" cy="766800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124157" y="3497018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Executes actions: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Sends email, runs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code, searches web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360920" y="1325880"/>
            <a:ext cx="1737360" cy="1737360"/>
          </a:xfrm>
          <a:prstGeom prst="ellipse">
            <a:avLst/>
          </a:prstGeom>
          <a:solidFill>
            <a:srgbClr val="FFD166">
              <a:alpha val="10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63040"/>
            <a:ext cx="1097280" cy="10972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06143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D166"/>
                </a:solidFill>
                <a:latin typeface="Roboto" panose="02000000000000000000" pitchFamily="2" charset="0"/>
              </a:rPr>
              <a:t>REMEMBER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543800" y="3421863"/>
            <a:ext cx="1440000" cy="766800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410157" y="3497018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Stores results: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Learns from past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actions &amp; outcomes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2651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937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latin typeface="Roboto" panose="02000000000000000000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6CBBA03-6674-1B7C-3F29-122579A35D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62"/>
          <a:stretch>
            <a:fillRect/>
          </a:stretch>
        </p:blipFill>
        <p:spPr>
          <a:xfrm>
            <a:off x="634457" y="1543379"/>
            <a:ext cx="1331503" cy="1348857"/>
          </a:xfrm>
          <a:prstGeom prst="ellipse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1FF2435-7A42-632D-9C0E-25B76177A8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80" t="7976" r="947" b="-732"/>
          <a:stretch>
            <a:fillRect/>
          </a:stretch>
        </p:blipFill>
        <p:spPr>
          <a:xfrm>
            <a:off x="3008340" y="1537805"/>
            <a:ext cx="1332000" cy="1394437"/>
          </a:xfrm>
          <a:prstGeom prst="ellipse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205B44-49F2-98BD-5890-9CA577238D7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96" t="4099"/>
          <a:stretch>
            <a:fillRect/>
          </a:stretch>
        </p:blipFill>
        <p:spPr>
          <a:xfrm>
            <a:off x="5310540" y="1537805"/>
            <a:ext cx="1275480" cy="1350000"/>
          </a:xfrm>
          <a:prstGeom prst="ellipse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670A2D9-68A5-FA38-859B-F642F65C840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968" t="5756" r="968" b="4204"/>
          <a:stretch>
            <a:fillRect/>
          </a:stretch>
        </p:blipFill>
        <p:spPr>
          <a:xfrm>
            <a:off x="7552080" y="1593063"/>
            <a:ext cx="1332000" cy="1294742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C224-7E3F-8708-3479-CB76635F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64F4A0-9493-08CB-B2C1-01E286C972FA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CD866E-FBD5-9D9E-55DE-E8FCF865C434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TYPES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7CEB1E-D336-B562-C367-C8FCDE8CD330}"/>
              </a:ext>
            </a:extLst>
          </p:cNvPr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Types of AI Agents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D01279-2013-C53C-8E7B-33E5A7EC591F}"/>
              </a:ext>
            </a:extLst>
          </p:cNvPr>
          <p:cNvSpPr/>
          <p:nvPr/>
        </p:nvSpPr>
        <p:spPr>
          <a:xfrm>
            <a:off x="457200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3FBFB2B-A801-1A37-D89D-72F77F0DAC65}"/>
              </a:ext>
            </a:extLst>
          </p:cNvPr>
          <p:cNvSpPr/>
          <p:nvPr/>
        </p:nvSpPr>
        <p:spPr>
          <a:xfrm>
            <a:off x="457200" y="13716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DFF113E-A64C-092A-C340-F265B562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457200" cy="4572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16B6240-53F2-6CD7-9745-49762A9AD8A8}"/>
              </a:ext>
            </a:extLst>
          </p:cNvPr>
          <p:cNvSpPr/>
          <p:nvPr/>
        </p:nvSpPr>
        <p:spPr>
          <a:xfrm>
            <a:off x="1115568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Roboto" panose="02000000000000000000" pitchFamily="2" charset="0"/>
              </a:rPr>
              <a:t>Simple Reflex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E4E71FE-20B8-97EF-DD00-10C535F17EE7}"/>
              </a:ext>
            </a:extLst>
          </p:cNvPr>
          <p:cNvSpPr/>
          <p:nvPr/>
        </p:nvSpPr>
        <p:spPr>
          <a:xfrm>
            <a:off x="566928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Reacts to current situation only. Like a thermostat  if hot, turn on AC.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B5292BE-CFB5-AF92-C423-CE3E8AC07838}"/>
              </a:ext>
            </a:extLst>
          </p:cNvPr>
          <p:cNvSpPr/>
          <p:nvPr/>
        </p:nvSpPr>
        <p:spPr>
          <a:xfrm>
            <a:off x="3364992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E08451B-C6CC-F163-9495-0C3577AC56F7}"/>
              </a:ext>
            </a:extLst>
          </p:cNvPr>
          <p:cNvSpPr/>
          <p:nvPr/>
        </p:nvSpPr>
        <p:spPr>
          <a:xfrm>
            <a:off x="3364992" y="137160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06314D70-39F0-25A8-1D2E-7E6BAA584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481328"/>
            <a:ext cx="457200" cy="45720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74679A65-F1F2-41EB-E574-CE4FDBE7D401}"/>
              </a:ext>
            </a:extLst>
          </p:cNvPr>
          <p:cNvSpPr/>
          <p:nvPr/>
        </p:nvSpPr>
        <p:spPr>
          <a:xfrm>
            <a:off x="402336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Roboto" panose="02000000000000000000" pitchFamily="2" charset="0"/>
              </a:rPr>
              <a:t>Model-Based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B425C98-272C-C1B2-9C63-E004ABCF6A08}"/>
              </a:ext>
            </a:extLst>
          </p:cNvPr>
          <p:cNvSpPr/>
          <p:nvPr/>
        </p:nvSpPr>
        <p:spPr>
          <a:xfrm>
            <a:off x="3474720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Keeps memory of past events. Tracks what happened to make better decisions.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C8F21DB-C438-97AD-4443-5F944F856459}"/>
              </a:ext>
            </a:extLst>
          </p:cNvPr>
          <p:cNvSpPr/>
          <p:nvPr/>
        </p:nvSpPr>
        <p:spPr>
          <a:xfrm>
            <a:off x="6272784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D495CE1-912F-4D5A-0C9E-7A8ECDF8413C}"/>
              </a:ext>
            </a:extLst>
          </p:cNvPr>
          <p:cNvSpPr/>
          <p:nvPr/>
        </p:nvSpPr>
        <p:spPr>
          <a:xfrm>
            <a:off x="6272784" y="1371600"/>
            <a:ext cx="27432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B1F17A28-4264-39B9-7B97-B6569A18E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481328"/>
            <a:ext cx="457200" cy="45720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03C36CC-F939-F755-A0CB-8753E95638B3}"/>
              </a:ext>
            </a:extLst>
          </p:cNvPr>
          <p:cNvSpPr/>
          <p:nvPr/>
        </p:nvSpPr>
        <p:spPr>
          <a:xfrm>
            <a:off x="6931152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Roboto" panose="02000000000000000000" pitchFamily="2" charset="0"/>
              </a:rPr>
              <a:t>Goal-Based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FC04360-2C09-C48C-107E-5A9CCE360DB7}"/>
              </a:ext>
            </a:extLst>
          </p:cNvPr>
          <p:cNvSpPr/>
          <p:nvPr/>
        </p:nvSpPr>
        <p:spPr>
          <a:xfrm>
            <a:off x="6382512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Works towards a specific goal. Plans multiple steps to achieve the objective.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28113DFF-8FAC-851F-CDD6-5A4D1A376326}"/>
              </a:ext>
            </a:extLst>
          </p:cNvPr>
          <p:cNvSpPr/>
          <p:nvPr/>
        </p:nvSpPr>
        <p:spPr>
          <a:xfrm>
            <a:off x="457200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3127C3CA-F2D0-27D7-D641-2ED4DE41CD5A}"/>
              </a:ext>
            </a:extLst>
          </p:cNvPr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268DBC4E-D63E-C451-A68C-6C4D004AC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64408"/>
            <a:ext cx="457200" cy="45720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63D5B6D8-6FDD-6C26-F939-2E9715A07867}"/>
              </a:ext>
            </a:extLst>
          </p:cNvPr>
          <p:cNvSpPr/>
          <p:nvPr/>
        </p:nvSpPr>
        <p:spPr>
          <a:xfrm>
            <a:off x="1115568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Roboto" panose="02000000000000000000" pitchFamily="2" charset="0"/>
              </a:rPr>
              <a:t>Utility-Based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562D24E-2244-2C85-E7C7-F3577130ECEA}"/>
              </a:ext>
            </a:extLst>
          </p:cNvPr>
          <p:cNvSpPr/>
          <p:nvPr/>
        </p:nvSpPr>
        <p:spPr>
          <a:xfrm>
            <a:off x="566928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Picks the BEST option, not just any option. Maximizes a score or outcome.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C8815E48-DA39-6743-0B92-B9E9407E9540}"/>
              </a:ext>
            </a:extLst>
          </p:cNvPr>
          <p:cNvSpPr/>
          <p:nvPr/>
        </p:nvSpPr>
        <p:spPr>
          <a:xfrm>
            <a:off x="3364992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032CF62D-18F6-9626-1CA7-0A05FD065650}"/>
              </a:ext>
            </a:extLst>
          </p:cNvPr>
          <p:cNvSpPr/>
          <p:nvPr/>
        </p:nvSpPr>
        <p:spPr>
          <a:xfrm>
            <a:off x="3364992" y="3154680"/>
            <a:ext cx="2743200" cy="3657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5AEB1AEA-2404-B7F1-5DD6-1694425B4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3264408"/>
            <a:ext cx="457200" cy="457200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C78E8275-FCBD-5B1A-D0D4-C14E1BF7D159}"/>
              </a:ext>
            </a:extLst>
          </p:cNvPr>
          <p:cNvSpPr/>
          <p:nvPr/>
        </p:nvSpPr>
        <p:spPr>
          <a:xfrm>
            <a:off x="4023360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Roboto" panose="02000000000000000000" pitchFamily="2" charset="0"/>
              </a:rPr>
              <a:t>Learning Agent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570A4C73-FF82-2C87-8B8D-8C3261FE3E08}"/>
              </a:ext>
            </a:extLst>
          </p:cNvPr>
          <p:cNvSpPr/>
          <p:nvPr/>
        </p:nvSpPr>
        <p:spPr>
          <a:xfrm>
            <a:off x="347472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Improves over time. Gets smarter with every task it completes.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3F954C8B-E8B1-B1E3-8CAB-6755DB28BCED}"/>
              </a:ext>
            </a:extLst>
          </p:cNvPr>
          <p:cNvSpPr/>
          <p:nvPr/>
        </p:nvSpPr>
        <p:spPr>
          <a:xfrm>
            <a:off x="6272784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951AF2F0-1523-5714-6AEB-4E4868224390}"/>
              </a:ext>
            </a:extLst>
          </p:cNvPr>
          <p:cNvSpPr/>
          <p:nvPr/>
        </p:nvSpPr>
        <p:spPr>
          <a:xfrm>
            <a:off x="6272784" y="3154680"/>
            <a:ext cx="2743200" cy="3657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E431CD07-583C-41E4-88C9-007B17CF78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264408"/>
            <a:ext cx="457200" cy="457200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1ED995C1-A322-23EA-7EE2-2005D9946F52}"/>
              </a:ext>
            </a:extLst>
          </p:cNvPr>
          <p:cNvSpPr/>
          <p:nvPr/>
        </p:nvSpPr>
        <p:spPr>
          <a:xfrm>
            <a:off x="6931152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Roboto" panose="02000000000000000000" pitchFamily="2" charset="0"/>
              </a:rPr>
              <a:t>Multi-Agent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3808410B-CB75-223B-462C-97DE9A1D0B99}"/>
              </a:ext>
            </a:extLst>
          </p:cNvPr>
          <p:cNvSpPr/>
          <p:nvPr/>
        </p:nvSpPr>
        <p:spPr>
          <a:xfrm>
            <a:off x="6382512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Multiple agents working together as a team to solve complex problems.</a:t>
            </a:r>
            <a:endParaRPr lang="en-US" sz="11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16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COMPONENTS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Components of an AI Agent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286000" cy="228600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745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Roboto" panose="02000000000000000000" pitchFamily="2" charset="0"/>
              </a:rPr>
              <a:t>AI</a:t>
            </a:r>
            <a:endParaRPr lang="en-US" sz="12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Roboto" panose="02000000000000000000" pitchFamily="2" charset="0"/>
              </a:rPr>
              <a:t>AGENT</a:t>
            </a:r>
            <a:endParaRPr lang="en-US" sz="1200" dirty="0">
              <a:latin typeface="Roboto" panose="02000000000000000000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41E9E7-8C0F-DEDA-95E9-B8554CBA1C40}"/>
              </a:ext>
            </a:extLst>
          </p:cNvPr>
          <p:cNvGrpSpPr/>
          <p:nvPr/>
        </p:nvGrpSpPr>
        <p:grpSpPr>
          <a:xfrm>
            <a:off x="1097280" y="1371600"/>
            <a:ext cx="1828800" cy="777240"/>
            <a:chOff x="274320" y="1371600"/>
            <a:chExt cx="1828800" cy="777240"/>
          </a:xfrm>
        </p:grpSpPr>
        <p:sp>
          <p:nvSpPr>
            <p:cNvPr id="8" name="Shape 5"/>
            <p:cNvSpPr/>
            <p:nvPr/>
          </p:nvSpPr>
          <p:spPr>
            <a:xfrm>
              <a:off x="274320" y="1371600"/>
              <a:ext cx="1828800" cy="777240"/>
            </a:xfrm>
            <a:prstGeom prst="rect">
              <a:avLst/>
            </a:prstGeom>
            <a:solidFill>
              <a:srgbClr val="152A4E">
                <a:alpha val="41000"/>
              </a:srgbClr>
            </a:solidFill>
            <a:ln w="6350">
              <a:noFill/>
              <a:prstDash val="solid"/>
            </a:ln>
            <a:effectLst>
              <a:outerShdw blurRad="1524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760" y="1536192"/>
              <a:ext cx="365760" cy="36576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77240" y="144475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Roboto" panose="02000000000000000000" pitchFamily="2" charset="0"/>
                </a:rPr>
                <a:t>LLM Brain</a:t>
              </a:r>
              <a:endParaRPr lang="en-US" sz="1200" dirty="0">
                <a:latin typeface="Roboto" panose="02000000000000000000" pitchFamily="2" charset="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777240" y="1792224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Roboto" panose="02000000000000000000" pitchFamily="2" charset="0"/>
                </a:rPr>
                <a:t>Thinks &amp; reasons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DEC3F3-A6F6-BA92-D7ED-65BEE926EBAD}"/>
              </a:ext>
            </a:extLst>
          </p:cNvPr>
          <p:cNvGrpSpPr/>
          <p:nvPr/>
        </p:nvGrpSpPr>
        <p:grpSpPr>
          <a:xfrm>
            <a:off x="1097280" y="3162417"/>
            <a:ext cx="1828800" cy="777240"/>
            <a:chOff x="274320" y="3108960"/>
            <a:chExt cx="1828800" cy="777240"/>
          </a:xfrm>
        </p:grpSpPr>
        <p:sp>
          <p:nvSpPr>
            <p:cNvPr id="12" name="Shape 8"/>
            <p:cNvSpPr/>
            <p:nvPr/>
          </p:nvSpPr>
          <p:spPr>
            <a:xfrm>
              <a:off x="274320" y="3108960"/>
              <a:ext cx="1828800" cy="777240"/>
            </a:xfrm>
            <a:prstGeom prst="rect">
              <a:avLst/>
            </a:prstGeom>
            <a:solidFill>
              <a:srgbClr val="152A4E">
                <a:alpha val="41000"/>
              </a:srgbClr>
            </a:solidFill>
            <a:ln w="6350">
              <a:noFill/>
              <a:prstDash val="solid"/>
            </a:ln>
            <a:effectLst>
              <a:outerShdw blurRad="1524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760" y="3273552"/>
              <a:ext cx="365760" cy="365760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777240" y="318211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B4D8"/>
                  </a:solidFill>
                  <a:latin typeface="Roboto" panose="02000000000000000000" pitchFamily="2" charset="0"/>
                </a:rPr>
                <a:t>Perception</a:t>
              </a:r>
              <a:endParaRPr lang="en-US" sz="1200" dirty="0">
                <a:latin typeface="Roboto" panose="02000000000000000000" pitchFamily="2" charset="0"/>
              </a:endParaRPr>
            </a:p>
          </p:txBody>
        </p:sp>
        <p:sp>
          <p:nvSpPr>
            <p:cNvPr id="15" name="Text 10"/>
            <p:cNvSpPr/>
            <p:nvPr/>
          </p:nvSpPr>
          <p:spPr>
            <a:xfrm>
              <a:off x="777240" y="3529584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Roboto" panose="02000000000000000000" pitchFamily="2" charset="0"/>
                </a:rPr>
                <a:t>Reads environment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340C11-58E9-583D-725C-48EA7527FE4E}"/>
              </a:ext>
            </a:extLst>
          </p:cNvPr>
          <p:cNvGrpSpPr/>
          <p:nvPr/>
        </p:nvGrpSpPr>
        <p:grpSpPr>
          <a:xfrm>
            <a:off x="6217922" y="1298448"/>
            <a:ext cx="1828800" cy="777240"/>
            <a:chOff x="7132320" y="1371600"/>
            <a:chExt cx="1828800" cy="777240"/>
          </a:xfrm>
        </p:grpSpPr>
        <p:sp>
          <p:nvSpPr>
            <p:cNvPr id="16" name="Shape 11"/>
            <p:cNvSpPr/>
            <p:nvPr/>
          </p:nvSpPr>
          <p:spPr>
            <a:xfrm>
              <a:off x="7132320" y="1371600"/>
              <a:ext cx="1828800" cy="777240"/>
            </a:xfrm>
            <a:prstGeom prst="rect">
              <a:avLst/>
            </a:prstGeom>
            <a:solidFill>
              <a:srgbClr val="152A4E">
                <a:alpha val="41000"/>
              </a:srgbClr>
            </a:solidFill>
            <a:ln w="6350">
              <a:noFill/>
              <a:prstDash val="solid"/>
            </a:ln>
            <a:effectLst>
              <a:outerShdw blurRad="1524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23760" y="1536192"/>
              <a:ext cx="365760" cy="365760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7635240" y="144475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D166"/>
                  </a:solidFill>
                  <a:latin typeface="Roboto" panose="02000000000000000000" pitchFamily="2" charset="0"/>
                </a:rPr>
                <a:t>Memory</a:t>
              </a:r>
              <a:endParaRPr lang="en-US" sz="1200" dirty="0">
                <a:latin typeface="Roboto" panose="02000000000000000000" pitchFamily="2" charset="0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7635240" y="1792224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Roboto" panose="02000000000000000000" pitchFamily="2" charset="0"/>
                </a:rPr>
                <a:t>Stores knowledge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D66145-0AD2-F6E8-A6B4-722BE1D84A12}"/>
              </a:ext>
            </a:extLst>
          </p:cNvPr>
          <p:cNvGrpSpPr/>
          <p:nvPr/>
        </p:nvGrpSpPr>
        <p:grpSpPr>
          <a:xfrm>
            <a:off x="6217920" y="3067813"/>
            <a:ext cx="1828800" cy="777240"/>
            <a:chOff x="7132320" y="3108960"/>
            <a:chExt cx="1828800" cy="777240"/>
          </a:xfrm>
        </p:grpSpPr>
        <p:sp>
          <p:nvSpPr>
            <p:cNvPr id="20" name="Shape 14"/>
            <p:cNvSpPr/>
            <p:nvPr/>
          </p:nvSpPr>
          <p:spPr>
            <a:xfrm>
              <a:off x="7132320" y="3108960"/>
              <a:ext cx="1828800" cy="777240"/>
            </a:xfrm>
            <a:prstGeom prst="rect">
              <a:avLst/>
            </a:prstGeom>
            <a:solidFill>
              <a:srgbClr val="152A4E">
                <a:alpha val="41000"/>
              </a:srgbClr>
            </a:solidFill>
            <a:ln w="6350">
              <a:noFill/>
              <a:prstDash val="solid"/>
            </a:ln>
            <a:effectLst>
              <a:outerShdw blurRad="1524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pic>
          <p:nvPicPr>
            <p:cNvPr id="2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23760" y="3273552"/>
              <a:ext cx="365760" cy="365760"/>
            </a:xfrm>
            <a:prstGeom prst="rect">
              <a:avLst/>
            </a:prstGeom>
          </p:spPr>
        </p:pic>
        <p:sp>
          <p:nvSpPr>
            <p:cNvPr id="22" name="Text 15"/>
            <p:cNvSpPr/>
            <p:nvPr/>
          </p:nvSpPr>
          <p:spPr>
            <a:xfrm>
              <a:off x="7635240" y="318211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C896"/>
                  </a:solidFill>
                  <a:latin typeface="Roboto" panose="02000000000000000000" pitchFamily="2" charset="0"/>
                </a:rPr>
                <a:t>Tools</a:t>
              </a:r>
              <a:endParaRPr lang="en-US" sz="1200" dirty="0">
                <a:latin typeface="Roboto" panose="02000000000000000000" pitchFamily="2" charset="0"/>
              </a:endParaRPr>
            </a:p>
          </p:txBody>
        </p:sp>
        <p:sp>
          <p:nvSpPr>
            <p:cNvPr id="23" name="Text 16"/>
            <p:cNvSpPr/>
            <p:nvPr/>
          </p:nvSpPr>
          <p:spPr>
            <a:xfrm>
              <a:off x="7635240" y="3529584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Roboto" panose="02000000000000000000" pitchFamily="2" charset="0"/>
                </a:rPr>
                <a:t>Takes actions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D02DB12-4B4F-EE51-88DF-CCB6204E1639}"/>
              </a:ext>
            </a:extLst>
          </p:cNvPr>
          <p:cNvGrpSpPr/>
          <p:nvPr/>
        </p:nvGrpSpPr>
        <p:grpSpPr>
          <a:xfrm>
            <a:off x="3657600" y="4193352"/>
            <a:ext cx="1828800" cy="671029"/>
            <a:chOff x="3566160" y="4413035"/>
            <a:chExt cx="1828800" cy="671029"/>
          </a:xfrm>
        </p:grpSpPr>
        <p:sp>
          <p:nvSpPr>
            <p:cNvPr id="24" name="Shape 17"/>
            <p:cNvSpPr/>
            <p:nvPr/>
          </p:nvSpPr>
          <p:spPr>
            <a:xfrm>
              <a:off x="3566160" y="4413035"/>
              <a:ext cx="1828800" cy="647114"/>
            </a:xfrm>
            <a:prstGeom prst="rect">
              <a:avLst/>
            </a:prstGeom>
            <a:solidFill>
              <a:srgbClr val="152A4E">
                <a:alpha val="41000"/>
              </a:srgbClr>
            </a:solidFill>
            <a:ln w="6350">
              <a:noFill/>
              <a:prstDash val="solid"/>
            </a:ln>
            <a:effectLst>
              <a:outerShdw blurRad="152400" dist="50800" dir="81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57600" y="4553712"/>
              <a:ext cx="365760" cy="365760"/>
            </a:xfrm>
            <a:prstGeom prst="rect">
              <a:avLst/>
            </a:prstGeom>
          </p:spPr>
        </p:pic>
        <p:sp>
          <p:nvSpPr>
            <p:cNvPr id="26" name="Text 18"/>
            <p:cNvSpPr/>
            <p:nvPr/>
          </p:nvSpPr>
          <p:spPr>
            <a:xfrm>
              <a:off x="4069080" y="446227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6B35"/>
                  </a:solidFill>
                  <a:latin typeface="Roboto" panose="02000000000000000000" pitchFamily="2" charset="0"/>
                </a:rPr>
                <a:t>Planning</a:t>
              </a:r>
              <a:endParaRPr lang="en-US" sz="1200" dirty="0">
                <a:latin typeface="Roboto" panose="02000000000000000000" pitchFamily="2" charset="0"/>
              </a:endParaRPr>
            </a:p>
          </p:txBody>
        </p:sp>
        <p:sp>
          <p:nvSpPr>
            <p:cNvPr id="27" name="Text 19"/>
            <p:cNvSpPr/>
            <p:nvPr/>
          </p:nvSpPr>
          <p:spPr>
            <a:xfrm>
              <a:off x="4069080" y="4809744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Roboto" panose="02000000000000000000" pitchFamily="2" charset="0"/>
                </a:rPr>
                <a:t>Breaks into steps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967F7FA-369A-A86D-DE57-44069C64D1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593" t="3891" r="18334"/>
          <a:stretch>
            <a:fillRect/>
          </a:stretch>
        </p:blipFill>
        <p:spPr>
          <a:xfrm>
            <a:off x="3357720" y="1444752"/>
            <a:ext cx="2520000" cy="252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A29E6-500A-83CE-7BA6-AAB32009F4E2}"/>
              </a:ext>
            </a:extLst>
          </p:cNvPr>
          <p:cNvSpPr txBox="1"/>
          <p:nvPr/>
        </p:nvSpPr>
        <p:spPr>
          <a:xfrm>
            <a:off x="73818" y="81185"/>
            <a:ext cx="7679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1400" b="1" i="0" cap="all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Rise of Autonomous AI Agents: </a:t>
            </a:r>
            <a:r>
              <a:rPr lang="en-IN" sz="1400" b="0" i="0" cap="all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Chatbots to End-to-End Workflows</a:t>
            </a:r>
            <a:endParaRPr lang="en-IN" sz="1400" cap="all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BFC458-D249-1537-36AC-F1158D53D6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918" y="620248"/>
            <a:ext cx="2981325" cy="4442067"/>
          </a:xfrm>
          <a:prstGeom prst="rect">
            <a:avLst/>
          </a:prstGeom>
          <a:solidFill>
            <a:srgbClr val="1E3660">
              <a:alpha val="3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7CBA918-F3E1-53AF-8873-B1848719EB92}"/>
              </a:ext>
            </a:extLst>
          </p:cNvPr>
          <p:cNvSpPr txBox="1"/>
          <p:nvPr/>
        </p:nvSpPr>
        <p:spPr>
          <a:xfrm>
            <a:off x="233504" y="733444"/>
            <a:ext cx="2243710" cy="169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20"/>
              </a:lnSpc>
            </a:pPr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Barlow Bold"/>
              </a:rPr>
              <a:t>CORE CAPABILITIES OF AI AGENTS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17BDE91E-4A7A-6577-AF6C-2DA463F715B2}"/>
              </a:ext>
            </a:extLst>
          </p:cNvPr>
          <p:cNvSpPr/>
          <p:nvPr/>
        </p:nvSpPr>
        <p:spPr>
          <a:xfrm>
            <a:off x="178640" y="1226047"/>
            <a:ext cx="768096" cy="627888"/>
          </a:xfrm>
          <a:custGeom>
            <a:avLst/>
            <a:gdLst/>
            <a:ahLst/>
            <a:cxnLst/>
            <a:rect l="l" t="t" r="r" b="b"/>
            <a:pathLst>
              <a:path w="1200150" h="981075">
                <a:moveTo>
                  <a:pt x="0" y="0"/>
                </a:moveTo>
                <a:lnTo>
                  <a:pt x="1200150" y="0"/>
                </a:lnTo>
                <a:lnTo>
                  <a:pt x="120015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5557F82-CFEC-C69C-223B-96AD34E6EAC1}"/>
              </a:ext>
            </a:extLst>
          </p:cNvPr>
          <p:cNvSpPr txBox="1"/>
          <p:nvPr/>
        </p:nvSpPr>
        <p:spPr>
          <a:xfrm>
            <a:off x="1091874" y="1238785"/>
            <a:ext cx="1545336" cy="1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6"/>
              </a:lnSpc>
            </a:pPr>
            <a:r>
              <a:rPr lang="en-US" sz="1042" b="1" dirty="0">
                <a:solidFill>
                  <a:schemeClr val="bg1"/>
                </a:solidFill>
                <a:latin typeface="Aptos Display" panose="020B0004020202020204" pitchFamily="34" charset="0"/>
                <a:ea typeface="Barlow Bold"/>
                <a:cs typeface="Barlow Bold"/>
                <a:sym typeface="Barlow Bold"/>
              </a:rPr>
              <a:t>REASONING &amp; PLANNING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4102047-A27E-563C-1853-0783E7430884}"/>
              </a:ext>
            </a:extLst>
          </p:cNvPr>
          <p:cNvSpPr txBox="1"/>
          <p:nvPr/>
        </p:nvSpPr>
        <p:spPr>
          <a:xfrm>
            <a:off x="1091874" y="1439402"/>
            <a:ext cx="200136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6"/>
              </a:lnSpc>
            </a:pPr>
            <a:r>
              <a: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Barlow Medium"/>
              </a:rPr>
              <a:t>Agents can break complex, high-level goals into smaller, logical tasks and decide the specific sequence of actions needed to achieve them.</a:t>
            </a:r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3163DA55-8291-AF42-4BC5-D6276DA012B4}"/>
              </a:ext>
            </a:extLst>
          </p:cNvPr>
          <p:cNvSpPr/>
          <p:nvPr/>
        </p:nvSpPr>
        <p:spPr>
          <a:xfrm>
            <a:off x="233504" y="2668894"/>
            <a:ext cx="658368" cy="627888"/>
          </a:xfrm>
          <a:custGeom>
            <a:avLst/>
            <a:gdLst/>
            <a:ahLst/>
            <a:cxnLst/>
            <a:rect l="l" t="t" r="r" b="b"/>
            <a:pathLst>
              <a:path w="1028700" h="981075">
                <a:moveTo>
                  <a:pt x="0" y="0"/>
                </a:moveTo>
                <a:lnTo>
                  <a:pt x="1028700" y="0"/>
                </a:lnTo>
                <a:lnTo>
                  <a:pt x="10287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E9F6DB58-934B-C802-2D20-85919623BC69}"/>
              </a:ext>
            </a:extLst>
          </p:cNvPr>
          <p:cNvSpPr txBox="1"/>
          <p:nvPr/>
        </p:nvSpPr>
        <p:spPr>
          <a:xfrm>
            <a:off x="1124711" y="2653492"/>
            <a:ext cx="1618489" cy="1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6"/>
              </a:lnSpc>
            </a:pPr>
            <a:r>
              <a:rPr lang="en-US" sz="1042" b="1" dirty="0">
                <a:solidFill>
                  <a:schemeClr val="bg1"/>
                </a:solidFill>
                <a:latin typeface="Aptos Display" panose="020B0004020202020204" pitchFamily="34" charset="0"/>
                <a:ea typeface="Barlow Bold"/>
                <a:cs typeface="Barlow Bold"/>
                <a:sym typeface="Barlow Bold"/>
              </a:rPr>
              <a:t>TOOL USE &amp; AUTOMATION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B40354E1-CE0D-C676-AC89-5D07B9D38450}"/>
              </a:ext>
            </a:extLst>
          </p:cNvPr>
          <p:cNvSpPr txBox="1"/>
          <p:nvPr/>
        </p:nvSpPr>
        <p:spPr>
          <a:xfrm>
            <a:off x="1124711" y="2872473"/>
            <a:ext cx="1856231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"/>
              </a:lnSpc>
            </a:pPr>
            <a:r>
              <a: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Barlow Medium"/>
              </a:rPr>
              <a:t>Modern agents go beyond text generation by calling APIs, searching the web, and interacting with software to execute tasks autonomously.</a:t>
            </a: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F3E39507-48FB-4C27-4A3E-C8D676B84D1F}"/>
              </a:ext>
            </a:extLst>
          </p:cNvPr>
          <p:cNvSpPr/>
          <p:nvPr/>
        </p:nvSpPr>
        <p:spPr>
          <a:xfrm>
            <a:off x="233504" y="4111741"/>
            <a:ext cx="658368" cy="627888"/>
          </a:xfrm>
          <a:custGeom>
            <a:avLst/>
            <a:gdLst/>
            <a:ahLst/>
            <a:cxnLst/>
            <a:rect l="l" t="t" r="r" b="b"/>
            <a:pathLst>
              <a:path w="1028700" h="981075">
                <a:moveTo>
                  <a:pt x="0" y="0"/>
                </a:moveTo>
                <a:lnTo>
                  <a:pt x="1028700" y="0"/>
                </a:lnTo>
                <a:lnTo>
                  <a:pt x="10287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AB232DD3-A33D-AB77-2172-9FAC1129DCB8}"/>
              </a:ext>
            </a:extLst>
          </p:cNvPr>
          <p:cNvSpPr txBox="1"/>
          <p:nvPr/>
        </p:nvSpPr>
        <p:spPr>
          <a:xfrm>
            <a:off x="1124710" y="4084442"/>
            <a:ext cx="1783080" cy="1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6"/>
              </a:lnSpc>
            </a:pPr>
            <a:r>
              <a:rPr lang="en-US" sz="1042" b="1" dirty="0">
                <a:solidFill>
                  <a:schemeClr val="bg1"/>
                </a:solidFill>
                <a:latin typeface="Aptos Display" panose="020B0004020202020204" pitchFamily="34" charset="0"/>
                <a:ea typeface="Barlow Bold"/>
                <a:cs typeface="Barlow Bold"/>
                <a:sym typeface="Barlow Bold"/>
              </a:rPr>
              <a:t>MEMORY &amp; COLLABORATION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BBBD120B-0AE8-62BF-BB4C-EEC3F790F172}"/>
              </a:ext>
            </a:extLst>
          </p:cNvPr>
          <p:cNvSpPr txBox="1"/>
          <p:nvPr/>
        </p:nvSpPr>
        <p:spPr>
          <a:xfrm>
            <a:off x="1124710" y="4342881"/>
            <a:ext cx="1856231" cy="41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6"/>
              </a:lnSpc>
            </a:pPr>
            <a:r>
              <a: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Barlow Medium"/>
              </a:rPr>
              <a:t>Agents maintain context over time and can work alongside other specialized agents to tackle multifaceted business challenges.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5885CB23-87CF-41EF-FCAA-E931096BA159}"/>
              </a:ext>
            </a:extLst>
          </p:cNvPr>
          <p:cNvSpPr txBox="1"/>
          <p:nvPr/>
        </p:nvSpPr>
        <p:spPr>
          <a:xfrm>
            <a:off x="3334604" y="736309"/>
            <a:ext cx="3552063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20"/>
              </a:lnSpc>
            </a:pPr>
            <a:r>
              <a:rPr lang="en-US" sz="1291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Barlow Bold"/>
              </a:rPr>
              <a:t>INDUSTRY DEPLOYMENT &amp; USE CASES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BDA4DF2-5332-1A77-5EAB-A6A28D6138CC}"/>
              </a:ext>
            </a:extLst>
          </p:cNvPr>
          <p:cNvGrpSpPr/>
          <p:nvPr/>
        </p:nvGrpSpPr>
        <p:grpSpPr>
          <a:xfrm>
            <a:off x="3334604" y="1028539"/>
            <a:ext cx="5574912" cy="1701282"/>
            <a:chOff x="3457170" y="740303"/>
            <a:chExt cx="5574912" cy="1701282"/>
          </a:xfrm>
        </p:grpSpPr>
        <p:sp>
          <p:nvSpPr>
            <p:cNvPr id="36" name="TextBox 20">
              <a:extLst>
                <a:ext uri="{FF2B5EF4-FFF2-40B4-BE49-F238E27FC236}">
                  <a16:creationId xmlns:a16="http://schemas.microsoft.com/office/drawing/2014/main" id="{192966BA-AC1A-E5BE-35E3-031285842D5D}"/>
                </a:ext>
              </a:extLst>
            </p:cNvPr>
            <p:cNvSpPr txBox="1"/>
            <p:nvPr/>
          </p:nvSpPr>
          <p:spPr>
            <a:xfrm>
              <a:off x="3457170" y="1458607"/>
              <a:ext cx="1033149" cy="39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60"/>
                </a:lnSpc>
              </a:pPr>
              <a:r>
                <a:rPr lang="en-US" sz="86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Bold"/>
                </a:rPr>
                <a:t>CUSTOMER SUPPORT &amp; SALES</a:t>
              </a:r>
            </a:p>
          </p:txBody>
        </p:sp>
        <p:sp>
          <p:nvSpPr>
            <p:cNvPr id="37" name="TextBox 21">
              <a:extLst>
                <a:ext uri="{FF2B5EF4-FFF2-40B4-BE49-F238E27FC236}">
                  <a16:creationId xmlns:a16="http://schemas.microsoft.com/office/drawing/2014/main" id="{3698211C-42F0-9021-842E-E2B625EC780F}"/>
                </a:ext>
              </a:extLst>
            </p:cNvPr>
            <p:cNvSpPr txBox="1"/>
            <p:nvPr/>
          </p:nvSpPr>
          <p:spPr>
            <a:xfrm>
              <a:off x="3457170" y="1766085"/>
              <a:ext cx="1186587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8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Medium"/>
                </a:rPr>
                <a:t>Agents autonomously resolve issues, process refunds, qualify leads, and manage CRM updates and personalized outreach.</a:t>
              </a: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22F71FF8-642C-F3E4-D6E7-EC0882126108}"/>
                </a:ext>
              </a:extLst>
            </p:cNvPr>
            <p:cNvSpPr/>
            <p:nvPr/>
          </p:nvSpPr>
          <p:spPr>
            <a:xfrm>
              <a:off x="4729001" y="778792"/>
              <a:ext cx="129570" cy="1662793"/>
            </a:xfrm>
            <a:custGeom>
              <a:avLst/>
              <a:gdLst/>
              <a:ahLst/>
              <a:cxnLst/>
              <a:rect l="l" t="t" r="r" b="b"/>
              <a:pathLst>
                <a:path w="180975" h="2276475">
                  <a:moveTo>
                    <a:pt x="0" y="0"/>
                  </a:moveTo>
                  <a:lnTo>
                    <a:pt x="180975" y="0"/>
                  </a:lnTo>
                  <a:lnTo>
                    <a:pt x="180975" y="2276475"/>
                  </a:lnTo>
                  <a:lnTo>
                    <a:pt x="0" y="227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809B8DAE-9ABC-316D-ACD4-8A784F87C3AB}"/>
                </a:ext>
              </a:extLst>
            </p:cNvPr>
            <p:cNvSpPr txBox="1"/>
            <p:nvPr/>
          </p:nvSpPr>
          <p:spPr>
            <a:xfrm>
              <a:off x="4930174" y="1450991"/>
              <a:ext cx="1084295" cy="263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05"/>
                </a:lnSpc>
              </a:pPr>
              <a:r>
                <a:rPr lang="en-US" sz="905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Bold"/>
                </a:rPr>
                <a:t>FINANCE, TRADING &amp; LEGAL</a:t>
              </a:r>
            </a:p>
          </p:txBody>
        </p:sp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ED538B00-2792-C95C-1D34-B38FE6AE5F52}"/>
                </a:ext>
              </a:extLst>
            </p:cNvPr>
            <p:cNvSpPr txBox="1"/>
            <p:nvPr/>
          </p:nvSpPr>
          <p:spPr>
            <a:xfrm>
              <a:off x="4930174" y="1792892"/>
              <a:ext cx="1237733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42"/>
                </a:lnSpc>
              </a:pPr>
              <a:r>
                <a:rPr lang="en-US" sz="8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Medium"/>
                </a:rPr>
                <a:t>AI systems handle portfolio management, fraud detection, contract reviews, and compliance monitoring with high precision.</a:t>
              </a:r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A2250BAA-DEB6-1BBB-DA97-66232ACEDDC3}"/>
                </a:ext>
              </a:extLst>
            </p:cNvPr>
            <p:cNvSpPr/>
            <p:nvPr/>
          </p:nvSpPr>
          <p:spPr>
            <a:xfrm>
              <a:off x="6188365" y="778792"/>
              <a:ext cx="129570" cy="1662793"/>
            </a:xfrm>
            <a:custGeom>
              <a:avLst/>
              <a:gdLst/>
              <a:ahLst/>
              <a:cxnLst/>
              <a:rect l="l" t="t" r="r" b="b"/>
              <a:pathLst>
                <a:path w="180975" h="2276475">
                  <a:moveTo>
                    <a:pt x="0" y="0"/>
                  </a:moveTo>
                  <a:lnTo>
                    <a:pt x="180975" y="0"/>
                  </a:lnTo>
                  <a:lnTo>
                    <a:pt x="180975" y="2276475"/>
                  </a:lnTo>
                  <a:lnTo>
                    <a:pt x="0" y="227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44" name="TextBox 28">
              <a:extLst>
                <a:ext uri="{FF2B5EF4-FFF2-40B4-BE49-F238E27FC236}">
                  <a16:creationId xmlns:a16="http://schemas.microsoft.com/office/drawing/2014/main" id="{E105CD9F-3911-5E1E-9C83-761D634B79A1}"/>
                </a:ext>
              </a:extLst>
            </p:cNvPr>
            <p:cNvSpPr txBox="1"/>
            <p:nvPr/>
          </p:nvSpPr>
          <p:spPr>
            <a:xfrm>
              <a:off x="6403179" y="1458607"/>
              <a:ext cx="1186587" cy="39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60"/>
                </a:lnSpc>
              </a:pPr>
              <a:r>
                <a:rPr lang="en-US" sz="86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Bold"/>
                </a:rPr>
                <a:t>CODING &amp; SOFTWARE OPERATIONS</a:t>
              </a:r>
            </a:p>
          </p:txBody>
        </p:sp>
        <p:sp>
          <p:nvSpPr>
            <p:cNvPr id="45" name="TextBox 29">
              <a:extLst>
                <a:ext uri="{FF2B5EF4-FFF2-40B4-BE49-F238E27FC236}">
                  <a16:creationId xmlns:a16="http://schemas.microsoft.com/office/drawing/2014/main" id="{0A465A8E-1C41-798F-B442-C030EEF74D73}"/>
                </a:ext>
              </a:extLst>
            </p:cNvPr>
            <p:cNvSpPr txBox="1"/>
            <p:nvPr/>
          </p:nvSpPr>
          <p:spPr>
            <a:xfrm>
              <a:off x="6403179" y="1766085"/>
              <a:ext cx="1084295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8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Medium"/>
                </a:rPr>
                <a:t>Beyond code generation, agents fix bugs, review pull requests, automate deployments, and optimize cloud costs.</a:t>
              </a:r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21E11C34-82D0-FDCE-2C8E-311BD69D6356}"/>
                </a:ext>
              </a:extLst>
            </p:cNvPr>
            <p:cNvSpPr/>
            <p:nvPr/>
          </p:nvSpPr>
          <p:spPr>
            <a:xfrm>
              <a:off x="7654550" y="778792"/>
              <a:ext cx="122750" cy="1662793"/>
            </a:xfrm>
            <a:custGeom>
              <a:avLst/>
              <a:gdLst/>
              <a:ahLst/>
              <a:cxnLst/>
              <a:rect l="l" t="t" r="r" b="b"/>
              <a:pathLst>
                <a:path w="171450" h="2276475">
                  <a:moveTo>
                    <a:pt x="0" y="0"/>
                  </a:moveTo>
                  <a:lnTo>
                    <a:pt x="171450" y="0"/>
                  </a:lnTo>
                  <a:lnTo>
                    <a:pt x="171450" y="2276475"/>
                  </a:lnTo>
                  <a:lnTo>
                    <a:pt x="0" y="227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48" name="TextBox 32">
              <a:extLst>
                <a:ext uri="{FF2B5EF4-FFF2-40B4-BE49-F238E27FC236}">
                  <a16:creationId xmlns:a16="http://schemas.microsoft.com/office/drawing/2014/main" id="{94830591-540E-E098-361B-C44B6582D798}"/>
                </a:ext>
              </a:extLst>
            </p:cNvPr>
            <p:cNvSpPr txBox="1"/>
            <p:nvPr/>
          </p:nvSpPr>
          <p:spPr>
            <a:xfrm>
              <a:off x="7876183" y="1458607"/>
              <a:ext cx="961544" cy="526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60"/>
                </a:lnSpc>
              </a:pPr>
              <a:r>
                <a:rPr lang="en-US" sz="86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Bold"/>
                </a:rPr>
                <a:t>SUPPLY CHAIN &amp; MANUFACTURING</a:t>
              </a:r>
            </a:p>
          </p:txBody>
        </p:sp>
        <p:sp>
          <p:nvSpPr>
            <p:cNvPr id="49" name="TextBox 33">
              <a:extLst>
                <a:ext uri="{FF2B5EF4-FFF2-40B4-BE49-F238E27FC236}">
                  <a16:creationId xmlns:a16="http://schemas.microsoft.com/office/drawing/2014/main" id="{F49C8987-8853-0117-5676-2D178F2B1BEB}"/>
                </a:ext>
              </a:extLst>
            </p:cNvPr>
            <p:cNvSpPr txBox="1"/>
            <p:nvPr/>
          </p:nvSpPr>
          <p:spPr>
            <a:xfrm>
              <a:off x="7876183" y="1766085"/>
              <a:ext cx="1155899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8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Medium"/>
                </a:rPr>
                <a:t>Agents facilitate predictive maintenance, route optimization, and inventory coordination to streamline global logistics.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EBBC19-F4AE-DCA9-31C3-3EF68283A12A}"/>
                </a:ext>
              </a:extLst>
            </p:cNvPr>
            <p:cNvGrpSpPr/>
            <p:nvPr/>
          </p:nvGrpSpPr>
          <p:grpSpPr>
            <a:xfrm>
              <a:off x="3540787" y="778792"/>
              <a:ext cx="852433" cy="641278"/>
              <a:chOff x="3550133" y="2791980"/>
              <a:chExt cx="926546" cy="725032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8B0630D-83F8-3B57-3F92-08553074EBFA}"/>
                  </a:ext>
                </a:extLst>
              </p:cNvPr>
              <p:cNvSpPr/>
              <p:nvPr/>
            </p:nvSpPr>
            <p:spPr>
              <a:xfrm>
                <a:off x="3550133" y="2791980"/>
                <a:ext cx="726899" cy="725032"/>
              </a:xfrm>
              <a:prstGeom prst="ellipse">
                <a:avLst/>
              </a:prstGeom>
              <a:solidFill>
                <a:srgbClr val="A8A3C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Freeform 19">
                <a:extLst>
                  <a:ext uri="{FF2B5EF4-FFF2-40B4-BE49-F238E27FC236}">
                    <a16:creationId xmlns:a16="http://schemas.microsoft.com/office/drawing/2014/main" id="{270B3585-708C-1A1B-7338-C633E2D4785B}"/>
                  </a:ext>
                </a:extLst>
              </p:cNvPr>
              <p:cNvSpPr/>
              <p:nvPr/>
            </p:nvSpPr>
            <p:spPr>
              <a:xfrm>
                <a:off x="3624246" y="2791980"/>
                <a:ext cx="852433" cy="598327"/>
              </a:xfrm>
              <a:custGeom>
                <a:avLst/>
                <a:gdLst/>
                <a:ahLst/>
                <a:cxnLst/>
                <a:rect l="l" t="t" r="r" b="b"/>
                <a:pathLst>
                  <a:path w="1190625" h="819150">
                    <a:moveTo>
                      <a:pt x="0" y="0"/>
                    </a:moveTo>
                    <a:lnTo>
                      <a:pt x="1190625" y="0"/>
                    </a:lnTo>
                    <a:lnTo>
                      <a:pt x="1190625" y="819150"/>
                    </a:lnTo>
                    <a:lnTo>
                      <a:pt x="0" y="8191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E0DCC01-9F3F-0C05-996C-4E6DA8FAB76A}"/>
                </a:ext>
              </a:extLst>
            </p:cNvPr>
            <p:cNvGrpSpPr/>
            <p:nvPr/>
          </p:nvGrpSpPr>
          <p:grpSpPr>
            <a:xfrm>
              <a:off x="5098285" y="773494"/>
              <a:ext cx="668755" cy="641278"/>
              <a:chOff x="3875164" y="3404052"/>
              <a:chExt cx="668755" cy="641278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7C9486D1-B5CC-DB90-F42C-31C248AF80BA}"/>
                  </a:ext>
                </a:extLst>
              </p:cNvPr>
              <p:cNvSpPr/>
              <p:nvPr/>
            </p:nvSpPr>
            <p:spPr>
              <a:xfrm>
                <a:off x="3875164" y="3404052"/>
                <a:ext cx="668755" cy="641278"/>
              </a:xfrm>
              <a:prstGeom prst="ellipse">
                <a:avLst/>
              </a:prstGeom>
              <a:solidFill>
                <a:srgbClr val="A8A3C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Freeform 23">
                <a:extLst>
                  <a:ext uri="{FF2B5EF4-FFF2-40B4-BE49-F238E27FC236}">
                    <a16:creationId xmlns:a16="http://schemas.microsoft.com/office/drawing/2014/main" id="{E725604B-EB08-AB20-4C20-9C6227CC1D37}"/>
                  </a:ext>
                </a:extLst>
              </p:cNvPr>
              <p:cNvSpPr/>
              <p:nvPr/>
            </p:nvSpPr>
            <p:spPr>
              <a:xfrm>
                <a:off x="3927758" y="3473597"/>
                <a:ext cx="491001" cy="480053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57225">
                    <a:moveTo>
                      <a:pt x="0" y="0"/>
                    </a:moveTo>
                    <a:lnTo>
                      <a:pt x="685800" y="0"/>
                    </a:lnTo>
                    <a:lnTo>
                      <a:pt x="685800" y="657225"/>
                    </a:lnTo>
                    <a:lnTo>
                      <a:pt x="0" y="6572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8572DF9-FC80-13C5-1852-0CDB699D1D04}"/>
                </a:ext>
              </a:extLst>
            </p:cNvPr>
            <p:cNvGrpSpPr/>
            <p:nvPr/>
          </p:nvGrpSpPr>
          <p:grpSpPr>
            <a:xfrm>
              <a:off x="6517405" y="762426"/>
              <a:ext cx="736502" cy="641278"/>
              <a:chOff x="5162640" y="3334507"/>
              <a:chExt cx="736502" cy="64127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ABC8A34-C20B-C9A3-6D03-2226680DE9C2}"/>
                  </a:ext>
                </a:extLst>
              </p:cNvPr>
              <p:cNvSpPr/>
              <p:nvPr/>
            </p:nvSpPr>
            <p:spPr>
              <a:xfrm>
                <a:off x="5180089" y="3334507"/>
                <a:ext cx="668755" cy="641278"/>
              </a:xfrm>
              <a:prstGeom prst="ellipse">
                <a:avLst/>
              </a:prstGeom>
              <a:solidFill>
                <a:srgbClr val="A8A3C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Freeform 27">
                <a:extLst>
                  <a:ext uri="{FF2B5EF4-FFF2-40B4-BE49-F238E27FC236}">
                    <a16:creationId xmlns:a16="http://schemas.microsoft.com/office/drawing/2014/main" id="{A1513F71-0FF1-94A3-F620-35A4D0E86A05}"/>
                  </a:ext>
                </a:extLst>
              </p:cNvPr>
              <p:cNvSpPr/>
              <p:nvPr/>
            </p:nvSpPr>
            <p:spPr>
              <a:xfrm>
                <a:off x="5162640" y="3347109"/>
                <a:ext cx="736502" cy="598327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819150">
                    <a:moveTo>
                      <a:pt x="0" y="0"/>
                    </a:moveTo>
                    <a:lnTo>
                      <a:pt x="1028700" y="0"/>
                    </a:lnTo>
                    <a:lnTo>
                      <a:pt x="1028700" y="819150"/>
                    </a:lnTo>
                    <a:lnTo>
                      <a:pt x="0" y="8191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</p:spPr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6B51212-A7FC-A2DD-72D9-62CA8C510090}"/>
                </a:ext>
              </a:extLst>
            </p:cNvPr>
            <p:cNvGrpSpPr/>
            <p:nvPr/>
          </p:nvGrpSpPr>
          <p:grpSpPr>
            <a:xfrm>
              <a:off x="7852656" y="740303"/>
              <a:ext cx="751169" cy="641278"/>
              <a:chOff x="6137354" y="3449554"/>
              <a:chExt cx="751169" cy="641278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603B983-9889-11BE-9DE5-1FAFB4825280}"/>
                  </a:ext>
                </a:extLst>
              </p:cNvPr>
              <p:cNvSpPr/>
              <p:nvPr/>
            </p:nvSpPr>
            <p:spPr>
              <a:xfrm>
                <a:off x="6219768" y="3449554"/>
                <a:ext cx="668755" cy="641278"/>
              </a:xfrm>
              <a:prstGeom prst="ellipse">
                <a:avLst/>
              </a:prstGeom>
              <a:solidFill>
                <a:srgbClr val="A8A3C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85EC8D4A-A650-C80F-3756-E6A51451DA2B}"/>
                  </a:ext>
                </a:extLst>
              </p:cNvPr>
              <p:cNvSpPr/>
              <p:nvPr/>
            </p:nvSpPr>
            <p:spPr>
              <a:xfrm>
                <a:off x="6137354" y="3495732"/>
                <a:ext cx="736502" cy="480053"/>
              </a:xfrm>
              <a:custGeom>
                <a:avLst/>
                <a:gdLst/>
                <a:ahLst/>
                <a:cxnLst/>
                <a:rect l="l" t="t" r="r" b="b"/>
                <a:pathLst>
                  <a:path w="1028700" h="657225">
                    <a:moveTo>
                      <a:pt x="0" y="0"/>
                    </a:moveTo>
                    <a:lnTo>
                      <a:pt x="1028700" y="0"/>
                    </a:lnTo>
                    <a:lnTo>
                      <a:pt x="1028700" y="657225"/>
                    </a:lnTo>
                    <a:lnTo>
                      <a:pt x="0" y="65722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030E585-B1FF-F312-28EC-030B00A4DB0C}"/>
              </a:ext>
            </a:extLst>
          </p:cNvPr>
          <p:cNvGrpSpPr/>
          <p:nvPr/>
        </p:nvGrpSpPr>
        <p:grpSpPr>
          <a:xfrm>
            <a:off x="3392171" y="3082164"/>
            <a:ext cx="4742128" cy="1319503"/>
            <a:chOff x="4783971" y="2433073"/>
            <a:chExt cx="3416727" cy="1178452"/>
          </a:xfrm>
        </p:grpSpPr>
        <p:sp>
          <p:nvSpPr>
            <p:cNvPr id="73" name="TextBox 43">
              <a:extLst>
                <a:ext uri="{FF2B5EF4-FFF2-40B4-BE49-F238E27FC236}">
                  <a16:creationId xmlns:a16="http://schemas.microsoft.com/office/drawing/2014/main" id="{3C096196-F93E-6693-79DD-DDB94DD60A73}"/>
                </a:ext>
              </a:extLst>
            </p:cNvPr>
            <p:cNvSpPr txBox="1"/>
            <p:nvPr/>
          </p:nvSpPr>
          <p:spPr>
            <a:xfrm>
              <a:off x="4818888" y="2433073"/>
              <a:ext cx="2715769" cy="141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46"/>
                </a:lnSpc>
              </a:pPr>
              <a:r>
                <a:rPr lang="en-US" sz="1042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Bold"/>
                </a:rPr>
                <a:t>PRIMARY AUTONOMOUS TASKS BY DOMAIN</a:t>
              </a:r>
            </a:p>
          </p:txBody>
        </p:sp>
        <p:sp>
          <p:nvSpPr>
            <p:cNvPr id="74" name="TextBox 47">
              <a:extLst>
                <a:ext uri="{FF2B5EF4-FFF2-40B4-BE49-F238E27FC236}">
                  <a16:creationId xmlns:a16="http://schemas.microsoft.com/office/drawing/2014/main" id="{E9EF1B9D-3390-6853-4B41-FB3878A634A9}"/>
                </a:ext>
              </a:extLst>
            </p:cNvPr>
            <p:cNvSpPr txBox="1"/>
            <p:nvPr/>
          </p:nvSpPr>
          <p:spPr>
            <a:xfrm>
              <a:off x="4818888" y="2896341"/>
              <a:ext cx="713236" cy="1030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96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HEALTHCARE</a:t>
              </a:r>
            </a:p>
          </p:txBody>
        </p:sp>
        <p:sp>
          <p:nvSpPr>
            <p:cNvPr id="75" name="TextBox 49">
              <a:extLst>
                <a:ext uri="{FF2B5EF4-FFF2-40B4-BE49-F238E27FC236}">
                  <a16:creationId xmlns:a16="http://schemas.microsoft.com/office/drawing/2014/main" id="{7CB28331-5EF4-B559-13E1-917EA9AFDEA6}"/>
                </a:ext>
              </a:extLst>
            </p:cNvPr>
            <p:cNvSpPr txBox="1"/>
            <p:nvPr/>
          </p:nvSpPr>
          <p:spPr>
            <a:xfrm>
              <a:off x="4818889" y="3093089"/>
              <a:ext cx="614481" cy="1030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24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EDUCATION</a:t>
              </a:r>
            </a:p>
          </p:txBody>
        </p:sp>
        <p:sp>
          <p:nvSpPr>
            <p:cNvPr id="76" name="TextBox 51">
              <a:extLst>
                <a:ext uri="{FF2B5EF4-FFF2-40B4-BE49-F238E27FC236}">
                  <a16:creationId xmlns:a16="http://schemas.microsoft.com/office/drawing/2014/main" id="{D638D315-EC34-A421-8AC8-3DF999D932D8}"/>
                </a:ext>
              </a:extLst>
            </p:cNvPr>
            <p:cNvSpPr txBox="1"/>
            <p:nvPr/>
          </p:nvSpPr>
          <p:spPr>
            <a:xfrm>
              <a:off x="4811274" y="2670058"/>
              <a:ext cx="581562" cy="1030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24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RESEARCH</a:t>
              </a:r>
            </a:p>
          </p:txBody>
        </p:sp>
        <p:sp>
          <p:nvSpPr>
            <p:cNvPr id="77" name="TextBox 52">
              <a:extLst>
                <a:ext uri="{FF2B5EF4-FFF2-40B4-BE49-F238E27FC236}">
                  <a16:creationId xmlns:a16="http://schemas.microsoft.com/office/drawing/2014/main" id="{00E6FF2B-A43D-FB46-6094-2D73120608E3}"/>
                </a:ext>
              </a:extLst>
            </p:cNvPr>
            <p:cNvSpPr txBox="1"/>
            <p:nvPr/>
          </p:nvSpPr>
          <p:spPr>
            <a:xfrm>
              <a:off x="5465455" y="2675160"/>
              <a:ext cx="2478024" cy="97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88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Literature reviews, market research, and competitive intelligence.</a:t>
              </a:r>
            </a:p>
          </p:txBody>
        </p:sp>
        <p:sp>
          <p:nvSpPr>
            <p:cNvPr id="78" name="TextBox 53">
              <a:extLst>
                <a:ext uri="{FF2B5EF4-FFF2-40B4-BE49-F238E27FC236}">
                  <a16:creationId xmlns:a16="http://schemas.microsoft.com/office/drawing/2014/main" id="{2932D8A4-CC69-E54F-6EBE-C446A4BE30C6}"/>
                </a:ext>
              </a:extLst>
            </p:cNvPr>
            <p:cNvSpPr txBox="1"/>
            <p:nvPr/>
          </p:nvSpPr>
          <p:spPr>
            <a:xfrm>
              <a:off x="5466642" y="2898358"/>
              <a:ext cx="2734056" cy="94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Clinical decision support, drug discovery, and medical imaging analysis.</a:t>
              </a:r>
            </a:p>
          </p:txBody>
        </p:sp>
        <p:sp>
          <p:nvSpPr>
            <p:cNvPr id="79" name="TextBox 54">
              <a:extLst>
                <a:ext uri="{FF2B5EF4-FFF2-40B4-BE49-F238E27FC236}">
                  <a16:creationId xmlns:a16="http://schemas.microsoft.com/office/drawing/2014/main" id="{78AEC57B-8713-57C6-FE29-F22985DE6739}"/>
                </a:ext>
              </a:extLst>
            </p:cNvPr>
            <p:cNvSpPr txBox="1"/>
            <p:nvPr/>
          </p:nvSpPr>
          <p:spPr>
            <a:xfrm>
              <a:off x="5465455" y="3085358"/>
              <a:ext cx="1956816" cy="94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Personalized tutoring, lesson planning, and grading.</a:t>
              </a:r>
            </a:p>
          </p:txBody>
        </p:sp>
        <p:sp>
          <p:nvSpPr>
            <p:cNvPr id="80" name="TextBox 55">
              <a:extLst>
                <a:ext uri="{FF2B5EF4-FFF2-40B4-BE49-F238E27FC236}">
                  <a16:creationId xmlns:a16="http://schemas.microsoft.com/office/drawing/2014/main" id="{F9FA37FC-A202-4157-BFDB-7DD334A14B54}"/>
                </a:ext>
              </a:extLst>
            </p:cNvPr>
            <p:cNvSpPr txBox="1"/>
            <p:nvPr/>
          </p:nvSpPr>
          <p:spPr>
            <a:xfrm>
              <a:off x="4797297" y="3311734"/>
              <a:ext cx="669345" cy="916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42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REAL ESTATE</a:t>
              </a:r>
            </a:p>
          </p:txBody>
        </p:sp>
        <p:sp>
          <p:nvSpPr>
            <p:cNvPr id="81" name="TextBox 56">
              <a:extLst>
                <a:ext uri="{FF2B5EF4-FFF2-40B4-BE49-F238E27FC236}">
                  <a16:creationId xmlns:a16="http://schemas.microsoft.com/office/drawing/2014/main" id="{79EB7A20-8C2B-F613-7031-810C8C083C87}"/>
                </a:ext>
              </a:extLst>
            </p:cNvPr>
            <p:cNvSpPr txBox="1"/>
            <p:nvPr/>
          </p:nvSpPr>
          <p:spPr>
            <a:xfrm>
              <a:off x="5476639" y="3304635"/>
              <a:ext cx="2331720" cy="94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9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Market analysis, property search, and document preparation.</a:t>
              </a:r>
            </a:p>
          </p:txBody>
        </p:sp>
        <p:sp>
          <p:nvSpPr>
            <p:cNvPr id="82" name="TextBox 57">
              <a:extLst>
                <a:ext uri="{FF2B5EF4-FFF2-40B4-BE49-F238E27FC236}">
                  <a16:creationId xmlns:a16="http://schemas.microsoft.com/office/drawing/2014/main" id="{A100DD68-B285-CDD0-B4AC-A65A2B5571FB}"/>
                </a:ext>
              </a:extLst>
            </p:cNvPr>
            <p:cNvSpPr txBox="1"/>
            <p:nvPr/>
          </p:nvSpPr>
          <p:spPr>
            <a:xfrm>
              <a:off x="4783971" y="3508447"/>
              <a:ext cx="866857" cy="1030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96"/>
                </a:lnSpc>
              </a:pPr>
              <a:r>
                <a:rPr lang="en-US" sz="8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CYBERSECURITY</a:t>
              </a:r>
            </a:p>
          </p:txBody>
        </p:sp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9DC56329-041B-9113-5F52-919276DF44FA}"/>
                </a:ext>
              </a:extLst>
            </p:cNvPr>
            <p:cNvSpPr txBox="1"/>
            <p:nvPr/>
          </p:nvSpPr>
          <p:spPr>
            <a:xfrm>
              <a:off x="5476639" y="3510951"/>
              <a:ext cx="2459736" cy="94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5"/>
                </a:lnSpc>
              </a:pPr>
              <a:r>
                <a:rPr lang="en-US" sz="9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Barlow Semi-Bold"/>
                </a:rPr>
                <a:t>Threat detection, log analysis, and automated incident response.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563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30">
            <a:extLst>
              <a:ext uri="{FF2B5EF4-FFF2-40B4-BE49-F238E27FC236}">
                <a16:creationId xmlns:a16="http://schemas.microsoft.com/office/drawing/2014/main" id="{9A25D628-3C55-DF8E-27EB-FB92A758B8A0}"/>
              </a:ext>
            </a:extLst>
          </p:cNvPr>
          <p:cNvSpPr/>
          <p:nvPr/>
        </p:nvSpPr>
        <p:spPr>
          <a:xfrm>
            <a:off x="5139570" y="1127083"/>
            <a:ext cx="4073913" cy="3964377"/>
          </a:xfrm>
          <a:custGeom>
            <a:avLst/>
            <a:gdLst/>
            <a:ahLst/>
            <a:cxnLst/>
            <a:rect l="l" t="t" r="r" b="b"/>
            <a:pathLst>
              <a:path w="6648450" h="4124325">
                <a:moveTo>
                  <a:pt x="0" y="0"/>
                </a:moveTo>
                <a:lnTo>
                  <a:pt x="6648450" y="0"/>
                </a:lnTo>
                <a:lnTo>
                  <a:pt x="6648450" y="4124325"/>
                </a:lnTo>
                <a:lnTo>
                  <a:pt x="0" y="4124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5" name="Freeform 7">
            <a:extLst>
              <a:ext uri="{FF2B5EF4-FFF2-40B4-BE49-F238E27FC236}">
                <a16:creationId xmlns:a16="http://schemas.microsoft.com/office/drawing/2014/main" id="{27AA142B-1BE6-AB44-DCF7-474529B9A664}"/>
              </a:ext>
            </a:extLst>
          </p:cNvPr>
          <p:cNvSpPr/>
          <p:nvPr/>
        </p:nvSpPr>
        <p:spPr>
          <a:xfrm>
            <a:off x="2624784" y="1127083"/>
            <a:ext cx="2590159" cy="3749717"/>
          </a:xfrm>
          <a:custGeom>
            <a:avLst/>
            <a:gdLst/>
            <a:ahLst/>
            <a:cxnLst/>
            <a:rect l="l" t="t" r="r" b="b"/>
            <a:pathLst>
              <a:path w="8924925" h="4124325">
                <a:moveTo>
                  <a:pt x="0" y="0"/>
                </a:moveTo>
                <a:lnTo>
                  <a:pt x="8924925" y="0"/>
                </a:lnTo>
                <a:lnTo>
                  <a:pt x="8924925" y="4124325"/>
                </a:lnTo>
                <a:lnTo>
                  <a:pt x="0" y="412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DA6C1172-1041-FBF6-7ECF-70F32C972F33}"/>
              </a:ext>
            </a:extLst>
          </p:cNvPr>
          <p:cNvSpPr txBox="1"/>
          <p:nvPr/>
        </p:nvSpPr>
        <p:spPr>
          <a:xfrm>
            <a:off x="150444" y="-12026"/>
            <a:ext cx="7851419" cy="644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22"/>
              </a:lnSpc>
            </a:pP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LLM: The </a:t>
            </a:r>
            <a:r>
              <a:rPr lang="en-US" b="1" dirty="0">
                <a:solidFill>
                  <a:srgbClr val="007A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AI Agent’s</a:t>
            </a: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 </a:t>
            </a:r>
            <a:r>
              <a:rPr lang="en-US" b="1" dirty="0">
                <a:solidFill>
                  <a:srgbClr val="8C52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Brain</a:t>
            </a:r>
          </a:p>
        </p:txBody>
      </p:sp>
      <p:sp>
        <p:nvSpPr>
          <p:cNvPr id="68" name="TextBox 6">
            <a:extLst>
              <a:ext uri="{FF2B5EF4-FFF2-40B4-BE49-F238E27FC236}">
                <a16:creationId xmlns:a16="http://schemas.microsoft.com/office/drawing/2014/main" id="{92F215F3-D293-4AC8-E32B-22ADCF8325EB}"/>
              </a:ext>
            </a:extLst>
          </p:cNvPr>
          <p:cNvSpPr txBox="1"/>
          <p:nvPr/>
        </p:nvSpPr>
        <p:spPr>
          <a:xfrm>
            <a:off x="122769" y="705029"/>
            <a:ext cx="7325868" cy="276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How language models power autonomous action in corporate systems.</a:t>
            </a:r>
          </a:p>
        </p:txBody>
      </p:sp>
      <p:sp>
        <p:nvSpPr>
          <p:cNvPr id="72" name="TextBox 9">
            <a:extLst>
              <a:ext uri="{FF2B5EF4-FFF2-40B4-BE49-F238E27FC236}">
                <a16:creationId xmlns:a16="http://schemas.microsoft.com/office/drawing/2014/main" id="{39D8E51E-6F70-4FEB-30CA-C51D8F530354}"/>
              </a:ext>
            </a:extLst>
          </p:cNvPr>
          <p:cNvSpPr txBox="1"/>
          <p:nvPr/>
        </p:nvSpPr>
        <p:spPr>
          <a:xfrm>
            <a:off x="826390" y="1323090"/>
            <a:ext cx="139293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b="1" dirty="0">
                <a:solidFill>
                  <a:srgbClr val="007A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CORE COGNITIVE ROLES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8A49AA-079A-7F00-9515-797B25C9029B}"/>
              </a:ext>
            </a:extLst>
          </p:cNvPr>
          <p:cNvSpPr txBox="1"/>
          <p:nvPr/>
        </p:nvSpPr>
        <p:spPr>
          <a:xfrm>
            <a:off x="150444" y="1178697"/>
            <a:ext cx="705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8C52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  <a:endParaRPr lang="en-IN" sz="6000" b="1" dirty="0">
              <a:solidFill>
                <a:srgbClr val="8C52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Freeform 7">
            <a:extLst>
              <a:ext uri="{FF2B5EF4-FFF2-40B4-BE49-F238E27FC236}">
                <a16:creationId xmlns:a16="http://schemas.microsoft.com/office/drawing/2014/main" id="{18B40847-9A67-D7CE-CD23-7A849992B94E}"/>
              </a:ext>
            </a:extLst>
          </p:cNvPr>
          <p:cNvSpPr/>
          <p:nvPr/>
        </p:nvSpPr>
        <p:spPr>
          <a:xfrm>
            <a:off x="71246" y="2057988"/>
            <a:ext cx="2590159" cy="2727491"/>
          </a:xfrm>
          <a:custGeom>
            <a:avLst/>
            <a:gdLst/>
            <a:ahLst/>
            <a:cxnLst/>
            <a:rect l="l" t="t" r="r" b="b"/>
            <a:pathLst>
              <a:path w="8924925" h="4124325">
                <a:moveTo>
                  <a:pt x="0" y="0"/>
                </a:moveTo>
                <a:lnTo>
                  <a:pt x="8924925" y="0"/>
                </a:lnTo>
                <a:lnTo>
                  <a:pt x="8924925" y="4124325"/>
                </a:lnTo>
                <a:lnTo>
                  <a:pt x="0" y="412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6" name="Freeform 11">
            <a:extLst>
              <a:ext uri="{FF2B5EF4-FFF2-40B4-BE49-F238E27FC236}">
                <a16:creationId xmlns:a16="http://schemas.microsoft.com/office/drawing/2014/main" id="{B4CC05EC-BFF4-6DBA-EC0F-0A0161973DCA}"/>
              </a:ext>
            </a:extLst>
          </p:cNvPr>
          <p:cNvSpPr/>
          <p:nvPr/>
        </p:nvSpPr>
        <p:spPr>
          <a:xfrm>
            <a:off x="129441" y="2093231"/>
            <a:ext cx="533759" cy="789586"/>
          </a:xfrm>
          <a:custGeom>
            <a:avLst/>
            <a:gdLst/>
            <a:ahLst/>
            <a:cxnLst/>
            <a:rect l="l" t="t" r="r" b="b"/>
            <a:pathLst>
              <a:path w="762000" h="942975">
                <a:moveTo>
                  <a:pt x="0" y="0"/>
                </a:moveTo>
                <a:lnTo>
                  <a:pt x="762000" y="0"/>
                </a:lnTo>
                <a:lnTo>
                  <a:pt x="762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7" name="TextBox 12">
            <a:extLst>
              <a:ext uri="{FF2B5EF4-FFF2-40B4-BE49-F238E27FC236}">
                <a16:creationId xmlns:a16="http://schemas.microsoft.com/office/drawing/2014/main" id="{2E11A046-B86E-3769-6639-214AC3DDB3CB}"/>
              </a:ext>
            </a:extLst>
          </p:cNvPr>
          <p:cNvSpPr txBox="1"/>
          <p:nvPr/>
        </p:nvSpPr>
        <p:spPr>
          <a:xfrm>
            <a:off x="655888" y="2253923"/>
            <a:ext cx="1956733" cy="60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100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1. Understand Intent 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Intermits user context and specific request nuances.</a:t>
            </a:r>
          </a:p>
        </p:txBody>
      </p:sp>
      <p:sp>
        <p:nvSpPr>
          <p:cNvPr id="78" name="Freeform 14">
            <a:extLst>
              <a:ext uri="{FF2B5EF4-FFF2-40B4-BE49-F238E27FC236}">
                <a16:creationId xmlns:a16="http://schemas.microsoft.com/office/drawing/2014/main" id="{D8971AA6-0221-A630-590B-59F6036B217E}"/>
              </a:ext>
            </a:extLst>
          </p:cNvPr>
          <p:cNvSpPr/>
          <p:nvPr/>
        </p:nvSpPr>
        <p:spPr>
          <a:xfrm>
            <a:off x="122769" y="3635511"/>
            <a:ext cx="540431" cy="789586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9" name="TextBox 15">
            <a:extLst>
              <a:ext uri="{FF2B5EF4-FFF2-40B4-BE49-F238E27FC236}">
                <a16:creationId xmlns:a16="http://schemas.microsoft.com/office/drawing/2014/main" id="{C9647298-6F6C-80DB-7390-AB790D6382C9}"/>
              </a:ext>
            </a:extLst>
          </p:cNvPr>
          <p:cNvSpPr txBox="1"/>
          <p:nvPr/>
        </p:nvSpPr>
        <p:spPr>
          <a:xfrm>
            <a:off x="698422" y="3846878"/>
            <a:ext cx="1877151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1100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3. Strategic Planning 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Breaks high-level goals into executable smaller tasks.</a:t>
            </a:r>
          </a:p>
        </p:txBody>
      </p:sp>
      <p:sp>
        <p:nvSpPr>
          <p:cNvPr id="80" name="Freeform 18">
            <a:extLst>
              <a:ext uri="{FF2B5EF4-FFF2-40B4-BE49-F238E27FC236}">
                <a16:creationId xmlns:a16="http://schemas.microsoft.com/office/drawing/2014/main" id="{6532CD8A-ADBD-577B-F5A2-FC5921DC4B8A}"/>
              </a:ext>
            </a:extLst>
          </p:cNvPr>
          <p:cNvSpPr/>
          <p:nvPr/>
        </p:nvSpPr>
        <p:spPr>
          <a:xfrm>
            <a:off x="65164" y="2918987"/>
            <a:ext cx="540431" cy="638049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91526EE4-0485-29AD-157F-646AF65BDE1B}"/>
              </a:ext>
            </a:extLst>
          </p:cNvPr>
          <p:cNvSpPr txBox="1"/>
          <p:nvPr/>
        </p:nvSpPr>
        <p:spPr>
          <a:xfrm>
            <a:off x="687120" y="2981993"/>
            <a:ext cx="1902442" cy="60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00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2. Reason and Analyze 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Evaluates information to make informed logical decisions.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FAE7F1-8326-8328-BBB2-C6067AA29F9A}"/>
              </a:ext>
            </a:extLst>
          </p:cNvPr>
          <p:cNvGrpSpPr/>
          <p:nvPr/>
        </p:nvGrpSpPr>
        <p:grpSpPr>
          <a:xfrm>
            <a:off x="2612621" y="1305473"/>
            <a:ext cx="2530879" cy="638049"/>
            <a:chOff x="2612621" y="1094727"/>
            <a:chExt cx="2530879" cy="638049"/>
          </a:xfrm>
        </p:grpSpPr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7927A28-F591-7411-6BA7-C652D7C81405}"/>
                </a:ext>
              </a:extLst>
            </p:cNvPr>
            <p:cNvSpPr/>
            <p:nvPr/>
          </p:nvSpPr>
          <p:spPr>
            <a:xfrm>
              <a:off x="2612621" y="1094727"/>
              <a:ext cx="540431" cy="638049"/>
            </a:xfrm>
            <a:custGeom>
              <a:avLst/>
              <a:gdLst/>
              <a:ahLst/>
              <a:cxnLst/>
              <a:rect l="l" t="t" r="r" b="b"/>
              <a:pathLst>
                <a:path w="771525" h="762000">
                  <a:moveTo>
                    <a:pt x="0" y="0"/>
                  </a:moveTo>
                  <a:lnTo>
                    <a:pt x="771525" y="0"/>
                  </a:lnTo>
                  <a:lnTo>
                    <a:pt x="77152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83" name="TextBox 22">
              <a:extLst>
                <a:ext uri="{FF2B5EF4-FFF2-40B4-BE49-F238E27FC236}">
                  <a16:creationId xmlns:a16="http://schemas.microsoft.com/office/drawing/2014/main" id="{EB933E3C-184A-3107-67A2-7E2FC0AB1846}"/>
                </a:ext>
              </a:extLst>
            </p:cNvPr>
            <p:cNvSpPr txBox="1"/>
            <p:nvPr/>
          </p:nvSpPr>
          <p:spPr>
            <a:xfrm>
              <a:off x="3240669" y="1186446"/>
              <a:ext cx="1902831" cy="532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443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Tool Selection </a:t>
              </a:r>
              <a:r>
                <a:rPr lang="en-US" sz="11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ptos"/>
                </a:rPr>
                <a:t>Identifies which external APIs or services to invoke.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A954636-09B2-ED2D-390F-09F083547E24}"/>
              </a:ext>
            </a:extLst>
          </p:cNvPr>
          <p:cNvGrpSpPr/>
          <p:nvPr/>
        </p:nvGrpSpPr>
        <p:grpSpPr>
          <a:xfrm>
            <a:off x="2509804" y="2000091"/>
            <a:ext cx="2633696" cy="789586"/>
            <a:chOff x="2490206" y="1698438"/>
            <a:chExt cx="2633696" cy="789586"/>
          </a:xfrm>
        </p:grpSpPr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A95BE890-BCDB-95F8-FBC8-F741C0492F73}"/>
                </a:ext>
              </a:extLst>
            </p:cNvPr>
            <p:cNvSpPr/>
            <p:nvPr/>
          </p:nvSpPr>
          <p:spPr>
            <a:xfrm>
              <a:off x="2490206" y="1698438"/>
              <a:ext cx="648862" cy="789586"/>
            </a:xfrm>
            <a:custGeom>
              <a:avLst/>
              <a:gdLst/>
              <a:ahLst/>
              <a:cxnLst/>
              <a:rect l="l" t="t" r="r" b="b"/>
              <a:pathLst>
                <a:path w="771525" h="942975">
                  <a:moveTo>
                    <a:pt x="0" y="0"/>
                  </a:moveTo>
                  <a:lnTo>
                    <a:pt x="771525" y="0"/>
                  </a:lnTo>
                  <a:lnTo>
                    <a:pt x="771525" y="942975"/>
                  </a:lnTo>
                  <a:lnTo>
                    <a:pt x="0" y="942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85" name="TextBox 24">
              <a:extLst>
                <a:ext uri="{FF2B5EF4-FFF2-40B4-BE49-F238E27FC236}">
                  <a16:creationId xmlns:a16="http://schemas.microsoft.com/office/drawing/2014/main" id="{D3507315-7985-0DAD-E791-EE73A204D150}"/>
                </a:ext>
              </a:extLst>
            </p:cNvPr>
            <p:cNvSpPr txBox="1"/>
            <p:nvPr/>
          </p:nvSpPr>
          <p:spPr>
            <a:xfrm>
              <a:off x="3221072" y="1891286"/>
              <a:ext cx="1902830" cy="532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443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Decision Making </a:t>
              </a:r>
              <a:r>
                <a:rPr lang="en-US" sz="11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ptos"/>
                </a:rPr>
                <a:t>Chooses the optimal action based on data results.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2AC1BDC-845A-6E85-B17A-6114B8DC1DCD}"/>
              </a:ext>
            </a:extLst>
          </p:cNvPr>
          <p:cNvGrpSpPr/>
          <p:nvPr/>
        </p:nvGrpSpPr>
        <p:grpSpPr>
          <a:xfrm>
            <a:off x="2612621" y="3820491"/>
            <a:ext cx="2590159" cy="669746"/>
            <a:chOff x="2631518" y="3326176"/>
            <a:chExt cx="2590159" cy="669746"/>
          </a:xfrm>
        </p:grpSpPr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FD3AED16-E319-12DE-7C12-5573579647DC}"/>
                </a:ext>
              </a:extLst>
            </p:cNvPr>
            <p:cNvSpPr/>
            <p:nvPr/>
          </p:nvSpPr>
          <p:spPr>
            <a:xfrm>
              <a:off x="2631518" y="3326176"/>
              <a:ext cx="540431" cy="638049"/>
            </a:xfrm>
            <a:custGeom>
              <a:avLst/>
              <a:gdLst/>
              <a:ahLst/>
              <a:cxnLst/>
              <a:rect l="l" t="t" r="r" b="b"/>
              <a:pathLst>
                <a:path w="771525" h="762000">
                  <a:moveTo>
                    <a:pt x="0" y="0"/>
                  </a:moveTo>
                  <a:lnTo>
                    <a:pt x="771525" y="0"/>
                  </a:lnTo>
                  <a:lnTo>
                    <a:pt x="77152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88" name="TextBox 29">
              <a:extLst>
                <a:ext uri="{FF2B5EF4-FFF2-40B4-BE49-F238E27FC236}">
                  <a16:creationId xmlns:a16="http://schemas.microsoft.com/office/drawing/2014/main" id="{4EBD78C3-0325-C819-BC49-A01ACC19FBD9}"/>
                </a:ext>
              </a:extLst>
            </p:cNvPr>
            <p:cNvSpPr txBox="1"/>
            <p:nvPr/>
          </p:nvSpPr>
          <p:spPr>
            <a:xfrm>
              <a:off x="3233331" y="3392615"/>
              <a:ext cx="1988346" cy="6033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7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7. Response Generation </a:t>
              </a:r>
              <a:r>
                <a:rPr lang="en-US" sz="11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ptos"/>
                </a:rPr>
                <a:t>Produces natural language outputs for the final user.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FBA457D-31CA-CBDA-012F-4383B754321D}"/>
              </a:ext>
            </a:extLst>
          </p:cNvPr>
          <p:cNvGrpSpPr/>
          <p:nvPr/>
        </p:nvGrpSpPr>
        <p:grpSpPr>
          <a:xfrm>
            <a:off x="2671677" y="3000423"/>
            <a:ext cx="2452225" cy="638049"/>
            <a:chOff x="2671677" y="2599962"/>
            <a:chExt cx="2452225" cy="638049"/>
          </a:xfrm>
        </p:grpSpPr>
        <p:sp>
          <p:nvSpPr>
            <p:cNvPr id="86" name="Freeform 26">
              <a:extLst>
                <a:ext uri="{FF2B5EF4-FFF2-40B4-BE49-F238E27FC236}">
                  <a16:creationId xmlns:a16="http://schemas.microsoft.com/office/drawing/2014/main" id="{BF368A60-64B6-200A-2ACA-A12EF55501D9}"/>
                </a:ext>
              </a:extLst>
            </p:cNvPr>
            <p:cNvSpPr/>
            <p:nvPr/>
          </p:nvSpPr>
          <p:spPr>
            <a:xfrm>
              <a:off x="2671677" y="2599962"/>
              <a:ext cx="533759" cy="638049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89" name="TextBox 46">
              <a:extLst>
                <a:ext uri="{FF2B5EF4-FFF2-40B4-BE49-F238E27FC236}">
                  <a16:creationId xmlns:a16="http://schemas.microsoft.com/office/drawing/2014/main" id="{5AE7078E-D99E-5BBC-53D4-A851450DB52B}"/>
                </a:ext>
              </a:extLst>
            </p:cNvPr>
            <p:cNvSpPr txBox="1"/>
            <p:nvPr/>
          </p:nvSpPr>
          <p:spPr>
            <a:xfrm>
              <a:off x="3240669" y="2699586"/>
              <a:ext cx="1883233" cy="4622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23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6. Conversation Management </a:t>
              </a:r>
              <a:r>
                <a:rPr lang="en-US" sz="11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ptos"/>
                </a:rPr>
                <a:t>Maintains coherent dialogue and requests missing details.</a:t>
              </a:r>
            </a:p>
          </p:txBody>
        </p:sp>
      </p:grpSp>
      <p:sp>
        <p:nvSpPr>
          <p:cNvPr id="112" name="Freeform 32">
            <a:extLst>
              <a:ext uri="{FF2B5EF4-FFF2-40B4-BE49-F238E27FC236}">
                <a16:creationId xmlns:a16="http://schemas.microsoft.com/office/drawing/2014/main" id="{0C79E75F-7CFF-1C82-DB6E-B2D8246ADA9D}"/>
              </a:ext>
            </a:extLst>
          </p:cNvPr>
          <p:cNvSpPr/>
          <p:nvPr/>
        </p:nvSpPr>
        <p:spPr>
          <a:xfrm>
            <a:off x="6278302" y="2181623"/>
            <a:ext cx="1351230" cy="1216107"/>
          </a:xfrm>
          <a:custGeom>
            <a:avLst/>
            <a:gdLst/>
            <a:ahLst/>
            <a:cxnLst/>
            <a:rect l="l" t="t" r="r" b="b"/>
            <a:pathLst>
              <a:path w="2286000" h="2057400">
                <a:moveTo>
                  <a:pt x="0" y="0"/>
                </a:moveTo>
                <a:lnTo>
                  <a:pt x="2286000" y="0"/>
                </a:lnTo>
                <a:lnTo>
                  <a:pt x="22860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BCBAA52-8436-CC79-6DEC-EC39CF30DEE6}"/>
              </a:ext>
            </a:extLst>
          </p:cNvPr>
          <p:cNvGrpSpPr/>
          <p:nvPr/>
        </p:nvGrpSpPr>
        <p:grpSpPr>
          <a:xfrm>
            <a:off x="7102514" y="1413682"/>
            <a:ext cx="610233" cy="612000"/>
            <a:chOff x="12501397" y="1560020"/>
            <a:chExt cx="962025" cy="942975"/>
          </a:xfrm>
        </p:grpSpPr>
        <p:sp>
          <p:nvSpPr>
            <p:cNvPr id="114" name="Freeform 35">
              <a:extLst>
                <a:ext uri="{FF2B5EF4-FFF2-40B4-BE49-F238E27FC236}">
                  <a16:creationId xmlns:a16="http://schemas.microsoft.com/office/drawing/2014/main" id="{2BE48680-419C-1177-3344-2ED3184D4CF2}"/>
                </a:ext>
              </a:extLst>
            </p:cNvPr>
            <p:cNvSpPr/>
            <p:nvPr/>
          </p:nvSpPr>
          <p:spPr>
            <a:xfrm>
              <a:off x="12501397" y="1560020"/>
              <a:ext cx="962025" cy="942975"/>
            </a:xfrm>
            <a:custGeom>
              <a:avLst/>
              <a:gdLst/>
              <a:ahLst/>
              <a:cxnLst/>
              <a:rect l="l" t="t" r="r" b="b"/>
              <a:pathLst>
                <a:path w="962025" h="942975">
                  <a:moveTo>
                    <a:pt x="0" y="0"/>
                  </a:moveTo>
                  <a:lnTo>
                    <a:pt x="962025" y="0"/>
                  </a:lnTo>
                  <a:lnTo>
                    <a:pt x="962025" y="942975"/>
                  </a:lnTo>
                  <a:lnTo>
                    <a:pt x="0" y="942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15" name="Freeform 36">
              <a:extLst>
                <a:ext uri="{FF2B5EF4-FFF2-40B4-BE49-F238E27FC236}">
                  <a16:creationId xmlns:a16="http://schemas.microsoft.com/office/drawing/2014/main" id="{80D4DA9D-5D73-7A7C-02D5-24ED61DB29BF}"/>
                </a:ext>
              </a:extLst>
            </p:cNvPr>
            <p:cNvSpPr/>
            <p:nvPr/>
          </p:nvSpPr>
          <p:spPr>
            <a:xfrm>
              <a:off x="12707822" y="1727079"/>
              <a:ext cx="581025" cy="571500"/>
            </a:xfrm>
            <a:custGeom>
              <a:avLst/>
              <a:gdLst/>
              <a:ahLst/>
              <a:cxnLst/>
              <a:rect l="l" t="t" r="r" b="b"/>
              <a:pathLst>
                <a:path w="581025" h="571500">
                  <a:moveTo>
                    <a:pt x="0" y="0"/>
                  </a:moveTo>
                  <a:lnTo>
                    <a:pt x="581025" y="0"/>
                  </a:lnTo>
                  <a:lnTo>
                    <a:pt x="5810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116" name="TextBox 37">
            <a:extLst>
              <a:ext uri="{FF2B5EF4-FFF2-40B4-BE49-F238E27FC236}">
                <a16:creationId xmlns:a16="http://schemas.microsoft.com/office/drawing/2014/main" id="{E23C0A40-990F-72E7-21AE-85A618B3C86C}"/>
              </a:ext>
            </a:extLst>
          </p:cNvPr>
          <p:cNvSpPr txBox="1"/>
          <p:nvPr/>
        </p:nvSpPr>
        <p:spPr>
          <a:xfrm>
            <a:off x="7748147" y="1370619"/>
            <a:ext cx="1364024" cy="808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00" dirty="0">
                <a:solidFill>
                  <a:srgbClr val="007A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The Memory (State)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Remembers context and data from past interactions.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138FC20-DC25-89F0-2853-BAFD1D78A5DC}"/>
              </a:ext>
            </a:extLst>
          </p:cNvPr>
          <p:cNvGrpSpPr/>
          <p:nvPr/>
        </p:nvGrpSpPr>
        <p:grpSpPr>
          <a:xfrm>
            <a:off x="5425261" y="2955432"/>
            <a:ext cx="612000" cy="612000"/>
            <a:chOff x="9662947" y="3426920"/>
            <a:chExt cx="762000" cy="942975"/>
          </a:xfrm>
        </p:grpSpPr>
        <p:sp>
          <p:nvSpPr>
            <p:cNvPr id="122" name="Freeform 33">
              <a:extLst>
                <a:ext uri="{FF2B5EF4-FFF2-40B4-BE49-F238E27FC236}">
                  <a16:creationId xmlns:a16="http://schemas.microsoft.com/office/drawing/2014/main" id="{671D3785-31B3-285A-6862-DBFFC8A1681F}"/>
                </a:ext>
              </a:extLst>
            </p:cNvPr>
            <p:cNvSpPr/>
            <p:nvPr/>
          </p:nvSpPr>
          <p:spPr>
            <a:xfrm>
              <a:off x="9662947" y="3426920"/>
              <a:ext cx="762000" cy="942975"/>
            </a:xfrm>
            <a:custGeom>
              <a:avLst/>
              <a:gdLst/>
              <a:ahLst/>
              <a:cxnLst/>
              <a:rect l="l" t="t" r="r" b="b"/>
              <a:pathLst>
                <a:path w="762000" h="942975">
                  <a:moveTo>
                    <a:pt x="0" y="0"/>
                  </a:moveTo>
                  <a:lnTo>
                    <a:pt x="762000" y="0"/>
                  </a:lnTo>
                  <a:lnTo>
                    <a:pt x="762000" y="942975"/>
                  </a:lnTo>
                  <a:lnTo>
                    <a:pt x="0" y="942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23" name="Freeform 34">
              <a:extLst>
                <a:ext uri="{FF2B5EF4-FFF2-40B4-BE49-F238E27FC236}">
                  <a16:creationId xmlns:a16="http://schemas.microsoft.com/office/drawing/2014/main" id="{FB72D5ED-3966-394F-97D4-BCD05FB719FF}"/>
                </a:ext>
              </a:extLst>
            </p:cNvPr>
            <p:cNvSpPr/>
            <p:nvPr/>
          </p:nvSpPr>
          <p:spPr>
            <a:xfrm>
              <a:off x="9662947" y="3607895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124" name="TextBox 47">
            <a:extLst>
              <a:ext uri="{FF2B5EF4-FFF2-40B4-BE49-F238E27FC236}">
                <a16:creationId xmlns:a16="http://schemas.microsoft.com/office/drawing/2014/main" id="{F29DB985-E108-284A-7E67-C9DC8F737312}"/>
              </a:ext>
            </a:extLst>
          </p:cNvPr>
          <p:cNvSpPr txBox="1"/>
          <p:nvPr/>
        </p:nvSpPr>
        <p:spPr>
          <a:xfrm>
            <a:off x="5278552" y="3550031"/>
            <a:ext cx="2197760" cy="18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00" dirty="0">
                <a:solidFill>
                  <a:srgbClr val="8C52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The Manager (Framework)</a:t>
            </a:r>
          </a:p>
        </p:txBody>
      </p:sp>
      <p:sp>
        <p:nvSpPr>
          <p:cNvPr id="125" name="TextBox 48">
            <a:extLst>
              <a:ext uri="{FF2B5EF4-FFF2-40B4-BE49-F238E27FC236}">
                <a16:creationId xmlns:a16="http://schemas.microsoft.com/office/drawing/2014/main" id="{50C622A2-5AEF-982B-6EB9-EBD6955AC1F3}"/>
              </a:ext>
            </a:extLst>
          </p:cNvPr>
          <p:cNvSpPr txBox="1"/>
          <p:nvPr/>
        </p:nvSpPr>
        <p:spPr>
          <a:xfrm>
            <a:off x="5276325" y="3777565"/>
            <a:ext cx="21499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Coordinates the workflow between the brain and hands.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6704CCB-19F9-A1AD-54EA-C6DFEF3E67DC}"/>
              </a:ext>
            </a:extLst>
          </p:cNvPr>
          <p:cNvGrpSpPr/>
          <p:nvPr/>
        </p:nvGrpSpPr>
        <p:grpSpPr>
          <a:xfrm>
            <a:off x="7888562" y="2861426"/>
            <a:ext cx="612000" cy="612000"/>
            <a:chOff x="12882397" y="3426920"/>
            <a:chExt cx="962025" cy="942975"/>
          </a:xfrm>
        </p:grpSpPr>
        <p:sp>
          <p:nvSpPr>
            <p:cNvPr id="127" name="Freeform 38">
              <a:extLst>
                <a:ext uri="{FF2B5EF4-FFF2-40B4-BE49-F238E27FC236}">
                  <a16:creationId xmlns:a16="http://schemas.microsoft.com/office/drawing/2014/main" id="{6D1F36F7-3FF4-D28D-794E-BC7EC92CF653}"/>
                </a:ext>
              </a:extLst>
            </p:cNvPr>
            <p:cNvSpPr/>
            <p:nvPr/>
          </p:nvSpPr>
          <p:spPr>
            <a:xfrm>
              <a:off x="12882397" y="3426920"/>
              <a:ext cx="962025" cy="942975"/>
            </a:xfrm>
            <a:custGeom>
              <a:avLst/>
              <a:gdLst/>
              <a:ahLst/>
              <a:cxnLst/>
              <a:rect l="l" t="t" r="r" b="b"/>
              <a:pathLst>
                <a:path w="962025" h="942975">
                  <a:moveTo>
                    <a:pt x="0" y="0"/>
                  </a:moveTo>
                  <a:lnTo>
                    <a:pt x="962025" y="0"/>
                  </a:lnTo>
                  <a:lnTo>
                    <a:pt x="962025" y="942975"/>
                  </a:lnTo>
                  <a:lnTo>
                    <a:pt x="0" y="942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  <p:sp>
          <p:nvSpPr>
            <p:cNvPr id="128" name="Freeform 39">
              <a:extLst>
                <a:ext uri="{FF2B5EF4-FFF2-40B4-BE49-F238E27FC236}">
                  <a16:creationId xmlns:a16="http://schemas.microsoft.com/office/drawing/2014/main" id="{66E01DC3-51BE-4426-0619-758F47BE110F}"/>
                </a:ext>
              </a:extLst>
            </p:cNvPr>
            <p:cNvSpPr/>
            <p:nvPr/>
          </p:nvSpPr>
          <p:spPr>
            <a:xfrm>
              <a:off x="13072897" y="3607895"/>
              <a:ext cx="581025" cy="571500"/>
            </a:xfrm>
            <a:custGeom>
              <a:avLst/>
              <a:gdLst/>
              <a:ahLst/>
              <a:cxnLst/>
              <a:rect l="l" t="t" r="r" b="b"/>
              <a:pathLst>
                <a:path w="581025" h="571500">
                  <a:moveTo>
                    <a:pt x="0" y="0"/>
                  </a:moveTo>
                  <a:lnTo>
                    <a:pt x="581025" y="0"/>
                  </a:lnTo>
                  <a:lnTo>
                    <a:pt x="5810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129" name="TextBox 49">
            <a:extLst>
              <a:ext uri="{FF2B5EF4-FFF2-40B4-BE49-F238E27FC236}">
                <a16:creationId xmlns:a16="http://schemas.microsoft.com/office/drawing/2014/main" id="{B5717B49-3BA3-20DA-5302-021BB187910B}"/>
              </a:ext>
            </a:extLst>
          </p:cNvPr>
          <p:cNvSpPr txBox="1"/>
          <p:nvPr/>
        </p:nvSpPr>
        <p:spPr>
          <a:xfrm>
            <a:off x="7492354" y="3483440"/>
            <a:ext cx="1528877" cy="20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00" b="1" dirty="0">
                <a:solidFill>
                  <a:srgbClr val="8C52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The Hands (Tools)</a:t>
            </a:r>
          </a:p>
        </p:txBody>
      </p:sp>
      <p:sp>
        <p:nvSpPr>
          <p:cNvPr id="130" name="TextBox 50">
            <a:extLst>
              <a:ext uri="{FF2B5EF4-FFF2-40B4-BE49-F238E27FC236}">
                <a16:creationId xmlns:a16="http://schemas.microsoft.com/office/drawing/2014/main" id="{C61E8830-1EDC-3320-9FD7-1255AA209B56}"/>
              </a:ext>
            </a:extLst>
          </p:cNvPr>
          <p:cNvSpPr txBox="1"/>
          <p:nvPr/>
        </p:nvSpPr>
        <p:spPr>
          <a:xfrm>
            <a:off x="7492354" y="3751755"/>
            <a:ext cx="1911096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8"/>
              </a:lnSpc>
            </a:pPr>
            <a:r>
              <a:rPr lang="en-US" sz="11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"/>
              </a:rPr>
              <a:t>Executes emails, queries databases, and calls APIs.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F2833DB-3EEA-2DF6-AC07-845F1C663DAC}"/>
              </a:ext>
            </a:extLst>
          </p:cNvPr>
          <p:cNvSpPr txBox="1"/>
          <p:nvPr/>
        </p:nvSpPr>
        <p:spPr>
          <a:xfrm>
            <a:off x="5329923" y="1208561"/>
            <a:ext cx="20010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ptos Bold"/>
              </a:rPr>
              <a:t>The Anatomy of Autonomy</a:t>
            </a:r>
          </a:p>
        </p:txBody>
      </p:sp>
    </p:spTree>
    <p:extLst>
      <p:ext uri="{BB962C8B-B14F-4D97-AF65-F5344CB8AC3E}">
        <p14:creationId xmlns:p14="http://schemas.microsoft.com/office/powerpoint/2010/main" val="297121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457200"/>
            <a:ext cx="84124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dirty="0">
                <a:solidFill>
                  <a:srgbClr val="FFFFFF"/>
                </a:solidFill>
                <a:latin typeface="Roboto" panose="02000000000000000000" pitchFamily="2" charset="0"/>
              </a:rPr>
              <a:t>Optimize Intelligence with </a:t>
            </a:r>
            <a:r>
              <a:rPr sz="2200" b="1" dirty="0">
                <a:solidFill>
                  <a:srgbClr val="00B4D8"/>
                </a:solidFill>
                <a:latin typeface="Roboto" panose="02000000000000000000" pitchFamily="2" charset="0"/>
              </a:rPr>
              <a:t>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dirty="0">
                <a:solidFill>
                  <a:srgbClr val="B0BEC5"/>
                </a:solidFill>
                <a:latin typeface="Roboto" panose="02000000000000000000" pitchFamily="2" charset="0"/>
              </a:rPr>
              <a:t>Integrate private data with LLMs for accurate, grounded responses.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B1C0416-16C1-0528-6929-E70E304DF106}"/>
              </a:ext>
            </a:extLst>
          </p:cNvPr>
          <p:cNvGrpSpPr/>
          <p:nvPr/>
        </p:nvGrpSpPr>
        <p:grpSpPr>
          <a:xfrm>
            <a:off x="3186026" y="1027388"/>
            <a:ext cx="5776546" cy="2827591"/>
            <a:chOff x="2247638" y="1419641"/>
            <a:chExt cx="5776546" cy="2827591"/>
          </a:xfrm>
        </p:grpSpPr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BA09F0A-C3BA-0FB5-A38D-C9AF78DE07B5}"/>
                </a:ext>
              </a:extLst>
            </p:cNvPr>
            <p:cNvSpPr/>
            <p:nvPr/>
          </p:nvSpPr>
          <p:spPr>
            <a:xfrm>
              <a:off x="2247638" y="1419641"/>
              <a:ext cx="5776546" cy="2827591"/>
            </a:xfrm>
            <a:custGeom>
              <a:avLst/>
              <a:gdLst/>
              <a:ahLst/>
              <a:cxnLst/>
              <a:rect l="l" t="t" r="r" b="b"/>
              <a:pathLst>
                <a:path w="7591425" h="4676775">
                  <a:moveTo>
                    <a:pt x="0" y="0"/>
                  </a:moveTo>
                  <a:lnTo>
                    <a:pt x="7591425" y="0"/>
                  </a:lnTo>
                  <a:lnTo>
                    <a:pt x="7591425" y="4676775"/>
                  </a:lnTo>
                  <a:lnTo>
                    <a:pt x="0" y="4676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>
                <a:latin typeface="Roboto" panose="02000000000000000000" pitchFamily="2" charset="0"/>
              </a:endParaRPr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372B14FF-5FF8-C42E-B702-2DBD7B7631AD}"/>
                </a:ext>
              </a:extLst>
            </p:cNvPr>
            <p:cNvSpPr/>
            <p:nvPr/>
          </p:nvSpPr>
          <p:spPr>
            <a:xfrm>
              <a:off x="2620837" y="1860346"/>
              <a:ext cx="720000" cy="720000"/>
            </a:xfrm>
            <a:custGeom>
              <a:avLst/>
              <a:gdLst/>
              <a:ahLst/>
              <a:cxnLst/>
              <a:rect l="l" t="t" r="r" b="b"/>
              <a:pathLst>
                <a:path w="1533525" h="1314450">
                  <a:moveTo>
                    <a:pt x="0" y="0"/>
                  </a:moveTo>
                  <a:lnTo>
                    <a:pt x="1533525" y="0"/>
                  </a:lnTo>
                  <a:lnTo>
                    <a:pt x="1533525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33605A15-4E59-894D-1217-61FFC7F200DB}"/>
                </a:ext>
              </a:extLst>
            </p:cNvPr>
            <p:cNvSpPr txBox="1"/>
            <p:nvPr/>
          </p:nvSpPr>
          <p:spPr>
            <a:xfrm>
              <a:off x="2605968" y="1478994"/>
              <a:ext cx="720000" cy="368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5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USER</a:t>
              </a:r>
            </a:p>
            <a:p>
              <a:pPr algn="ctr">
                <a:lnSpc>
                  <a:spcPts val="1485"/>
                </a:lnSpc>
              </a:pPr>
              <a:r>
                <a:rPr lang="en-US" sz="1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Q</a:t>
              </a: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UERY</a:t>
              </a:r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08ED3FCB-A8D1-0461-6946-1B85E64ED23E}"/>
                </a:ext>
              </a:extLst>
            </p:cNvPr>
            <p:cNvSpPr/>
            <p:nvPr/>
          </p:nvSpPr>
          <p:spPr>
            <a:xfrm>
              <a:off x="3977517" y="1797890"/>
              <a:ext cx="720000" cy="720000"/>
            </a:xfrm>
            <a:custGeom>
              <a:avLst/>
              <a:gdLst/>
              <a:ahLst/>
              <a:cxnLst/>
              <a:rect l="l" t="t" r="r" b="b"/>
              <a:pathLst>
                <a:path w="1343025" h="1314450">
                  <a:moveTo>
                    <a:pt x="0" y="0"/>
                  </a:moveTo>
                  <a:lnTo>
                    <a:pt x="1343025" y="0"/>
                  </a:lnTo>
                  <a:lnTo>
                    <a:pt x="1343025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5" name="TextBox 25">
              <a:extLst>
                <a:ext uri="{FF2B5EF4-FFF2-40B4-BE49-F238E27FC236}">
                  <a16:creationId xmlns:a16="http://schemas.microsoft.com/office/drawing/2014/main" id="{DB05257D-E470-2AAA-DAF1-376E9C8D32EE}"/>
                </a:ext>
              </a:extLst>
            </p:cNvPr>
            <p:cNvSpPr txBox="1"/>
            <p:nvPr/>
          </p:nvSpPr>
          <p:spPr>
            <a:xfrm>
              <a:off x="3798678" y="1440073"/>
              <a:ext cx="1100720" cy="3810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28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EMBEDDING</a:t>
              </a:r>
            </a:p>
            <a:p>
              <a:pPr algn="ctr">
                <a:lnSpc>
                  <a:spcPts val="1528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MODEL</a:t>
              </a:r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0A8BEF22-C8AB-8538-EDC5-883DAA737FC5}"/>
                </a:ext>
              </a:extLst>
            </p:cNvPr>
            <p:cNvSpPr/>
            <p:nvPr/>
          </p:nvSpPr>
          <p:spPr>
            <a:xfrm>
              <a:off x="5434126" y="1843966"/>
              <a:ext cx="720000" cy="720000"/>
            </a:xfrm>
            <a:custGeom>
              <a:avLst/>
              <a:gdLst/>
              <a:ahLst/>
              <a:cxnLst/>
              <a:rect l="l" t="t" r="r" b="b"/>
              <a:pathLst>
                <a:path w="1524000" h="1495425">
                  <a:moveTo>
                    <a:pt x="0" y="0"/>
                  </a:moveTo>
                  <a:lnTo>
                    <a:pt x="1524000" y="0"/>
                  </a:lnTo>
                  <a:lnTo>
                    <a:pt x="1524000" y="1495425"/>
                  </a:lnTo>
                  <a:lnTo>
                    <a:pt x="0" y="1495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9" name="Freeform 27">
              <a:extLst>
                <a:ext uri="{FF2B5EF4-FFF2-40B4-BE49-F238E27FC236}">
                  <a16:creationId xmlns:a16="http://schemas.microsoft.com/office/drawing/2014/main" id="{19B85627-3B83-DE29-2F71-5904A48D0164}"/>
                </a:ext>
              </a:extLst>
            </p:cNvPr>
            <p:cNvSpPr/>
            <p:nvPr/>
          </p:nvSpPr>
          <p:spPr>
            <a:xfrm>
              <a:off x="6767089" y="1835174"/>
              <a:ext cx="720000" cy="720000"/>
            </a:xfrm>
            <a:custGeom>
              <a:avLst/>
              <a:gdLst/>
              <a:ahLst/>
              <a:cxnLst/>
              <a:rect l="l" t="t" r="r" b="b"/>
              <a:pathLst>
                <a:path w="1524000" h="1314450">
                  <a:moveTo>
                    <a:pt x="0" y="0"/>
                  </a:moveTo>
                  <a:lnTo>
                    <a:pt x="1524000" y="0"/>
                  </a:lnTo>
                  <a:lnTo>
                    <a:pt x="1524000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71" name="TextBox 28">
              <a:extLst>
                <a:ext uri="{FF2B5EF4-FFF2-40B4-BE49-F238E27FC236}">
                  <a16:creationId xmlns:a16="http://schemas.microsoft.com/office/drawing/2014/main" id="{3850EE3A-39F4-8684-D6BB-30798649C9F2}"/>
                </a:ext>
              </a:extLst>
            </p:cNvPr>
            <p:cNvSpPr txBox="1"/>
            <p:nvPr/>
          </p:nvSpPr>
          <p:spPr>
            <a:xfrm>
              <a:off x="6767089" y="1444752"/>
              <a:ext cx="716661" cy="3763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5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LLM</a:t>
              </a:r>
            </a:p>
            <a:p>
              <a:pPr algn="ctr">
                <a:lnSpc>
                  <a:spcPts val="1485"/>
                </a:lnSpc>
              </a:pPr>
              <a:r>
                <a:rPr lang="en-US" sz="10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ANSWER</a:t>
              </a:r>
            </a:p>
          </p:txBody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5BA4CA21-E5F0-DA2E-0BF1-6B869E9A3FCE}"/>
                </a:ext>
              </a:extLst>
            </p:cNvPr>
            <p:cNvSpPr/>
            <p:nvPr/>
          </p:nvSpPr>
          <p:spPr>
            <a:xfrm>
              <a:off x="2338913" y="2581422"/>
              <a:ext cx="1397977" cy="1294227"/>
            </a:xfrm>
            <a:custGeom>
              <a:avLst/>
              <a:gdLst/>
              <a:ahLst/>
              <a:cxnLst/>
              <a:rect l="l" t="t" r="r" b="b"/>
              <a:pathLst>
                <a:path w="1905000" h="2057400">
                  <a:moveTo>
                    <a:pt x="0" y="0"/>
                  </a:moveTo>
                  <a:lnTo>
                    <a:pt x="1905000" y="0"/>
                  </a:lnTo>
                  <a:lnTo>
                    <a:pt x="1905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ED8A7BB2-8844-3CE0-86D1-3DC52DE0FC16}"/>
                </a:ext>
              </a:extLst>
            </p:cNvPr>
            <p:cNvSpPr/>
            <p:nvPr/>
          </p:nvSpPr>
          <p:spPr>
            <a:xfrm>
              <a:off x="2794680" y="2684244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81025" h="571500">
                  <a:moveTo>
                    <a:pt x="0" y="0"/>
                  </a:moveTo>
                  <a:lnTo>
                    <a:pt x="581025" y="0"/>
                  </a:lnTo>
                  <a:lnTo>
                    <a:pt x="5810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77" name="TextBox 34">
              <a:extLst>
                <a:ext uri="{FF2B5EF4-FFF2-40B4-BE49-F238E27FC236}">
                  <a16:creationId xmlns:a16="http://schemas.microsoft.com/office/drawing/2014/main" id="{7D59A992-8B7A-D009-5B04-81584D621D50}"/>
                </a:ext>
              </a:extLst>
            </p:cNvPr>
            <p:cNvSpPr txBox="1"/>
            <p:nvPr/>
          </p:nvSpPr>
          <p:spPr>
            <a:xfrm>
              <a:off x="2511690" y="3031588"/>
              <a:ext cx="1038260" cy="6508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73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Query Embedding:</a:t>
              </a:r>
              <a:r>
                <a:rPr lang="en-US" sz="8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 The user question is converted into a mathematical vector.</a:t>
              </a:r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id="{4233D88D-CAAB-06F6-8FF5-8A768745AF24}"/>
                </a:ext>
              </a:extLst>
            </p:cNvPr>
            <p:cNvSpPr/>
            <p:nvPr/>
          </p:nvSpPr>
          <p:spPr>
            <a:xfrm>
              <a:off x="3684563" y="2564520"/>
              <a:ext cx="1396800" cy="1296000"/>
            </a:xfrm>
            <a:custGeom>
              <a:avLst/>
              <a:gdLst/>
              <a:ahLst/>
              <a:cxnLst/>
              <a:rect l="l" t="t" r="r" b="b"/>
              <a:pathLst>
                <a:path w="1905000" h="2057400">
                  <a:moveTo>
                    <a:pt x="0" y="0"/>
                  </a:moveTo>
                  <a:lnTo>
                    <a:pt x="1905000" y="0"/>
                  </a:lnTo>
                  <a:lnTo>
                    <a:pt x="1905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81" name="Freeform 36">
              <a:extLst>
                <a:ext uri="{FF2B5EF4-FFF2-40B4-BE49-F238E27FC236}">
                  <a16:creationId xmlns:a16="http://schemas.microsoft.com/office/drawing/2014/main" id="{F97F76BB-498E-8A30-DB89-3D4B6C424015}"/>
                </a:ext>
              </a:extLst>
            </p:cNvPr>
            <p:cNvSpPr/>
            <p:nvPr/>
          </p:nvSpPr>
          <p:spPr>
            <a:xfrm>
              <a:off x="4228337" y="2684244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81025" h="571500">
                  <a:moveTo>
                    <a:pt x="0" y="0"/>
                  </a:moveTo>
                  <a:lnTo>
                    <a:pt x="581025" y="0"/>
                  </a:lnTo>
                  <a:lnTo>
                    <a:pt x="5810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83" name="TextBox 37">
              <a:extLst>
                <a:ext uri="{FF2B5EF4-FFF2-40B4-BE49-F238E27FC236}">
                  <a16:creationId xmlns:a16="http://schemas.microsoft.com/office/drawing/2014/main" id="{94489D4F-D85C-CF37-C2C8-B499CE9F2378}"/>
                </a:ext>
              </a:extLst>
            </p:cNvPr>
            <p:cNvSpPr txBox="1"/>
            <p:nvPr/>
          </p:nvSpPr>
          <p:spPr>
            <a:xfrm>
              <a:off x="3798678" y="3055632"/>
              <a:ext cx="1186643" cy="6027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3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Semantic Vector Search:</a:t>
              </a:r>
              <a:r>
                <a:rPr lang="en-US" sz="8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 The database identifies the most relevant internal handbook sections.</a:t>
              </a:r>
            </a:p>
          </p:txBody>
        </p:sp>
        <p:sp>
          <p:nvSpPr>
            <p:cNvPr id="85" name="Freeform 38">
              <a:extLst>
                <a:ext uri="{FF2B5EF4-FFF2-40B4-BE49-F238E27FC236}">
                  <a16:creationId xmlns:a16="http://schemas.microsoft.com/office/drawing/2014/main" id="{1F65D6FA-2068-4600-1737-C4A0FC836267}"/>
                </a:ext>
              </a:extLst>
            </p:cNvPr>
            <p:cNvSpPr/>
            <p:nvPr/>
          </p:nvSpPr>
          <p:spPr>
            <a:xfrm>
              <a:off x="5105133" y="2557486"/>
              <a:ext cx="1396800" cy="1296000"/>
            </a:xfrm>
            <a:custGeom>
              <a:avLst/>
              <a:gdLst/>
              <a:ahLst/>
              <a:cxnLst/>
              <a:rect l="l" t="t" r="r" b="b"/>
              <a:pathLst>
                <a:path w="1714500" h="2057400">
                  <a:moveTo>
                    <a:pt x="0" y="0"/>
                  </a:moveTo>
                  <a:lnTo>
                    <a:pt x="1714500" y="0"/>
                  </a:lnTo>
                  <a:lnTo>
                    <a:pt x="17145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87" name="Freeform 39">
              <a:extLst>
                <a:ext uri="{FF2B5EF4-FFF2-40B4-BE49-F238E27FC236}">
                  <a16:creationId xmlns:a16="http://schemas.microsoft.com/office/drawing/2014/main" id="{104E6B09-9F54-B45B-DD95-EC4CC190955E}"/>
                </a:ext>
              </a:extLst>
            </p:cNvPr>
            <p:cNvSpPr/>
            <p:nvPr/>
          </p:nvSpPr>
          <p:spPr>
            <a:xfrm>
              <a:off x="5572810" y="2675395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81025" h="571500">
                  <a:moveTo>
                    <a:pt x="0" y="0"/>
                  </a:moveTo>
                  <a:lnTo>
                    <a:pt x="581025" y="0"/>
                  </a:lnTo>
                  <a:lnTo>
                    <a:pt x="5810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89" name="TextBox 40">
              <a:extLst>
                <a:ext uri="{FF2B5EF4-FFF2-40B4-BE49-F238E27FC236}">
                  <a16:creationId xmlns:a16="http://schemas.microsoft.com/office/drawing/2014/main" id="{A2DFE920-69CD-1896-05DE-43552F0B73A7}"/>
                </a:ext>
              </a:extLst>
            </p:cNvPr>
            <p:cNvSpPr txBox="1"/>
            <p:nvPr/>
          </p:nvSpPr>
          <p:spPr>
            <a:xfrm>
              <a:off x="5154254" y="3091494"/>
              <a:ext cx="128999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0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Context Integration:</a:t>
              </a:r>
              <a:r>
                <a:rPr lang="en-US" sz="8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 Relevant document fragments are provided to the LLM.</a:t>
              </a:r>
            </a:p>
          </p:txBody>
        </p:sp>
        <p:sp>
          <p:nvSpPr>
            <p:cNvPr id="91" name="Freeform 41">
              <a:extLst>
                <a:ext uri="{FF2B5EF4-FFF2-40B4-BE49-F238E27FC236}">
                  <a16:creationId xmlns:a16="http://schemas.microsoft.com/office/drawing/2014/main" id="{ECFAA614-55BF-1B14-A138-67AAFE29A234}"/>
                </a:ext>
              </a:extLst>
            </p:cNvPr>
            <p:cNvSpPr/>
            <p:nvPr/>
          </p:nvSpPr>
          <p:spPr>
            <a:xfrm>
              <a:off x="6525703" y="2557486"/>
              <a:ext cx="1396800" cy="1296000"/>
            </a:xfrm>
            <a:custGeom>
              <a:avLst/>
              <a:gdLst/>
              <a:ahLst/>
              <a:cxnLst/>
              <a:rect l="l" t="t" r="r" b="b"/>
              <a:pathLst>
                <a:path w="1905000" h="2057400">
                  <a:moveTo>
                    <a:pt x="0" y="0"/>
                  </a:moveTo>
                  <a:lnTo>
                    <a:pt x="1905000" y="0"/>
                  </a:lnTo>
                  <a:lnTo>
                    <a:pt x="1905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93" name="Freeform 42">
              <a:extLst>
                <a:ext uri="{FF2B5EF4-FFF2-40B4-BE49-F238E27FC236}">
                  <a16:creationId xmlns:a16="http://schemas.microsoft.com/office/drawing/2014/main" id="{DB0176CF-8258-1FDE-BF78-09971BF307EA}"/>
                </a:ext>
              </a:extLst>
            </p:cNvPr>
            <p:cNvSpPr/>
            <p:nvPr/>
          </p:nvSpPr>
          <p:spPr>
            <a:xfrm>
              <a:off x="7011710" y="2680847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95" name="TextBox 45">
              <a:extLst>
                <a:ext uri="{FF2B5EF4-FFF2-40B4-BE49-F238E27FC236}">
                  <a16:creationId xmlns:a16="http://schemas.microsoft.com/office/drawing/2014/main" id="{0AD1956A-BE84-9D43-9BB1-75462EA82176}"/>
                </a:ext>
              </a:extLst>
            </p:cNvPr>
            <p:cNvSpPr txBox="1"/>
            <p:nvPr/>
          </p:nvSpPr>
          <p:spPr>
            <a:xfrm>
              <a:off x="6581404" y="3121628"/>
              <a:ext cx="1263679" cy="4135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02"/>
                </a:lnSpc>
              </a:pPr>
              <a:r>
                <a:rPr lang="en-US" sz="8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 Bold"/>
                </a:rPr>
                <a:t>Grounded Generation:</a:t>
              </a:r>
              <a:r>
                <a:rPr lang="en-US" sz="8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Inter"/>
                </a:rPr>
                <a:t> The LLM answers based strictly on the retrieved context.</a:t>
              </a:r>
            </a:p>
          </p:txBody>
        </p:sp>
      </p:grpSp>
      <p:sp>
        <p:nvSpPr>
          <p:cNvPr id="98" name="Freeform 12">
            <a:extLst>
              <a:ext uri="{FF2B5EF4-FFF2-40B4-BE49-F238E27FC236}">
                <a16:creationId xmlns:a16="http://schemas.microsoft.com/office/drawing/2014/main" id="{AFCB5B33-FA7A-8A35-E04E-B340B64136F0}"/>
              </a:ext>
            </a:extLst>
          </p:cNvPr>
          <p:cNvSpPr/>
          <p:nvPr/>
        </p:nvSpPr>
        <p:spPr>
          <a:xfrm>
            <a:off x="103066" y="1072047"/>
            <a:ext cx="2809917" cy="3862809"/>
          </a:xfrm>
          <a:custGeom>
            <a:avLst/>
            <a:gdLst/>
            <a:ahLst/>
            <a:cxnLst/>
            <a:rect l="l" t="t" r="r" b="b"/>
            <a:pathLst>
              <a:path w="3800475" h="4295775">
                <a:moveTo>
                  <a:pt x="0" y="0"/>
                </a:moveTo>
                <a:lnTo>
                  <a:pt x="3800475" y="0"/>
                </a:lnTo>
                <a:lnTo>
                  <a:pt x="38004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00" name="TextBox 13">
            <a:extLst>
              <a:ext uri="{FF2B5EF4-FFF2-40B4-BE49-F238E27FC236}">
                <a16:creationId xmlns:a16="http://schemas.microsoft.com/office/drawing/2014/main" id="{D1D2EF3E-6AF9-AF48-027B-A7350AF8449C}"/>
              </a:ext>
            </a:extLst>
          </p:cNvPr>
          <p:cNvSpPr txBox="1"/>
          <p:nvPr/>
        </p:nvSpPr>
        <p:spPr>
          <a:xfrm>
            <a:off x="130626" y="1384402"/>
            <a:ext cx="2536868" cy="13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7413" lvl="1" indent="-198706" algn="l">
              <a:buAutoNum type="arabicPeriod"/>
            </a:pPr>
            <a:r>
              <a:rPr lang="en-US" sz="9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LEVERAGE PRIVATE CORPORATE DATA</a:t>
            </a:r>
          </a:p>
        </p:txBody>
      </p:sp>
      <p:sp>
        <p:nvSpPr>
          <p:cNvPr id="102" name="TextBox 14">
            <a:extLst>
              <a:ext uri="{FF2B5EF4-FFF2-40B4-BE49-F238E27FC236}">
                <a16:creationId xmlns:a16="http://schemas.microsoft.com/office/drawing/2014/main" id="{1E585136-AE29-4EEE-7AD6-D084CCD73485}"/>
              </a:ext>
            </a:extLst>
          </p:cNvPr>
          <p:cNvSpPr txBox="1"/>
          <p:nvPr/>
        </p:nvSpPr>
        <p:spPr>
          <a:xfrm>
            <a:off x="181428" y="1546700"/>
            <a:ext cx="2569184" cy="59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0264" lvl="1" indent="-145132" algn="l">
              <a:lnSpc>
                <a:spcPts val="1613"/>
              </a:lnSpc>
              <a:buFont typeface="Arial"/>
              <a:buChar char="•"/>
            </a:pPr>
            <a:r>
              <a:rPr lang="en-US" sz="9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Internal Document Access:</a:t>
            </a: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Access knowledge bases without retraining the model.</a:t>
            </a:r>
          </a:p>
        </p:txBody>
      </p:sp>
      <p:sp>
        <p:nvSpPr>
          <p:cNvPr id="104" name="TextBox 15">
            <a:extLst>
              <a:ext uri="{FF2B5EF4-FFF2-40B4-BE49-F238E27FC236}">
                <a16:creationId xmlns:a16="http://schemas.microsoft.com/office/drawing/2014/main" id="{D84DCC81-AF5A-F774-1AC7-28FDE172FB9E}"/>
              </a:ext>
            </a:extLst>
          </p:cNvPr>
          <p:cNvSpPr txBox="1"/>
          <p:nvPr/>
        </p:nvSpPr>
        <p:spPr>
          <a:xfrm>
            <a:off x="181428" y="2216412"/>
            <a:ext cx="2545080" cy="387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0264" lvl="1" indent="-145132" algn="l">
              <a:lnSpc>
                <a:spcPts val="1613"/>
              </a:lnSpc>
              <a:buFont typeface="Arial"/>
              <a:buChar char="•"/>
            </a:pPr>
            <a:r>
              <a:rPr lang="en-US" sz="9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Zero Retraining Costs:</a:t>
            </a: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Adding documents rather than updating parameters.</a:t>
            </a:r>
          </a:p>
        </p:txBody>
      </p:sp>
      <p:sp>
        <p:nvSpPr>
          <p:cNvPr id="106" name="TextBox 16">
            <a:extLst>
              <a:ext uri="{FF2B5EF4-FFF2-40B4-BE49-F238E27FC236}">
                <a16:creationId xmlns:a16="http://schemas.microsoft.com/office/drawing/2014/main" id="{4A298E3E-9E4A-56CD-8042-A4F76D44F037}"/>
              </a:ext>
            </a:extLst>
          </p:cNvPr>
          <p:cNvSpPr txBox="1"/>
          <p:nvPr/>
        </p:nvSpPr>
        <p:spPr>
          <a:xfrm>
            <a:off x="181427" y="2848103"/>
            <a:ext cx="2513152" cy="173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0264" lvl="1" indent="-145132" algn="l">
              <a:lnSpc>
                <a:spcPts val="1478"/>
              </a:lnSpc>
              <a:buAutoNum type="arabicPeriod"/>
            </a:pPr>
            <a:r>
              <a:rPr lang="en-US" sz="9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2. ACHIEVE REAL-TIME ACCURACY</a:t>
            </a:r>
          </a:p>
        </p:txBody>
      </p:sp>
      <p:sp>
        <p:nvSpPr>
          <p:cNvPr id="108" name="TextBox 17">
            <a:extLst>
              <a:ext uri="{FF2B5EF4-FFF2-40B4-BE49-F238E27FC236}">
                <a16:creationId xmlns:a16="http://schemas.microsoft.com/office/drawing/2014/main" id="{9EC6F392-38C1-C0BF-7C83-3CA23BDCCFA5}"/>
              </a:ext>
            </a:extLst>
          </p:cNvPr>
          <p:cNvSpPr txBox="1"/>
          <p:nvPr/>
        </p:nvSpPr>
        <p:spPr>
          <a:xfrm>
            <a:off x="181428" y="3056684"/>
            <a:ext cx="2569184" cy="59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2609" lvl="1" indent="-141305" algn="l">
              <a:lnSpc>
                <a:spcPts val="1570"/>
              </a:lnSpc>
              <a:buFont typeface="Arial"/>
              <a:buChar char="•"/>
            </a:pPr>
            <a:r>
              <a:rPr lang="en-US" sz="9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Eliminate AI Hallucinations:</a:t>
            </a: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Grounded responses ensure accuracy by citing retrieved internal content.</a:t>
            </a:r>
          </a:p>
        </p:txBody>
      </p:sp>
      <p:sp>
        <p:nvSpPr>
          <p:cNvPr id="110" name="TextBox 18">
            <a:extLst>
              <a:ext uri="{FF2B5EF4-FFF2-40B4-BE49-F238E27FC236}">
                <a16:creationId xmlns:a16="http://schemas.microsoft.com/office/drawing/2014/main" id="{0C2337F6-B925-153A-5590-80EAFF057F92}"/>
              </a:ext>
            </a:extLst>
          </p:cNvPr>
          <p:cNvSpPr txBox="1"/>
          <p:nvPr/>
        </p:nvSpPr>
        <p:spPr>
          <a:xfrm>
            <a:off x="181428" y="3729519"/>
            <a:ext cx="2569185" cy="59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0264" lvl="1" indent="-145132" algn="l">
              <a:lnSpc>
                <a:spcPts val="1613"/>
              </a:lnSpc>
              <a:buFont typeface="Arial"/>
              <a:buChar char="•"/>
            </a:pPr>
            <a:r>
              <a:rPr lang="en-US" sz="9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Real-Time Knowledge Updates:</a:t>
            </a: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Answers reflect current information as soon as documents change.</a:t>
            </a:r>
          </a:p>
        </p:txBody>
      </p:sp>
      <p:sp>
        <p:nvSpPr>
          <p:cNvPr id="112" name="Freeform 12">
            <a:extLst>
              <a:ext uri="{FF2B5EF4-FFF2-40B4-BE49-F238E27FC236}">
                <a16:creationId xmlns:a16="http://schemas.microsoft.com/office/drawing/2014/main" id="{B32764E7-5477-D5C3-D414-7D67602222D1}"/>
              </a:ext>
            </a:extLst>
          </p:cNvPr>
          <p:cNvSpPr/>
          <p:nvPr/>
        </p:nvSpPr>
        <p:spPr>
          <a:xfrm>
            <a:off x="3277301" y="3830740"/>
            <a:ext cx="5866699" cy="1091146"/>
          </a:xfrm>
          <a:custGeom>
            <a:avLst/>
            <a:gdLst/>
            <a:ahLst/>
            <a:cxnLst/>
            <a:rect l="l" t="t" r="r" b="b"/>
            <a:pathLst>
              <a:path w="3800475" h="4295775">
                <a:moveTo>
                  <a:pt x="0" y="0"/>
                </a:moveTo>
                <a:lnTo>
                  <a:pt x="3800475" y="0"/>
                </a:lnTo>
                <a:lnTo>
                  <a:pt x="38004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4" name="TextBox 47">
            <a:extLst>
              <a:ext uri="{FF2B5EF4-FFF2-40B4-BE49-F238E27FC236}">
                <a16:creationId xmlns:a16="http://schemas.microsoft.com/office/drawing/2014/main" id="{913E61C6-3CF1-C9D1-47B3-82D8CBEEF1E5}"/>
              </a:ext>
            </a:extLst>
          </p:cNvPr>
          <p:cNvSpPr txBox="1"/>
          <p:nvPr/>
        </p:nvSpPr>
        <p:spPr>
          <a:xfrm>
            <a:off x="5235121" y="4043718"/>
            <a:ext cx="1620000" cy="55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8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Healthcare Policy Compliance:</a:t>
            </a:r>
            <a:r>
              <a:rPr lang="en-US" sz="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Rapid retrieval of medical guidelines and hospital protocols.</a:t>
            </a:r>
          </a:p>
        </p:txBody>
      </p:sp>
      <p:sp>
        <p:nvSpPr>
          <p:cNvPr id="116" name="TextBox 48">
            <a:extLst>
              <a:ext uri="{FF2B5EF4-FFF2-40B4-BE49-F238E27FC236}">
                <a16:creationId xmlns:a16="http://schemas.microsoft.com/office/drawing/2014/main" id="{0E2F3FD4-BF27-79EF-947E-D7C471F9B84F}"/>
              </a:ext>
            </a:extLst>
          </p:cNvPr>
          <p:cNvSpPr txBox="1"/>
          <p:nvPr/>
        </p:nvSpPr>
        <p:spPr>
          <a:xfrm>
            <a:off x="3478115" y="4036486"/>
            <a:ext cx="1620000" cy="554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528"/>
              </a:lnSpc>
            </a:pPr>
            <a:r>
              <a:rPr lang="en-US" sz="8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Legal and Finance Intelligence:</a:t>
            </a:r>
            <a:r>
              <a:rPr lang="en-US" sz="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Instant searching across contracts, regulations, and internal reports.</a:t>
            </a:r>
          </a:p>
        </p:txBody>
      </p:sp>
      <p:sp>
        <p:nvSpPr>
          <p:cNvPr id="122" name="TextBox 49">
            <a:extLst>
              <a:ext uri="{FF2B5EF4-FFF2-40B4-BE49-F238E27FC236}">
                <a16:creationId xmlns:a16="http://schemas.microsoft.com/office/drawing/2014/main" id="{19FAE456-F007-80BE-9635-B77E79627DC5}"/>
              </a:ext>
            </a:extLst>
          </p:cNvPr>
          <p:cNvSpPr txBox="1"/>
          <p:nvPr/>
        </p:nvSpPr>
        <p:spPr>
          <a:xfrm>
            <a:off x="6871198" y="4075326"/>
            <a:ext cx="1923119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400"/>
              </a:lnSpc>
            </a:pPr>
            <a:r>
              <a:rPr lang="en-US" sz="800" b="1" dirty="0">
                <a:solidFill>
                  <a:srgbClr val="00C2E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 Bold"/>
              </a:rPr>
              <a:t>Enterprise Knowledge Management:</a:t>
            </a:r>
            <a:r>
              <a:rPr lang="en-US" sz="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Inter"/>
              </a:rPr>
              <a:t> Centralized search across internal wikis and corporate documents.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E03179F-EA81-D23D-5B05-1D2CBCA805A4}"/>
              </a:ext>
            </a:extLst>
          </p:cNvPr>
          <p:cNvSpPr txBox="1"/>
          <p:nvPr/>
        </p:nvSpPr>
        <p:spPr>
          <a:xfrm>
            <a:off x="291151" y="109973"/>
            <a:ext cx="4624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Zero Retraining</a:t>
            </a:r>
            <a:endParaRPr lang="en-IN" dirty="0">
              <a:solidFill>
                <a:schemeClr val="bg1"/>
              </a:solidFill>
              <a:latin typeface="Roboto" panose="02000000000000000000" pitchFamily="2" charset="0"/>
            </a:endParaRPr>
          </a:p>
        </p:txBody>
      </p:sp>
      <p:sp>
        <p:nvSpPr>
          <p:cNvPr id="130" name="Freeform 8">
            <a:extLst>
              <a:ext uri="{FF2B5EF4-FFF2-40B4-BE49-F238E27FC236}">
                <a16:creationId xmlns:a16="http://schemas.microsoft.com/office/drawing/2014/main" id="{8D54CDF5-BB51-4FDF-6814-BD5B87E0B7C6}"/>
              </a:ext>
            </a:extLst>
          </p:cNvPr>
          <p:cNvSpPr/>
          <p:nvPr/>
        </p:nvSpPr>
        <p:spPr>
          <a:xfrm flipV="1">
            <a:off x="365760" y="436639"/>
            <a:ext cx="1637250" cy="72000"/>
          </a:xfrm>
          <a:custGeom>
            <a:avLst/>
            <a:gdLst/>
            <a:ahLst/>
            <a:cxnLst/>
            <a:rect l="l" t="t" r="r" b="b"/>
            <a:pathLst>
              <a:path w="9296400" h="190500">
                <a:moveTo>
                  <a:pt x="0" y="0"/>
                </a:moveTo>
                <a:lnTo>
                  <a:pt x="9296400" y="0"/>
                </a:lnTo>
                <a:lnTo>
                  <a:pt x="92964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A0857BD-67B3-D1DE-AE92-7C4925388DE5}"/>
              </a:ext>
            </a:extLst>
          </p:cNvPr>
          <p:cNvSpPr txBox="1"/>
          <p:nvPr/>
        </p:nvSpPr>
        <p:spPr>
          <a:xfrm>
            <a:off x="307238" y="-137348"/>
            <a:ext cx="5302987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Mastering Autonomous AI Agents</a:t>
            </a:r>
          </a:p>
        </p:txBody>
      </p:sp>
      <p:sp>
        <p:nvSpPr>
          <p:cNvPr id="6" name="TextBox 68">
            <a:extLst>
              <a:ext uri="{FF2B5EF4-FFF2-40B4-BE49-F238E27FC236}">
                <a16:creationId xmlns:a16="http://schemas.microsoft.com/office/drawing/2014/main" id="{600F0D2C-40E4-F2B3-81D0-4AA09474B351}"/>
              </a:ext>
            </a:extLst>
          </p:cNvPr>
          <p:cNvSpPr txBox="1"/>
          <p:nvPr/>
        </p:nvSpPr>
        <p:spPr>
          <a:xfrm>
            <a:off x="307238" y="564767"/>
            <a:ext cx="734446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Combining LLM reasoning with external tools to automate complex tasks.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E3862F4-93E1-6749-5D1A-2B33C80370DE}"/>
              </a:ext>
            </a:extLst>
          </p:cNvPr>
          <p:cNvSpPr/>
          <p:nvPr/>
        </p:nvSpPr>
        <p:spPr>
          <a:xfrm>
            <a:off x="0" y="1266882"/>
            <a:ext cx="3053031" cy="3695643"/>
          </a:xfrm>
          <a:custGeom>
            <a:avLst/>
            <a:gdLst/>
            <a:ahLst/>
            <a:cxnLst/>
            <a:rect l="l" t="t" r="r" b="b"/>
            <a:pathLst>
              <a:path w="4391025" h="6391275">
                <a:moveTo>
                  <a:pt x="0" y="0"/>
                </a:moveTo>
                <a:lnTo>
                  <a:pt x="4391025" y="0"/>
                </a:lnTo>
                <a:lnTo>
                  <a:pt x="4391025" y="6391275"/>
                </a:lnTo>
                <a:lnTo>
                  <a:pt x="0" y="63912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</p:spPr>
      </p:sp>
      <p:sp>
        <p:nvSpPr>
          <p:cNvPr id="10" name="TextBox 37">
            <a:extLst>
              <a:ext uri="{FF2B5EF4-FFF2-40B4-BE49-F238E27FC236}">
                <a16:creationId xmlns:a16="http://schemas.microsoft.com/office/drawing/2014/main" id="{910982ED-8766-F222-7D79-F88F8777E459}"/>
              </a:ext>
            </a:extLst>
          </p:cNvPr>
          <p:cNvSpPr txBox="1"/>
          <p:nvPr/>
        </p:nvSpPr>
        <p:spPr>
          <a:xfrm>
            <a:off x="323774" y="564767"/>
            <a:ext cx="4067251" cy="72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5"/>
              </a:lnSpc>
            </a:pPr>
            <a:r>
              <a:rPr lang="en-US" sz="2400" b="1" dirty="0">
                <a:solidFill>
                  <a:srgbClr val="0088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Brain </a:t>
            </a:r>
            <a:r>
              <a:rPr lang="en-US" sz="24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+ </a:t>
            </a:r>
            <a:r>
              <a:rPr lang="en-US" sz="2400" b="1" dirty="0">
                <a:solidFill>
                  <a:srgbClr val="C4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Hands</a:t>
            </a: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727A7A88-ECE2-D12A-5238-4358C367C24D}"/>
              </a:ext>
            </a:extLst>
          </p:cNvPr>
          <p:cNvSpPr/>
          <p:nvPr/>
        </p:nvSpPr>
        <p:spPr>
          <a:xfrm>
            <a:off x="104775" y="1433370"/>
            <a:ext cx="900000" cy="720000"/>
          </a:xfrm>
          <a:custGeom>
            <a:avLst/>
            <a:gdLst/>
            <a:ahLst/>
            <a:cxnLst/>
            <a:rect l="l" t="t" r="r" b="b"/>
            <a:pathLst>
              <a:path w="1466850" h="1323975">
                <a:moveTo>
                  <a:pt x="0" y="0"/>
                </a:moveTo>
                <a:lnTo>
                  <a:pt x="1466850" y="0"/>
                </a:lnTo>
                <a:lnTo>
                  <a:pt x="14668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35546824-8C2C-A66A-3ABA-34D02CC0D008}"/>
              </a:ext>
            </a:extLst>
          </p:cNvPr>
          <p:cNvSpPr txBox="1"/>
          <p:nvPr/>
        </p:nvSpPr>
        <p:spPr>
          <a:xfrm>
            <a:off x="1004775" y="1414904"/>
            <a:ext cx="22238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900" b="1" dirty="0">
                <a:solidFill>
                  <a:srgbClr val="0088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The Brain: LLM Reasoning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75FE9258-B913-EBC4-24D2-136EC95E2BB9}"/>
              </a:ext>
            </a:extLst>
          </p:cNvPr>
          <p:cNvSpPr txBox="1"/>
          <p:nvPr/>
        </p:nvSpPr>
        <p:spPr>
          <a:xfrm>
            <a:off x="1004775" y="1698836"/>
            <a:ext cx="204825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Core model provides logic.</a:t>
            </a:r>
          </a:p>
          <a:p>
            <a:pPr algn="l">
              <a:lnSpc>
                <a:spcPts val="1683"/>
              </a:lnSpc>
            </a:pPr>
            <a:r>
              <a:rPr lang="en-US" sz="9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Reasoning and planning capabilities.</a:t>
            </a:r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5A92295-0F7A-ED5A-D271-8A64B376EF58}"/>
              </a:ext>
            </a:extLst>
          </p:cNvPr>
          <p:cNvSpPr/>
          <p:nvPr/>
        </p:nvSpPr>
        <p:spPr>
          <a:xfrm>
            <a:off x="104775" y="2300622"/>
            <a:ext cx="900000" cy="720000"/>
          </a:xfrm>
          <a:custGeom>
            <a:avLst/>
            <a:gdLst/>
            <a:ahLst/>
            <a:cxnLst/>
            <a:rect l="l" t="t" r="r" b="b"/>
            <a:pathLst>
              <a:path w="1466850" h="1323975">
                <a:moveTo>
                  <a:pt x="0" y="0"/>
                </a:moveTo>
                <a:lnTo>
                  <a:pt x="1466850" y="0"/>
                </a:lnTo>
                <a:lnTo>
                  <a:pt x="14668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0E4D9506-52BD-0144-4D17-73C1E5FA88DA}"/>
              </a:ext>
            </a:extLst>
          </p:cNvPr>
          <p:cNvSpPr txBox="1"/>
          <p:nvPr/>
        </p:nvSpPr>
        <p:spPr>
          <a:xfrm>
            <a:off x="1004775" y="2543806"/>
            <a:ext cx="2048256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9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External software and APIs.</a:t>
            </a:r>
          </a:p>
          <a:p>
            <a:pPr algn="l">
              <a:lnSpc>
                <a:spcPts val="1832"/>
              </a:lnSpc>
            </a:pPr>
            <a:r>
              <a:rPr lang="en-US" sz="9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Perform actions.</a:t>
            </a:r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86CAC4FA-146F-800B-FF28-8D8F8DF86ED5}"/>
              </a:ext>
            </a:extLst>
          </p:cNvPr>
          <p:cNvSpPr/>
          <p:nvPr/>
        </p:nvSpPr>
        <p:spPr>
          <a:xfrm>
            <a:off x="104775" y="3128919"/>
            <a:ext cx="900000" cy="720000"/>
          </a:xfrm>
          <a:custGeom>
            <a:avLst/>
            <a:gdLst/>
            <a:ahLst/>
            <a:cxnLst/>
            <a:rect l="l" t="t" r="r" b="b"/>
            <a:pathLst>
              <a:path w="1466850" h="1323975">
                <a:moveTo>
                  <a:pt x="0" y="0"/>
                </a:moveTo>
                <a:lnTo>
                  <a:pt x="1466850" y="0"/>
                </a:lnTo>
                <a:lnTo>
                  <a:pt x="14668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D6F26ACD-9ED7-C61F-589C-D6B459E3EAE0}"/>
              </a:ext>
            </a:extLst>
          </p:cNvPr>
          <p:cNvSpPr txBox="1"/>
          <p:nvPr/>
        </p:nvSpPr>
        <p:spPr>
          <a:xfrm>
            <a:off x="1004775" y="3132420"/>
            <a:ext cx="2457907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900" b="1" dirty="0">
                <a:solidFill>
                  <a:srgbClr val="0088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Autonomous Task Completion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F2DF6587-F3A0-2231-45B2-C4D12B825107}"/>
              </a:ext>
            </a:extLst>
          </p:cNvPr>
          <p:cNvSpPr txBox="1"/>
          <p:nvPr/>
        </p:nvSpPr>
        <p:spPr>
          <a:xfrm>
            <a:off x="1004775" y="3402515"/>
            <a:ext cx="2457907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9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Agents coordinate multiple steps.</a:t>
            </a:r>
          </a:p>
          <a:p>
            <a:pPr algn="l">
              <a:lnSpc>
                <a:spcPts val="1683"/>
              </a:lnSpc>
            </a:pPr>
            <a:r>
              <a:rPr lang="en-US" sz="9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Achieve real-world goals independently.</a:t>
            </a: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E2BFB7BA-252E-949B-6B67-AEB6CDB9226F}"/>
              </a:ext>
            </a:extLst>
          </p:cNvPr>
          <p:cNvSpPr/>
          <p:nvPr/>
        </p:nvSpPr>
        <p:spPr>
          <a:xfrm>
            <a:off x="104775" y="3773620"/>
            <a:ext cx="1260000" cy="1080000"/>
          </a:xfrm>
          <a:custGeom>
            <a:avLst/>
            <a:gdLst/>
            <a:ahLst/>
            <a:cxnLst/>
            <a:rect l="l" t="t" r="r" b="b"/>
            <a:pathLst>
              <a:path w="2752725" h="2076450">
                <a:moveTo>
                  <a:pt x="0" y="0"/>
                </a:moveTo>
                <a:lnTo>
                  <a:pt x="2752725" y="0"/>
                </a:lnTo>
                <a:lnTo>
                  <a:pt x="2752725" y="2076450"/>
                </a:ln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1" name="TextBox 38">
            <a:extLst>
              <a:ext uri="{FF2B5EF4-FFF2-40B4-BE49-F238E27FC236}">
                <a16:creationId xmlns:a16="http://schemas.microsoft.com/office/drawing/2014/main" id="{CD6D871C-3BAE-38BD-0223-15453325F46F}"/>
              </a:ext>
            </a:extLst>
          </p:cNvPr>
          <p:cNvSpPr txBox="1"/>
          <p:nvPr/>
        </p:nvSpPr>
        <p:spPr>
          <a:xfrm>
            <a:off x="1004775" y="2279295"/>
            <a:ext cx="2340864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900" b="1" dirty="0">
                <a:solidFill>
                  <a:srgbClr val="C4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The Hands: Integrated Tools</a:t>
            </a:r>
          </a:p>
        </p:txBody>
      </p:sp>
      <p:sp>
        <p:nvSpPr>
          <p:cNvPr id="51" name="Freeform 28">
            <a:extLst>
              <a:ext uri="{FF2B5EF4-FFF2-40B4-BE49-F238E27FC236}">
                <a16:creationId xmlns:a16="http://schemas.microsoft.com/office/drawing/2014/main" id="{C87CBBDB-58FF-DAE7-F716-42B909563CF9}"/>
              </a:ext>
            </a:extLst>
          </p:cNvPr>
          <p:cNvSpPr/>
          <p:nvPr/>
        </p:nvSpPr>
        <p:spPr>
          <a:xfrm>
            <a:off x="6914381" y="573165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476375" h="1504950">
                <a:moveTo>
                  <a:pt x="0" y="0"/>
                </a:moveTo>
                <a:lnTo>
                  <a:pt x="1476375" y="0"/>
                </a:lnTo>
                <a:lnTo>
                  <a:pt x="1476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774744D-B256-78D8-1DEB-46A2ADDE5710}"/>
              </a:ext>
            </a:extLst>
          </p:cNvPr>
          <p:cNvGrpSpPr/>
          <p:nvPr/>
        </p:nvGrpSpPr>
        <p:grpSpPr>
          <a:xfrm>
            <a:off x="3097506" y="1756794"/>
            <a:ext cx="3434263" cy="2632367"/>
            <a:chOff x="3187479" y="935147"/>
            <a:chExt cx="3434263" cy="2632367"/>
          </a:xfrm>
        </p:grpSpPr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F0B086AA-333D-ED53-B354-71E10E3E9A6F}"/>
                </a:ext>
              </a:extLst>
            </p:cNvPr>
            <p:cNvSpPr/>
            <p:nvPr/>
          </p:nvSpPr>
          <p:spPr>
            <a:xfrm>
              <a:off x="3187479" y="935147"/>
              <a:ext cx="2891906" cy="2632367"/>
            </a:xfrm>
            <a:custGeom>
              <a:avLst/>
              <a:gdLst/>
              <a:ahLst/>
              <a:cxnLst/>
              <a:rect l="l" t="t" r="r" b="b"/>
              <a:pathLst>
                <a:path w="5124450" h="6391275">
                  <a:moveTo>
                    <a:pt x="0" y="0"/>
                  </a:moveTo>
                  <a:lnTo>
                    <a:pt x="5124450" y="0"/>
                  </a:lnTo>
                  <a:lnTo>
                    <a:pt x="5124450" y="6391275"/>
                  </a:lnTo>
                  <a:lnTo>
                    <a:pt x="0" y="6391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5305FD08-C25D-3A6E-2531-8AF5F29AB2B1}"/>
                </a:ext>
              </a:extLst>
            </p:cNvPr>
            <p:cNvSpPr/>
            <p:nvPr/>
          </p:nvSpPr>
          <p:spPr>
            <a:xfrm>
              <a:off x="3235110" y="1357795"/>
              <a:ext cx="540000" cy="540000"/>
            </a:xfrm>
            <a:custGeom>
              <a:avLst/>
              <a:gdLst/>
              <a:ahLst/>
              <a:cxnLst/>
              <a:rect l="l" t="t" r="r" b="b"/>
              <a:pathLst>
                <a:path w="552450" h="571500">
                  <a:moveTo>
                    <a:pt x="0" y="0"/>
                  </a:moveTo>
                  <a:lnTo>
                    <a:pt x="552450" y="0"/>
                  </a:lnTo>
                  <a:lnTo>
                    <a:pt x="5524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7" name="TextBox 21">
              <a:extLst>
                <a:ext uri="{FF2B5EF4-FFF2-40B4-BE49-F238E27FC236}">
                  <a16:creationId xmlns:a16="http://schemas.microsoft.com/office/drawing/2014/main" id="{843647F5-14DC-0C73-12A7-8D305880D1C1}"/>
                </a:ext>
              </a:extLst>
            </p:cNvPr>
            <p:cNvSpPr txBox="1"/>
            <p:nvPr/>
          </p:nvSpPr>
          <p:spPr>
            <a:xfrm>
              <a:off x="3900488" y="1586670"/>
              <a:ext cx="2721254" cy="276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Run Python code.</a:t>
              </a:r>
            </a:p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Query enterprise databases for analysis.</a:t>
              </a:r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5521FC24-CB6E-3F6B-0160-0A96CB2F1624}"/>
                </a:ext>
              </a:extLst>
            </p:cNvPr>
            <p:cNvSpPr/>
            <p:nvPr/>
          </p:nvSpPr>
          <p:spPr>
            <a:xfrm>
              <a:off x="3323002" y="2031874"/>
              <a:ext cx="540000" cy="540000"/>
            </a:xfrm>
            <a:custGeom>
              <a:avLst/>
              <a:gdLst/>
              <a:ahLst/>
              <a:cxnLst/>
              <a:rect l="l" t="t" r="r" b="b"/>
              <a:pathLst>
                <a:path w="733425" h="752475">
                  <a:moveTo>
                    <a:pt x="0" y="0"/>
                  </a:moveTo>
                  <a:lnTo>
                    <a:pt x="733425" y="0"/>
                  </a:lnTo>
                  <a:lnTo>
                    <a:pt x="733425" y="752475"/>
                  </a:lnTo>
                  <a:lnTo>
                    <a:pt x="0" y="752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5643FAB3-A2A5-F8E7-BA8F-E5BF4ADE88FD}"/>
                </a:ext>
              </a:extLst>
            </p:cNvPr>
            <p:cNvSpPr txBox="1"/>
            <p:nvPr/>
          </p:nvSpPr>
          <p:spPr>
            <a:xfrm>
              <a:off x="3963125" y="2138100"/>
              <a:ext cx="2077517" cy="13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400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Knowledge Reveal (RAG)</a:t>
              </a:r>
            </a:p>
          </p:txBody>
        </p:sp>
        <p:sp>
          <p:nvSpPr>
            <p:cNvPr id="43" name="TextBox 24">
              <a:extLst>
                <a:ext uri="{FF2B5EF4-FFF2-40B4-BE49-F238E27FC236}">
                  <a16:creationId xmlns:a16="http://schemas.microsoft.com/office/drawing/2014/main" id="{19EB8DCA-6DFB-61A0-E17B-47368E49F95D}"/>
                </a:ext>
              </a:extLst>
            </p:cNvPr>
            <p:cNvSpPr txBox="1"/>
            <p:nvPr/>
          </p:nvSpPr>
          <p:spPr>
            <a:xfrm>
              <a:off x="3940683" y="2332641"/>
              <a:ext cx="2282342" cy="276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Search company manuals.</a:t>
              </a:r>
            </a:p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Search PDFs for specific context.</a:t>
              </a:r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C867D539-A49C-D313-02B4-FB726FF4FEA8}"/>
                </a:ext>
              </a:extLst>
            </p:cNvPr>
            <p:cNvSpPr/>
            <p:nvPr/>
          </p:nvSpPr>
          <p:spPr>
            <a:xfrm>
              <a:off x="3317326" y="2691047"/>
              <a:ext cx="540000" cy="540000"/>
            </a:xfrm>
            <a:custGeom>
              <a:avLst/>
              <a:gdLst/>
              <a:ahLst/>
              <a:cxnLst/>
              <a:rect l="l" t="t" r="r" b="b"/>
              <a:pathLst>
                <a:path w="733425" h="571500">
                  <a:moveTo>
                    <a:pt x="0" y="0"/>
                  </a:moveTo>
                  <a:lnTo>
                    <a:pt x="733425" y="0"/>
                  </a:lnTo>
                  <a:lnTo>
                    <a:pt x="73342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47" name="TextBox 26">
              <a:extLst>
                <a:ext uri="{FF2B5EF4-FFF2-40B4-BE49-F238E27FC236}">
                  <a16:creationId xmlns:a16="http://schemas.microsoft.com/office/drawing/2014/main" id="{1DFCC8F3-C141-0E6F-56D3-95CCE26AEF45}"/>
                </a:ext>
              </a:extLst>
            </p:cNvPr>
            <p:cNvSpPr txBox="1"/>
            <p:nvPr/>
          </p:nvSpPr>
          <p:spPr>
            <a:xfrm>
              <a:off x="3963125" y="2829124"/>
              <a:ext cx="2136038" cy="13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08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Communication &amp; Outreach</a:t>
              </a:r>
            </a:p>
          </p:txBody>
        </p:sp>
        <p:sp>
          <p:nvSpPr>
            <p:cNvPr id="49" name="TextBox 27">
              <a:extLst>
                <a:ext uri="{FF2B5EF4-FFF2-40B4-BE49-F238E27FC236}">
                  <a16:creationId xmlns:a16="http://schemas.microsoft.com/office/drawing/2014/main" id="{64EA696C-6591-1276-24E6-2CF557B006D6}"/>
                </a:ext>
              </a:extLst>
            </p:cNvPr>
            <p:cNvSpPr txBox="1"/>
            <p:nvPr/>
          </p:nvSpPr>
          <p:spPr>
            <a:xfrm>
              <a:off x="3953031" y="3020622"/>
              <a:ext cx="2282342" cy="276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Send emails.</a:t>
              </a:r>
            </a:p>
            <a:p>
              <a:pPr algn="l"/>
              <a:r>
                <a:rPr lang="en-US" sz="9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• Post updates to Slack or Teams.</a:t>
              </a:r>
            </a:p>
          </p:txBody>
        </p:sp>
        <p:sp>
          <p:nvSpPr>
            <p:cNvPr id="53" name="TextBox 39">
              <a:extLst>
                <a:ext uri="{FF2B5EF4-FFF2-40B4-BE49-F238E27FC236}">
                  <a16:creationId xmlns:a16="http://schemas.microsoft.com/office/drawing/2014/main" id="{DAFD6A20-F311-269D-A00A-1C734582B544}"/>
                </a:ext>
              </a:extLst>
            </p:cNvPr>
            <p:cNvSpPr txBox="1"/>
            <p:nvPr/>
          </p:nvSpPr>
          <p:spPr>
            <a:xfrm>
              <a:off x="3281365" y="1065690"/>
              <a:ext cx="2487168" cy="28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8"/>
                </a:lnSpc>
              </a:pPr>
              <a:r>
                <a:rPr lang="en-US" sz="1734" b="1" dirty="0">
                  <a:solidFill>
                    <a:srgbClr val="C400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Essential Agent Tools</a:t>
              </a:r>
            </a:p>
          </p:txBody>
        </p:sp>
        <p:sp>
          <p:nvSpPr>
            <p:cNvPr id="55" name="TextBox 40">
              <a:extLst>
                <a:ext uri="{FF2B5EF4-FFF2-40B4-BE49-F238E27FC236}">
                  <a16:creationId xmlns:a16="http://schemas.microsoft.com/office/drawing/2014/main" id="{6BC9605C-4BD6-5A3C-7FFC-1C51F75083ED}"/>
                </a:ext>
              </a:extLst>
            </p:cNvPr>
            <p:cNvSpPr txBox="1"/>
            <p:nvPr/>
          </p:nvSpPr>
          <p:spPr>
            <a:xfrm>
              <a:off x="3963125" y="1414904"/>
              <a:ext cx="1784909" cy="13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088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Data &amp; Code Execution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46E1BBC-EC1A-0A71-C302-6D84A9600081}"/>
              </a:ext>
            </a:extLst>
          </p:cNvPr>
          <p:cNvGrpSpPr/>
          <p:nvPr/>
        </p:nvGrpSpPr>
        <p:grpSpPr>
          <a:xfrm>
            <a:off x="6204888" y="1764122"/>
            <a:ext cx="2784352" cy="2649499"/>
            <a:chOff x="6099163" y="1713462"/>
            <a:chExt cx="2784352" cy="2649499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695C1DB9-A72B-421C-C3A4-FBDB8AA0CCD3}"/>
                </a:ext>
              </a:extLst>
            </p:cNvPr>
            <p:cNvGrpSpPr/>
            <p:nvPr/>
          </p:nvGrpSpPr>
          <p:grpSpPr>
            <a:xfrm>
              <a:off x="6099163" y="1713462"/>
              <a:ext cx="1055138" cy="2648003"/>
              <a:chOff x="6159629" y="2205617"/>
              <a:chExt cx="1055138" cy="2648003"/>
            </a:xfrm>
          </p:grpSpPr>
          <p:sp>
            <p:nvSpPr>
              <p:cNvPr id="118" name="Freeform 7">
                <a:extLst>
                  <a:ext uri="{FF2B5EF4-FFF2-40B4-BE49-F238E27FC236}">
                    <a16:creationId xmlns:a16="http://schemas.microsoft.com/office/drawing/2014/main" id="{BCC3E63A-EC40-44BF-E51B-D11C8ABCDCF3}"/>
                  </a:ext>
                </a:extLst>
              </p:cNvPr>
              <p:cNvSpPr/>
              <p:nvPr/>
            </p:nvSpPr>
            <p:spPr>
              <a:xfrm>
                <a:off x="6159629" y="2221253"/>
                <a:ext cx="1055138" cy="2632367"/>
              </a:xfrm>
              <a:custGeom>
                <a:avLst/>
                <a:gdLst/>
                <a:ahLst/>
                <a:cxnLst/>
                <a:rect l="l" t="t" r="r" b="b"/>
                <a:pathLst>
                  <a:path w="4391025" h="6391275">
                    <a:moveTo>
                      <a:pt x="0" y="0"/>
                    </a:moveTo>
                    <a:lnTo>
                      <a:pt x="4391025" y="0"/>
                    </a:lnTo>
                    <a:lnTo>
                      <a:pt x="4391025" y="6391275"/>
                    </a:lnTo>
                    <a:lnTo>
                      <a:pt x="0" y="63912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7000"/>
                </a:srgbClr>
              </a:solidFill>
            </p:spPr>
          </p:sp>
          <p:sp>
            <p:nvSpPr>
              <p:cNvPr id="99" name="TextBox 30">
                <a:extLst>
                  <a:ext uri="{FF2B5EF4-FFF2-40B4-BE49-F238E27FC236}">
                    <a16:creationId xmlns:a16="http://schemas.microsoft.com/office/drawing/2014/main" id="{9286F95F-DCB8-02BD-FCD1-A9D23530A95C}"/>
                  </a:ext>
                </a:extLst>
              </p:cNvPr>
              <p:cNvSpPr txBox="1"/>
              <p:nvPr/>
            </p:nvSpPr>
            <p:spPr>
              <a:xfrm>
                <a:off x="6204104" y="2205617"/>
                <a:ext cx="898455" cy="23724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2130"/>
                  </a:lnSpc>
                </a:pPr>
                <a:r>
                  <a:rPr lang="en-US" sz="1100" b="1" dirty="0">
                    <a:solidFill>
                      <a:srgbClr val="0088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 Bold"/>
                  </a:rPr>
                  <a:t>Human Action</a:t>
                </a:r>
              </a:p>
            </p:txBody>
          </p:sp>
          <p:sp>
            <p:nvSpPr>
              <p:cNvPr id="104" name="TextBox 56">
                <a:extLst>
                  <a:ext uri="{FF2B5EF4-FFF2-40B4-BE49-F238E27FC236}">
                    <a16:creationId xmlns:a16="http://schemas.microsoft.com/office/drawing/2014/main" id="{9B5F5DED-0229-4DB4-62BC-DBAEEC3D1B84}"/>
                  </a:ext>
                </a:extLst>
              </p:cNvPr>
              <p:cNvSpPr txBox="1"/>
              <p:nvPr/>
            </p:nvSpPr>
            <p:spPr>
              <a:xfrm>
                <a:off x="6204104" y="2609966"/>
                <a:ext cx="605935" cy="17953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34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Uses Google</a:t>
                </a:r>
              </a:p>
            </p:txBody>
          </p:sp>
          <p:sp>
            <p:nvSpPr>
              <p:cNvPr id="106" name="TextBox 58">
                <a:extLst>
                  <a:ext uri="{FF2B5EF4-FFF2-40B4-BE49-F238E27FC236}">
                    <a16:creationId xmlns:a16="http://schemas.microsoft.com/office/drawing/2014/main" id="{2C030E69-B9EC-0A78-EAE4-114C4612A11A}"/>
                  </a:ext>
                </a:extLst>
              </p:cNvPr>
              <p:cNvSpPr txBox="1"/>
              <p:nvPr/>
            </p:nvSpPr>
            <p:spPr>
              <a:xfrm>
                <a:off x="6204104" y="2985816"/>
                <a:ext cx="543252" cy="1891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83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Uses Excel</a:t>
                </a:r>
              </a:p>
            </p:txBody>
          </p:sp>
          <p:sp>
            <p:nvSpPr>
              <p:cNvPr id="108" name="TextBox 60">
                <a:extLst>
                  <a:ext uri="{FF2B5EF4-FFF2-40B4-BE49-F238E27FC236}">
                    <a16:creationId xmlns:a16="http://schemas.microsoft.com/office/drawing/2014/main" id="{8F3EDD0B-6082-143A-5C10-F9D35F7D1799}"/>
                  </a:ext>
                </a:extLst>
              </p:cNvPr>
              <p:cNvSpPr txBox="1"/>
              <p:nvPr/>
            </p:nvSpPr>
            <p:spPr>
              <a:xfrm>
                <a:off x="6204104" y="3370747"/>
                <a:ext cx="898455" cy="17953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34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Queries Databases</a:t>
                </a:r>
              </a:p>
            </p:txBody>
          </p:sp>
          <p:sp>
            <p:nvSpPr>
              <p:cNvPr id="110" name="TextBox 62">
                <a:extLst>
                  <a:ext uri="{FF2B5EF4-FFF2-40B4-BE49-F238E27FC236}">
                    <a16:creationId xmlns:a16="http://schemas.microsoft.com/office/drawing/2014/main" id="{6F159535-4291-21D0-DC8C-796F3ACCE47A}"/>
                  </a:ext>
                </a:extLst>
              </p:cNvPr>
              <p:cNvSpPr txBox="1"/>
              <p:nvPr/>
            </p:nvSpPr>
            <p:spPr>
              <a:xfrm>
                <a:off x="6204104" y="3760212"/>
                <a:ext cx="626829" cy="17953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584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Sends Emails</a:t>
                </a:r>
              </a:p>
            </p:txBody>
          </p:sp>
          <p:sp>
            <p:nvSpPr>
              <p:cNvPr id="112" name="TextBox 64">
                <a:extLst>
                  <a:ext uri="{FF2B5EF4-FFF2-40B4-BE49-F238E27FC236}">
                    <a16:creationId xmlns:a16="http://schemas.microsoft.com/office/drawing/2014/main" id="{8F0526CE-A9D7-8514-750B-379193668155}"/>
                  </a:ext>
                </a:extLst>
              </p:cNvPr>
              <p:cNvSpPr txBox="1"/>
              <p:nvPr/>
            </p:nvSpPr>
            <p:spPr>
              <a:xfrm>
                <a:off x="6204104" y="4136741"/>
                <a:ext cx="605935" cy="18915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83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Reads PDFs</a:t>
                </a:r>
              </a:p>
            </p:txBody>
          </p:sp>
          <p:sp>
            <p:nvSpPr>
              <p:cNvPr id="114" name="TextBox 66">
                <a:extLst>
                  <a:ext uri="{FF2B5EF4-FFF2-40B4-BE49-F238E27FC236}">
                    <a16:creationId xmlns:a16="http://schemas.microsoft.com/office/drawing/2014/main" id="{1C497292-85B2-86FF-C362-BC9EC0595484}"/>
                  </a:ext>
                </a:extLst>
              </p:cNvPr>
              <p:cNvSpPr txBox="1"/>
              <p:nvPr/>
            </p:nvSpPr>
            <p:spPr>
              <a:xfrm>
                <a:off x="6204104" y="4511918"/>
                <a:ext cx="961138" cy="17953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634"/>
                  </a:lnSpc>
                </a:pPr>
                <a:r>
                  <a:rPr lang="en-US" sz="800">
                    <a:solidFill>
                      <a:srgbClr val="FFFF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Schedules Meetings</a:t>
                </a: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D94E846-A6D7-8E1E-F1A1-D2E8E1DF8C34}"/>
                </a:ext>
              </a:extLst>
            </p:cNvPr>
            <p:cNvGrpSpPr/>
            <p:nvPr/>
          </p:nvGrpSpPr>
          <p:grpSpPr>
            <a:xfrm>
              <a:off x="7348656" y="1727601"/>
              <a:ext cx="1534859" cy="2635360"/>
              <a:chOff x="7321457" y="1736778"/>
              <a:chExt cx="1534859" cy="2635360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747DCC59-078B-1D40-3B9E-6912FCDBC0B6}"/>
                  </a:ext>
                </a:extLst>
              </p:cNvPr>
              <p:cNvGrpSpPr/>
              <p:nvPr/>
            </p:nvGrpSpPr>
            <p:grpSpPr>
              <a:xfrm>
                <a:off x="7321457" y="1739771"/>
                <a:ext cx="1534859" cy="2632367"/>
                <a:chOff x="7342062" y="1747366"/>
                <a:chExt cx="1534859" cy="2632367"/>
              </a:xfrm>
            </p:grpSpPr>
            <p:sp>
              <p:nvSpPr>
                <p:cNvPr id="121" name="Freeform 7">
                  <a:extLst>
                    <a:ext uri="{FF2B5EF4-FFF2-40B4-BE49-F238E27FC236}">
                      <a16:creationId xmlns:a16="http://schemas.microsoft.com/office/drawing/2014/main" id="{F81FBA97-D236-5AEB-7412-63EDF88ACEF7}"/>
                    </a:ext>
                  </a:extLst>
                </p:cNvPr>
                <p:cNvSpPr/>
                <p:nvPr/>
              </p:nvSpPr>
              <p:spPr>
                <a:xfrm>
                  <a:off x="7342062" y="1747366"/>
                  <a:ext cx="1523541" cy="2632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1025" h="6391275">
                      <a:moveTo>
                        <a:pt x="0" y="0"/>
                      </a:moveTo>
                      <a:lnTo>
                        <a:pt x="4391025" y="0"/>
                      </a:lnTo>
                      <a:lnTo>
                        <a:pt x="4391025" y="6391275"/>
                      </a:lnTo>
                      <a:lnTo>
                        <a:pt x="0" y="63912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>
                    <a:alpha val="27000"/>
                  </a:srgbClr>
                </a:solidFill>
              </p:spPr>
            </p:sp>
            <p:sp>
              <p:nvSpPr>
                <p:cNvPr id="105" name="TextBox 57">
                  <a:extLst>
                    <a:ext uri="{FF2B5EF4-FFF2-40B4-BE49-F238E27FC236}">
                      <a16:creationId xmlns:a16="http://schemas.microsoft.com/office/drawing/2014/main" id="{5AA8D969-9B26-0E8B-48B6-3F24F4075F98}"/>
                    </a:ext>
                  </a:extLst>
                </p:cNvPr>
                <p:cNvSpPr txBox="1"/>
                <p:nvPr/>
              </p:nvSpPr>
              <p:spPr>
                <a:xfrm>
                  <a:off x="7404746" y="2163276"/>
                  <a:ext cx="846219" cy="18196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584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Web Search Tools</a:t>
                  </a:r>
                </a:p>
              </p:txBody>
            </p:sp>
            <p:sp>
              <p:nvSpPr>
                <p:cNvPr id="107" name="TextBox 59">
                  <a:extLst>
                    <a:ext uri="{FF2B5EF4-FFF2-40B4-BE49-F238E27FC236}">
                      <a16:creationId xmlns:a16="http://schemas.microsoft.com/office/drawing/2014/main" id="{A37E8D77-0889-9A5C-6DEA-859F42144389}"/>
                    </a:ext>
                  </a:extLst>
                </p:cNvPr>
                <p:cNvSpPr txBox="1"/>
                <p:nvPr/>
              </p:nvSpPr>
              <p:spPr>
                <a:xfrm>
                  <a:off x="7414320" y="2571187"/>
                  <a:ext cx="1462601" cy="179536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584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Code Execution &amp; Spreadsheets</a:t>
                  </a:r>
                </a:p>
              </p:txBody>
            </p:sp>
            <p:sp>
              <p:nvSpPr>
                <p:cNvPr id="109" name="TextBox 61">
                  <a:extLst>
                    <a:ext uri="{FF2B5EF4-FFF2-40B4-BE49-F238E27FC236}">
                      <a16:creationId xmlns:a16="http://schemas.microsoft.com/office/drawing/2014/main" id="{589DEA01-FA85-AB20-D71E-129C3E7C8F01}"/>
                    </a:ext>
                  </a:extLst>
                </p:cNvPr>
                <p:cNvSpPr txBox="1"/>
                <p:nvPr/>
              </p:nvSpPr>
              <p:spPr>
                <a:xfrm>
                  <a:off x="7414320" y="2938708"/>
                  <a:ext cx="1379024" cy="189154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683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SQL &amp; Database Connectors</a:t>
                  </a:r>
                </a:p>
              </p:txBody>
            </p:sp>
            <p:sp>
              <p:nvSpPr>
                <p:cNvPr id="111" name="TextBox 63">
                  <a:extLst>
                    <a:ext uri="{FF2B5EF4-FFF2-40B4-BE49-F238E27FC236}">
                      <a16:creationId xmlns:a16="http://schemas.microsoft.com/office/drawing/2014/main" id="{B3DADAEF-47C6-10D0-C518-453F6F16EC06}"/>
                    </a:ext>
                  </a:extLst>
                </p:cNvPr>
                <p:cNvSpPr txBox="1"/>
                <p:nvPr/>
              </p:nvSpPr>
              <p:spPr>
                <a:xfrm>
                  <a:off x="7438719" y="3307570"/>
                  <a:ext cx="543252" cy="189154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683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Email APIs</a:t>
                  </a:r>
                </a:p>
              </p:txBody>
            </p:sp>
            <p:sp>
              <p:nvSpPr>
                <p:cNvPr id="113" name="TextBox 65">
                  <a:extLst>
                    <a:ext uri="{FF2B5EF4-FFF2-40B4-BE49-F238E27FC236}">
                      <a16:creationId xmlns:a16="http://schemas.microsoft.com/office/drawing/2014/main" id="{3E071F35-60AE-4402-43FD-E15E985A1625}"/>
                    </a:ext>
                  </a:extLst>
                </p:cNvPr>
                <p:cNvSpPr txBox="1"/>
                <p:nvPr/>
              </p:nvSpPr>
              <p:spPr>
                <a:xfrm>
                  <a:off x="7421707" y="3685764"/>
                  <a:ext cx="1211869" cy="179536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634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Document Parsers &amp; RAG</a:t>
                  </a:r>
                </a:p>
              </p:txBody>
            </p:sp>
            <p:sp>
              <p:nvSpPr>
                <p:cNvPr id="115" name="TextBox 67">
                  <a:extLst>
                    <a:ext uri="{FF2B5EF4-FFF2-40B4-BE49-F238E27FC236}">
                      <a16:creationId xmlns:a16="http://schemas.microsoft.com/office/drawing/2014/main" id="{E7FDBFAE-0BF3-91F7-9F01-D82E2BD33E5B}"/>
                    </a:ext>
                  </a:extLst>
                </p:cNvPr>
                <p:cNvSpPr txBox="1"/>
                <p:nvPr/>
              </p:nvSpPr>
              <p:spPr>
                <a:xfrm>
                  <a:off x="7414320" y="4047066"/>
                  <a:ext cx="689512" cy="189154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683"/>
                    </a:lnSpc>
                  </a:pPr>
                  <a:r>
                    <a:rPr lang="en-US" sz="800" dirty="0">
                      <a:solidFill>
                        <a:srgbClr val="FFFFFF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  <a:sym typeface="Roboto"/>
                    </a:rPr>
                    <a:t>Calendar APIs</a:t>
                  </a:r>
                </a:p>
              </p:txBody>
            </p:sp>
          </p:grpSp>
          <p:sp>
            <p:nvSpPr>
              <p:cNvPr id="125" name="TextBox 57">
                <a:extLst>
                  <a:ext uri="{FF2B5EF4-FFF2-40B4-BE49-F238E27FC236}">
                    <a16:creationId xmlns:a16="http://schemas.microsoft.com/office/drawing/2014/main" id="{9FCBAD1D-3523-2986-F0A5-EF27C07BF2FD}"/>
                  </a:ext>
                </a:extLst>
              </p:cNvPr>
              <p:cNvSpPr txBox="1"/>
              <p:nvPr/>
            </p:nvSpPr>
            <p:spPr>
              <a:xfrm>
                <a:off x="7435031" y="1736778"/>
                <a:ext cx="1305335" cy="2372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2080"/>
                  </a:lnSpc>
                </a:pPr>
                <a:r>
                  <a:rPr lang="en-US" sz="1100" b="1" dirty="0">
                    <a:solidFill>
                      <a:srgbClr val="C400FF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 Bold"/>
                  </a:rPr>
                  <a:t>AI Agent Tool</a:t>
                </a:r>
              </a:p>
            </p:txBody>
          </p:sp>
        </p:grp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2A9C59AD-1286-1575-07E8-5190F17ECE2E}"/>
              </a:ext>
            </a:extLst>
          </p:cNvPr>
          <p:cNvSpPr txBox="1"/>
          <p:nvPr/>
        </p:nvSpPr>
        <p:spPr>
          <a:xfrm>
            <a:off x="3023500" y="1240328"/>
            <a:ext cx="2891906" cy="52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Agent </a:t>
            </a:r>
            <a:r>
              <a:rPr lang="en-US" sz="2400" dirty="0">
                <a:solidFill>
                  <a:srgbClr val="C4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Formula</a:t>
            </a:r>
          </a:p>
        </p:txBody>
      </p:sp>
    </p:spTree>
    <p:extLst>
      <p:ext uri="{BB962C8B-B14F-4D97-AF65-F5344CB8AC3E}">
        <p14:creationId xmlns:p14="http://schemas.microsoft.com/office/powerpoint/2010/main" val="1787383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58E34965-33D7-933C-22B1-CCBAE78BFA42}"/>
              </a:ext>
            </a:extLst>
          </p:cNvPr>
          <p:cNvSpPr/>
          <p:nvPr/>
        </p:nvSpPr>
        <p:spPr>
          <a:xfrm>
            <a:off x="257175" y="-1932"/>
            <a:ext cx="809625" cy="888221"/>
          </a:xfrm>
          <a:custGeom>
            <a:avLst/>
            <a:gdLst/>
            <a:ahLst/>
            <a:cxnLst/>
            <a:rect l="l" t="t" r="r" b="b"/>
            <a:pathLst>
              <a:path w="923925" h="1133475">
                <a:moveTo>
                  <a:pt x="0" y="0"/>
                </a:moveTo>
                <a:lnTo>
                  <a:pt x="923925" y="0"/>
                </a:lnTo>
                <a:lnTo>
                  <a:pt x="9239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53E4C-7B0B-56FB-F441-A3F4E837ECF3}"/>
              </a:ext>
            </a:extLst>
          </p:cNvPr>
          <p:cNvSpPr txBox="1"/>
          <p:nvPr/>
        </p:nvSpPr>
        <p:spPr>
          <a:xfrm>
            <a:off x="1287475" y="110436"/>
            <a:ext cx="6569050" cy="7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sz="4500" b="1" dirty="0">
                <a:solidFill>
                  <a:srgbClr val="00D9FF"/>
                </a:solidFill>
                <a:latin typeface="Roboto Bold"/>
                <a:ea typeface="Roboto Bold"/>
                <a:cs typeface="Roboto Bold"/>
                <a:sym typeface="Roboto Bold"/>
              </a:rPr>
              <a:t>AI </a:t>
            </a:r>
            <a:r>
              <a:rPr lang="en-US" sz="4500" b="1" dirty="0">
                <a:solidFill>
                  <a:srgbClr val="78B2FF"/>
                </a:solidFill>
                <a:latin typeface="Roboto Bold"/>
                <a:ea typeface="Roboto Bold"/>
                <a:cs typeface="Roboto Bold"/>
                <a:sym typeface="Roboto Bold"/>
              </a:rPr>
              <a:t>Memory </a:t>
            </a:r>
            <a:r>
              <a:rPr lang="en-US" sz="4500" b="1" dirty="0">
                <a:solidFill>
                  <a:srgbClr val="C450FF"/>
                </a:solidFill>
                <a:latin typeface="Roboto Bold"/>
                <a:ea typeface="Roboto Bold"/>
                <a:cs typeface="Roboto Bold"/>
                <a:sym typeface="Roboto Bold"/>
              </a:rPr>
              <a:t>Types</a:t>
            </a:r>
          </a:p>
        </p:txBody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5863BBFC-688D-A64C-22C1-D87CB28E5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450" y="809025"/>
            <a:ext cx="8820150" cy="4048725"/>
          </a:xfrm>
          <a:custGeom>
            <a:avLst/>
            <a:gdLst/>
            <a:ahLst/>
            <a:cxnLst/>
            <a:rect l="l" t="t" r="r" b="b"/>
            <a:pathLst>
              <a:path w="14268450" h="7705725">
                <a:moveTo>
                  <a:pt x="0" y="0"/>
                </a:moveTo>
                <a:lnTo>
                  <a:pt x="14268450" y="0"/>
                </a:lnTo>
                <a:lnTo>
                  <a:pt x="14268450" y="7705725"/>
                </a:lnTo>
                <a:lnTo>
                  <a:pt x="0" y="7705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8" name="Freeform 7">
            <a:extLst>
              <a:ext uri="{FF2B5EF4-FFF2-40B4-BE49-F238E27FC236}">
                <a16:creationId xmlns:a16="http://schemas.microsoft.com/office/drawing/2014/main" id="{178B2146-018F-5760-3272-83028360B7AC}"/>
              </a:ext>
            </a:extLst>
          </p:cNvPr>
          <p:cNvSpPr/>
          <p:nvPr/>
        </p:nvSpPr>
        <p:spPr>
          <a:xfrm>
            <a:off x="257175" y="886289"/>
            <a:ext cx="8505825" cy="495900"/>
          </a:xfrm>
          <a:custGeom>
            <a:avLst/>
            <a:gdLst/>
            <a:ahLst/>
            <a:cxnLst/>
            <a:rect l="l" t="t" r="r" b="b"/>
            <a:pathLst>
              <a:path w="13725525" h="942975">
                <a:moveTo>
                  <a:pt x="0" y="0"/>
                </a:moveTo>
                <a:lnTo>
                  <a:pt x="13725525" y="0"/>
                </a:lnTo>
                <a:lnTo>
                  <a:pt x="13725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0" name="Freeform 8">
            <a:extLst>
              <a:ext uri="{FF2B5EF4-FFF2-40B4-BE49-F238E27FC236}">
                <a16:creationId xmlns:a16="http://schemas.microsoft.com/office/drawing/2014/main" id="{55F548D1-540B-2856-4593-5576F736C1AB}"/>
              </a:ext>
            </a:extLst>
          </p:cNvPr>
          <p:cNvSpPr/>
          <p:nvPr/>
        </p:nvSpPr>
        <p:spPr>
          <a:xfrm>
            <a:off x="560762" y="1022189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733425" h="752475">
                <a:moveTo>
                  <a:pt x="0" y="0"/>
                </a:moveTo>
                <a:lnTo>
                  <a:pt x="733425" y="0"/>
                </a:lnTo>
                <a:lnTo>
                  <a:pt x="7334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2" name="Freeform 16">
            <a:extLst>
              <a:ext uri="{FF2B5EF4-FFF2-40B4-BE49-F238E27FC236}">
                <a16:creationId xmlns:a16="http://schemas.microsoft.com/office/drawing/2014/main" id="{F40FDDE9-5E9B-C04E-55C0-92B0884C1A5D}"/>
              </a:ext>
            </a:extLst>
          </p:cNvPr>
          <p:cNvSpPr/>
          <p:nvPr/>
        </p:nvSpPr>
        <p:spPr>
          <a:xfrm>
            <a:off x="546475" y="151724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552450" h="762000">
                <a:moveTo>
                  <a:pt x="0" y="0"/>
                </a:moveTo>
                <a:lnTo>
                  <a:pt x="552450" y="0"/>
                </a:lnTo>
                <a:lnTo>
                  <a:pt x="5524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4" name="Freeform 21">
            <a:extLst>
              <a:ext uri="{FF2B5EF4-FFF2-40B4-BE49-F238E27FC236}">
                <a16:creationId xmlns:a16="http://schemas.microsoft.com/office/drawing/2014/main" id="{693720AC-CE73-D120-1507-8CE90BC43DE5}"/>
              </a:ext>
            </a:extLst>
          </p:cNvPr>
          <p:cNvSpPr/>
          <p:nvPr/>
        </p:nvSpPr>
        <p:spPr>
          <a:xfrm>
            <a:off x="546475" y="2084069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6" name="Freeform 23">
            <a:extLst>
              <a:ext uri="{FF2B5EF4-FFF2-40B4-BE49-F238E27FC236}">
                <a16:creationId xmlns:a16="http://schemas.microsoft.com/office/drawing/2014/main" id="{239B1513-AD21-CD7A-8E87-D8E4EA6BEBAC}"/>
              </a:ext>
            </a:extLst>
          </p:cNvPr>
          <p:cNvSpPr/>
          <p:nvPr/>
        </p:nvSpPr>
        <p:spPr>
          <a:xfrm>
            <a:off x="546475" y="260114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552450" h="762000">
                <a:moveTo>
                  <a:pt x="0" y="0"/>
                </a:moveTo>
                <a:lnTo>
                  <a:pt x="552450" y="0"/>
                </a:lnTo>
                <a:lnTo>
                  <a:pt x="5524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8" name="Freeform 28">
            <a:extLst>
              <a:ext uri="{FF2B5EF4-FFF2-40B4-BE49-F238E27FC236}">
                <a16:creationId xmlns:a16="http://schemas.microsoft.com/office/drawing/2014/main" id="{8F2DE7C5-A64C-1376-E4E7-F6916405BA84}"/>
              </a:ext>
            </a:extLst>
          </p:cNvPr>
          <p:cNvSpPr/>
          <p:nvPr/>
        </p:nvSpPr>
        <p:spPr>
          <a:xfrm>
            <a:off x="546475" y="3205983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552450" h="762000">
                <a:moveTo>
                  <a:pt x="0" y="0"/>
                </a:moveTo>
                <a:lnTo>
                  <a:pt x="552450" y="0"/>
                </a:lnTo>
                <a:lnTo>
                  <a:pt x="5524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0" name="Freeform 33">
            <a:extLst>
              <a:ext uri="{FF2B5EF4-FFF2-40B4-BE49-F238E27FC236}">
                <a16:creationId xmlns:a16="http://schemas.microsoft.com/office/drawing/2014/main" id="{9A0AE5A8-53F1-0880-6C9A-6DBBEB6D1BB6}"/>
              </a:ext>
            </a:extLst>
          </p:cNvPr>
          <p:cNvSpPr/>
          <p:nvPr/>
        </p:nvSpPr>
        <p:spPr>
          <a:xfrm>
            <a:off x="481987" y="3708991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2" name="Freeform 37">
            <a:extLst>
              <a:ext uri="{FF2B5EF4-FFF2-40B4-BE49-F238E27FC236}">
                <a16:creationId xmlns:a16="http://schemas.microsoft.com/office/drawing/2014/main" id="{E3CD2A17-F8D6-1A35-2279-CB219785B0A1}"/>
              </a:ext>
            </a:extLst>
          </p:cNvPr>
          <p:cNvSpPr/>
          <p:nvPr/>
        </p:nvSpPr>
        <p:spPr>
          <a:xfrm>
            <a:off x="560762" y="431382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552450" h="752475">
                <a:moveTo>
                  <a:pt x="0" y="0"/>
                </a:moveTo>
                <a:lnTo>
                  <a:pt x="552450" y="0"/>
                </a:lnTo>
                <a:lnTo>
                  <a:pt x="5524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4" name="TextBox 9">
            <a:extLst>
              <a:ext uri="{FF2B5EF4-FFF2-40B4-BE49-F238E27FC236}">
                <a16:creationId xmlns:a16="http://schemas.microsoft.com/office/drawing/2014/main" id="{AF6EC335-8E52-F8D4-D2C8-7A01D847D2B9}"/>
              </a:ext>
            </a:extLst>
          </p:cNvPr>
          <p:cNvSpPr txBox="1"/>
          <p:nvPr/>
        </p:nvSpPr>
        <p:spPr>
          <a:xfrm>
            <a:off x="1066800" y="1022189"/>
            <a:ext cx="1755648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Memory Type</a:t>
            </a:r>
          </a:p>
        </p:txBody>
      </p:sp>
      <p:sp>
        <p:nvSpPr>
          <p:cNvPr id="106" name="TextBox 17">
            <a:extLst>
              <a:ext uri="{FF2B5EF4-FFF2-40B4-BE49-F238E27FC236}">
                <a16:creationId xmlns:a16="http://schemas.microsoft.com/office/drawing/2014/main" id="{CE1D0A29-92EB-5789-2993-993C2F66763A}"/>
              </a:ext>
            </a:extLst>
          </p:cNvPr>
          <p:cNvSpPr txBox="1"/>
          <p:nvPr/>
        </p:nvSpPr>
        <p:spPr>
          <a:xfrm>
            <a:off x="1105282" y="1609035"/>
            <a:ext cx="13021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Short-Term</a:t>
            </a:r>
          </a:p>
        </p:txBody>
      </p:sp>
      <p:sp>
        <p:nvSpPr>
          <p:cNvPr id="108" name="TextBox 24">
            <a:extLst>
              <a:ext uri="{FF2B5EF4-FFF2-40B4-BE49-F238E27FC236}">
                <a16:creationId xmlns:a16="http://schemas.microsoft.com/office/drawing/2014/main" id="{5AC9BC68-CFB7-903D-76BF-9C36C839593A}"/>
              </a:ext>
            </a:extLst>
          </p:cNvPr>
          <p:cNvSpPr txBox="1"/>
          <p:nvPr/>
        </p:nvSpPr>
        <p:spPr>
          <a:xfrm>
            <a:off x="1110692" y="2708994"/>
            <a:ext cx="1258214" cy="22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Long-Term</a:t>
            </a:r>
          </a:p>
        </p:txBody>
      </p:sp>
      <p:sp>
        <p:nvSpPr>
          <p:cNvPr id="110" name="TextBox 29">
            <a:extLst>
              <a:ext uri="{FF2B5EF4-FFF2-40B4-BE49-F238E27FC236}">
                <a16:creationId xmlns:a16="http://schemas.microsoft.com/office/drawing/2014/main" id="{A14925BD-18EE-34A8-0591-A7C58DEDF7F6}"/>
              </a:ext>
            </a:extLst>
          </p:cNvPr>
          <p:cNvSpPr txBox="1"/>
          <p:nvPr/>
        </p:nvSpPr>
        <p:spPr>
          <a:xfrm>
            <a:off x="1123873" y="3257600"/>
            <a:ext cx="980237" cy="22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Episodic</a:t>
            </a:r>
          </a:p>
        </p:txBody>
      </p:sp>
      <p:sp>
        <p:nvSpPr>
          <p:cNvPr id="112" name="TextBox 34">
            <a:extLst>
              <a:ext uri="{FF2B5EF4-FFF2-40B4-BE49-F238E27FC236}">
                <a16:creationId xmlns:a16="http://schemas.microsoft.com/office/drawing/2014/main" id="{B9AACCF4-218D-BB7B-7DEA-2BFD9564B12E}"/>
              </a:ext>
            </a:extLst>
          </p:cNvPr>
          <p:cNvSpPr txBox="1"/>
          <p:nvPr/>
        </p:nvSpPr>
        <p:spPr>
          <a:xfrm>
            <a:off x="1110692" y="3785660"/>
            <a:ext cx="1082650" cy="22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Semantic</a:t>
            </a:r>
          </a:p>
        </p:txBody>
      </p:sp>
      <p:sp>
        <p:nvSpPr>
          <p:cNvPr id="114" name="TextBox 38">
            <a:extLst>
              <a:ext uri="{FF2B5EF4-FFF2-40B4-BE49-F238E27FC236}">
                <a16:creationId xmlns:a16="http://schemas.microsoft.com/office/drawing/2014/main" id="{DEEAC15C-DBD3-44F4-55CC-EA53CA1E335D}"/>
              </a:ext>
            </a:extLst>
          </p:cNvPr>
          <p:cNvSpPr txBox="1"/>
          <p:nvPr/>
        </p:nvSpPr>
        <p:spPr>
          <a:xfrm>
            <a:off x="1105282" y="4380015"/>
            <a:ext cx="197510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Knowledge (RAG)</a:t>
            </a:r>
          </a:p>
        </p:txBody>
      </p:sp>
      <p:sp>
        <p:nvSpPr>
          <p:cNvPr id="116" name="TextBox 42">
            <a:extLst>
              <a:ext uri="{FF2B5EF4-FFF2-40B4-BE49-F238E27FC236}">
                <a16:creationId xmlns:a16="http://schemas.microsoft.com/office/drawing/2014/main" id="{0F889062-952D-A17A-A299-D928682AFA10}"/>
              </a:ext>
            </a:extLst>
          </p:cNvPr>
          <p:cNvSpPr txBox="1"/>
          <p:nvPr/>
        </p:nvSpPr>
        <p:spPr>
          <a:xfrm>
            <a:off x="1105282" y="2170421"/>
            <a:ext cx="980237" cy="22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Working</a:t>
            </a:r>
          </a:p>
        </p:txBody>
      </p:sp>
      <p:sp>
        <p:nvSpPr>
          <p:cNvPr id="118" name="Freeform 10">
            <a:extLst>
              <a:ext uri="{FF2B5EF4-FFF2-40B4-BE49-F238E27FC236}">
                <a16:creationId xmlns:a16="http://schemas.microsoft.com/office/drawing/2014/main" id="{EEB46C86-9528-01F5-4720-3A0D02B14860}"/>
              </a:ext>
            </a:extLst>
          </p:cNvPr>
          <p:cNvSpPr/>
          <p:nvPr/>
        </p:nvSpPr>
        <p:spPr>
          <a:xfrm>
            <a:off x="2900386" y="935799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733425" h="571500">
                <a:moveTo>
                  <a:pt x="0" y="0"/>
                </a:moveTo>
                <a:lnTo>
                  <a:pt x="733425" y="0"/>
                </a:lnTo>
                <a:lnTo>
                  <a:pt x="7334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0" name="Freeform 12">
            <a:extLst>
              <a:ext uri="{FF2B5EF4-FFF2-40B4-BE49-F238E27FC236}">
                <a16:creationId xmlns:a16="http://schemas.microsoft.com/office/drawing/2014/main" id="{6C298B20-F871-3C05-298E-84E39CB8727C}"/>
              </a:ext>
            </a:extLst>
          </p:cNvPr>
          <p:cNvSpPr/>
          <p:nvPr/>
        </p:nvSpPr>
        <p:spPr>
          <a:xfrm>
            <a:off x="4962525" y="942811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742950" h="571500">
                <a:moveTo>
                  <a:pt x="0" y="0"/>
                </a:moveTo>
                <a:lnTo>
                  <a:pt x="742950" y="0"/>
                </a:lnTo>
                <a:lnTo>
                  <a:pt x="742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2" name="Freeform 14">
            <a:extLst>
              <a:ext uri="{FF2B5EF4-FFF2-40B4-BE49-F238E27FC236}">
                <a16:creationId xmlns:a16="http://schemas.microsoft.com/office/drawing/2014/main" id="{F566F69F-BCBD-8E85-CB7A-08A8AFE799A5}"/>
              </a:ext>
            </a:extLst>
          </p:cNvPr>
          <p:cNvSpPr/>
          <p:nvPr/>
        </p:nvSpPr>
        <p:spPr>
          <a:xfrm>
            <a:off x="6942149" y="99689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733425" h="752475">
                <a:moveTo>
                  <a:pt x="0" y="0"/>
                </a:moveTo>
                <a:lnTo>
                  <a:pt x="733425" y="0"/>
                </a:lnTo>
                <a:lnTo>
                  <a:pt x="7334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24" name="TextBox 11">
            <a:extLst>
              <a:ext uri="{FF2B5EF4-FFF2-40B4-BE49-F238E27FC236}">
                <a16:creationId xmlns:a16="http://schemas.microsoft.com/office/drawing/2014/main" id="{6042B27D-C503-1CE8-C880-99AEF4C1AB18}"/>
              </a:ext>
            </a:extLst>
          </p:cNvPr>
          <p:cNvSpPr txBox="1"/>
          <p:nvPr/>
        </p:nvSpPr>
        <p:spPr>
          <a:xfrm>
            <a:off x="3338324" y="1012571"/>
            <a:ext cx="1082650" cy="26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Purpose</a:t>
            </a:r>
          </a:p>
        </p:txBody>
      </p:sp>
      <p:sp>
        <p:nvSpPr>
          <p:cNvPr id="126" name="TextBox 13">
            <a:extLst>
              <a:ext uri="{FF2B5EF4-FFF2-40B4-BE49-F238E27FC236}">
                <a16:creationId xmlns:a16="http://schemas.microsoft.com/office/drawing/2014/main" id="{CFA1FCA6-DDF3-948F-6FAE-BE3FDD49D038}"/>
              </a:ext>
            </a:extLst>
          </p:cNvPr>
          <p:cNvSpPr txBox="1"/>
          <p:nvPr/>
        </p:nvSpPr>
        <p:spPr>
          <a:xfrm>
            <a:off x="5354222" y="997383"/>
            <a:ext cx="1141171" cy="26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1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Duration</a:t>
            </a:r>
          </a:p>
        </p:txBody>
      </p:sp>
      <p:sp>
        <p:nvSpPr>
          <p:cNvPr id="128" name="TextBox 15">
            <a:extLst>
              <a:ext uri="{FF2B5EF4-FFF2-40B4-BE49-F238E27FC236}">
                <a16:creationId xmlns:a16="http://schemas.microsoft.com/office/drawing/2014/main" id="{01188E46-31F2-05BA-B45F-362062036BDC}"/>
              </a:ext>
            </a:extLst>
          </p:cNvPr>
          <p:cNvSpPr txBox="1"/>
          <p:nvPr/>
        </p:nvSpPr>
        <p:spPr>
          <a:xfrm>
            <a:off x="7338232" y="1015678"/>
            <a:ext cx="172638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Technologies</a:t>
            </a:r>
          </a:p>
        </p:txBody>
      </p:sp>
      <p:sp>
        <p:nvSpPr>
          <p:cNvPr id="130" name="TextBox 18">
            <a:extLst>
              <a:ext uri="{FF2B5EF4-FFF2-40B4-BE49-F238E27FC236}">
                <a16:creationId xmlns:a16="http://schemas.microsoft.com/office/drawing/2014/main" id="{9F157339-10A4-CE1D-4698-ED52517A43BE}"/>
              </a:ext>
            </a:extLst>
          </p:cNvPr>
          <p:cNvSpPr txBox="1"/>
          <p:nvPr/>
        </p:nvSpPr>
        <p:spPr>
          <a:xfrm>
            <a:off x="2957934" y="1576648"/>
            <a:ext cx="2926080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Keep conversation coherent</a:t>
            </a:r>
          </a:p>
        </p:txBody>
      </p:sp>
      <p:sp>
        <p:nvSpPr>
          <p:cNvPr id="132" name="TextBox 25">
            <a:extLst>
              <a:ext uri="{FF2B5EF4-FFF2-40B4-BE49-F238E27FC236}">
                <a16:creationId xmlns:a16="http://schemas.microsoft.com/office/drawing/2014/main" id="{CE314A77-4EE0-7669-2BF0-789B0D02A970}"/>
              </a:ext>
            </a:extLst>
          </p:cNvPr>
          <p:cNvSpPr txBox="1"/>
          <p:nvPr/>
        </p:nvSpPr>
        <p:spPr>
          <a:xfrm>
            <a:off x="2974238" y="2701324"/>
            <a:ext cx="248716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 interactions</a:t>
            </a:r>
          </a:p>
        </p:txBody>
      </p:sp>
      <p:sp>
        <p:nvSpPr>
          <p:cNvPr id="134" name="TextBox 30">
            <a:extLst>
              <a:ext uri="{FF2B5EF4-FFF2-40B4-BE49-F238E27FC236}">
                <a16:creationId xmlns:a16="http://schemas.microsoft.com/office/drawing/2014/main" id="{D71630B5-C1CD-B759-3F8D-FCC0F1AEF5C1}"/>
              </a:ext>
            </a:extLst>
          </p:cNvPr>
          <p:cNvSpPr txBox="1"/>
          <p:nvPr/>
        </p:nvSpPr>
        <p:spPr>
          <a:xfrm>
            <a:off x="2974238" y="3241432"/>
            <a:ext cx="296997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Recall past events/outcomes</a:t>
            </a:r>
          </a:p>
        </p:txBody>
      </p:sp>
      <p:sp>
        <p:nvSpPr>
          <p:cNvPr id="136" name="TextBox 35">
            <a:extLst>
              <a:ext uri="{FF2B5EF4-FFF2-40B4-BE49-F238E27FC236}">
                <a16:creationId xmlns:a16="http://schemas.microsoft.com/office/drawing/2014/main" id="{10526C22-466D-10F4-0CE3-1A81A747F640}"/>
              </a:ext>
            </a:extLst>
          </p:cNvPr>
          <p:cNvSpPr txBox="1"/>
          <p:nvPr/>
        </p:nvSpPr>
        <p:spPr>
          <a:xfrm>
            <a:off x="2962960" y="3769353"/>
            <a:ext cx="296997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Store stable facts/knowledge</a:t>
            </a:r>
          </a:p>
        </p:txBody>
      </p:sp>
      <p:sp>
        <p:nvSpPr>
          <p:cNvPr id="138" name="TextBox 39">
            <a:extLst>
              <a:ext uri="{FF2B5EF4-FFF2-40B4-BE49-F238E27FC236}">
                <a16:creationId xmlns:a16="http://schemas.microsoft.com/office/drawing/2014/main" id="{0D84926A-7C5E-F44C-311A-AC9643F6671C}"/>
              </a:ext>
            </a:extLst>
          </p:cNvPr>
          <p:cNvSpPr txBox="1"/>
          <p:nvPr/>
        </p:nvSpPr>
        <p:spPr>
          <a:xfrm>
            <a:off x="2977226" y="4348864"/>
            <a:ext cx="2165299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Retrieve external info</a:t>
            </a:r>
          </a:p>
        </p:txBody>
      </p:sp>
      <p:sp>
        <p:nvSpPr>
          <p:cNvPr id="140" name="TextBox 43">
            <a:extLst>
              <a:ext uri="{FF2B5EF4-FFF2-40B4-BE49-F238E27FC236}">
                <a16:creationId xmlns:a16="http://schemas.microsoft.com/office/drawing/2014/main" id="{6F6D8D48-C676-56B6-C5DE-1942265D88AC}"/>
              </a:ext>
            </a:extLst>
          </p:cNvPr>
          <p:cNvSpPr txBox="1"/>
          <p:nvPr/>
        </p:nvSpPr>
        <p:spPr>
          <a:xfrm>
            <a:off x="2957934" y="2144305"/>
            <a:ext cx="2048256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 task progress</a:t>
            </a:r>
          </a:p>
        </p:txBody>
      </p:sp>
      <p:sp>
        <p:nvSpPr>
          <p:cNvPr id="142" name="TextBox 19">
            <a:extLst>
              <a:ext uri="{FF2B5EF4-FFF2-40B4-BE49-F238E27FC236}">
                <a16:creationId xmlns:a16="http://schemas.microsoft.com/office/drawing/2014/main" id="{706DA1D1-AD47-6953-C35C-74A9C760CF2E}"/>
              </a:ext>
            </a:extLst>
          </p:cNvPr>
          <p:cNvSpPr txBox="1"/>
          <p:nvPr/>
        </p:nvSpPr>
        <p:spPr>
          <a:xfrm>
            <a:off x="5006190" y="1584878"/>
            <a:ext cx="1609344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Current session</a:t>
            </a:r>
          </a:p>
        </p:txBody>
      </p:sp>
      <p:sp>
        <p:nvSpPr>
          <p:cNvPr id="144" name="TextBox 26">
            <a:extLst>
              <a:ext uri="{FF2B5EF4-FFF2-40B4-BE49-F238E27FC236}">
                <a16:creationId xmlns:a16="http://schemas.microsoft.com/office/drawing/2014/main" id="{878B33B9-B5A1-827D-2E0E-70C6AE315BDC}"/>
              </a:ext>
            </a:extLst>
          </p:cNvPr>
          <p:cNvSpPr txBox="1"/>
          <p:nvPr/>
        </p:nvSpPr>
        <p:spPr>
          <a:xfrm>
            <a:off x="5197622" y="2686954"/>
            <a:ext cx="103875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Persistent</a:t>
            </a:r>
          </a:p>
        </p:txBody>
      </p:sp>
      <p:sp>
        <p:nvSpPr>
          <p:cNvPr id="146" name="TextBox 31">
            <a:extLst>
              <a:ext uri="{FF2B5EF4-FFF2-40B4-BE49-F238E27FC236}">
                <a16:creationId xmlns:a16="http://schemas.microsoft.com/office/drawing/2014/main" id="{6E2C14D0-30AE-6902-ECB8-F143DE514DBE}"/>
              </a:ext>
            </a:extLst>
          </p:cNvPr>
          <p:cNvSpPr txBox="1"/>
          <p:nvPr/>
        </p:nvSpPr>
        <p:spPr>
          <a:xfrm>
            <a:off x="5220237" y="3761131"/>
            <a:ext cx="103875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Persistent</a:t>
            </a:r>
          </a:p>
        </p:txBody>
      </p:sp>
      <p:sp>
        <p:nvSpPr>
          <p:cNvPr id="148" name="TextBox 40">
            <a:extLst>
              <a:ext uri="{FF2B5EF4-FFF2-40B4-BE49-F238E27FC236}">
                <a16:creationId xmlns:a16="http://schemas.microsoft.com/office/drawing/2014/main" id="{E20DCC6F-6260-2560-AD95-BF89EC2B8887}"/>
              </a:ext>
            </a:extLst>
          </p:cNvPr>
          <p:cNvSpPr txBox="1"/>
          <p:nvPr/>
        </p:nvSpPr>
        <p:spPr>
          <a:xfrm>
            <a:off x="5271443" y="4334475"/>
            <a:ext cx="936346" cy="2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6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Dynamic</a:t>
            </a:r>
          </a:p>
        </p:txBody>
      </p:sp>
      <p:sp>
        <p:nvSpPr>
          <p:cNvPr id="150" name="TextBox 44">
            <a:extLst>
              <a:ext uri="{FF2B5EF4-FFF2-40B4-BE49-F238E27FC236}">
                <a16:creationId xmlns:a16="http://schemas.microsoft.com/office/drawing/2014/main" id="{A9914544-591B-B132-D4D4-6DE574206E44}"/>
              </a:ext>
            </a:extLst>
          </p:cNvPr>
          <p:cNvSpPr txBox="1"/>
          <p:nvPr/>
        </p:nvSpPr>
        <p:spPr>
          <a:xfrm>
            <a:off x="4864103" y="2155030"/>
            <a:ext cx="212140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Until task completes</a:t>
            </a:r>
          </a:p>
        </p:txBody>
      </p:sp>
      <p:sp>
        <p:nvSpPr>
          <p:cNvPr id="152" name="TextBox 45">
            <a:extLst>
              <a:ext uri="{FF2B5EF4-FFF2-40B4-BE49-F238E27FC236}">
                <a16:creationId xmlns:a16="http://schemas.microsoft.com/office/drawing/2014/main" id="{3E11CA48-7B22-FB25-80DA-9D1824C25E8A}"/>
              </a:ext>
            </a:extLst>
          </p:cNvPr>
          <p:cNvSpPr txBox="1"/>
          <p:nvPr/>
        </p:nvSpPr>
        <p:spPr>
          <a:xfrm>
            <a:off x="5197622" y="3210176"/>
            <a:ext cx="103875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Persistent</a:t>
            </a:r>
          </a:p>
        </p:txBody>
      </p:sp>
      <p:sp>
        <p:nvSpPr>
          <p:cNvPr id="154" name="TextBox 20">
            <a:extLst>
              <a:ext uri="{FF2B5EF4-FFF2-40B4-BE49-F238E27FC236}">
                <a16:creationId xmlns:a16="http://schemas.microsoft.com/office/drawing/2014/main" id="{AB69F3D3-7E29-E2CE-B10A-F91D2123DD79}"/>
              </a:ext>
            </a:extLst>
          </p:cNvPr>
          <p:cNvSpPr txBox="1"/>
          <p:nvPr/>
        </p:nvSpPr>
        <p:spPr>
          <a:xfrm>
            <a:off x="6895339" y="1525351"/>
            <a:ext cx="1768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Context Window, Conversation Buffer</a:t>
            </a:r>
          </a:p>
        </p:txBody>
      </p:sp>
      <p:sp>
        <p:nvSpPr>
          <p:cNvPr id="156" name="TextBox 22">
            <a:extLst>
              <a:ext uri="{FF2B5EF4-FFF2-40B4-BE49-F238E27FC236}">
                <a16:creationId xmlns:a16="http://schemas.microsoft.com/office/drawing/2014/main" id="{0B6F8859-5557-7564-FF0E-70631E75A607}"/>
              </a:ext>
            </a:extLst>
          </p:cNvPr>
          <p:cNvSpPr txBox="1"/>
          <p:nvPr/>
        </p:nvSpPr>
        <p:spPr>
          <a:xfrm>
            <a:off x="6892924" y="2097593"/>
            <a:ext cx="1768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State Machines, Workflow Engines</a:t>
            </a:r>
          </a:p>
        </p:txBody>
      </p:sp>
      <p:sp>
        <p:nvSpPr>
          <p:cNvPr id="158" name="TextBox 27">
            <a:extLst>
              <a:ext uri="{FF2B5EF4-FFF2-40B4-BE49-F238E27FC236}">
                <a16:creationId xmlns:a16="http://schemas.microsoft.com/office/drawing/2014/main" id="{F3C360B5-E2BB-1B48-4471-7C8BF44F7481}"/>
              </a:ext>
            </a:extLst>
          </p:cNvPr>
          <p:cNvSpPr txBox="1"/>
          <p:nvPr/>
        </p:nvSpPr>
        <p:spPr>
          <a:xfrm>
            <a:off x="6923928" y="2720763"/>
            <a:ext cx="152172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SQL, Profile Services</a:t>
            </a:r>
          </a:p>
        </p:txBody>
      </p:sp>
      <p:sp>
        <p:nvSpPr>
          <p:cNvPr id="160" name="TextBox 32">
            <a:extLst>
              <a:ext uri="{FF2B5EF4-FFF2-40B4-BE49-F238E27FC236}">
                <a16:creationId xmlns:a16="http://schemas.microsoft.com/office/drawing/2014/main" id="{9A9F0FE5-75A6-4CC0-3433-2A09F7A6E3C2}"/>
              </a:ext>
            </a:extLst>
          </p:cNvPr>
          <p:cNvSpPr txBox="1"/>
          <p:nvPr/>
        </p:nvSpPr>
        <p:spPr>
          <a:xfrm>
            <a:off x="6892924" y="3241432"/>
            <a:ext cx="152172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 Logs, CRM History</a:t>
            </a:r>
          </a:p>
        </p:txBody>
      </p:sp>
      <p:sp>
        <p:nvSpPr>
          <p:cNvPr id="162" name="TextBox 36">
            <a:extLst>
              <a:ext uri="{FF2B5EF4-FFF2-40B4-BE49-F238E27FC236}">
                <a16:creationId xmlns:a16="http://schemas.microsoft.com/office/drawing/2014/main" id="{65F34C06-6BCA-0764-E991-857A069670FE}"/>
              </a:ext>
            </a:extLst>
          </p:cNvPr>
          <p:cNvSpPr txBox="1"/>
          <p:nvPr/>
        </p:nvSpPr>
        <p:spPr>
          <a:xfrm>
            <a:off x="6902992" y="3770656"/>
            <a:ext cx="207751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 Graphs, Vector DBs</a:t>
            </a:r>
          </a:p>
        </p:txBody>
      </p:sp>
      <p:sp>
        <p:nvSpPr>
          <p:cNvPr id="164" name="TextBox 41">
            <a:extLst>
              <a:ext uri="{FF2B5EF4-FFF2-40B4-BE49-F238E27FC236}">
                <a16:creationId xmlns:a16="http://schemas.microsoft.com/office/drawing/2014/main" id="{A20761EA-4F3B-2890-0623-45BEF9F1C307}"/>
              </a:ext>
            </a:extLst>
          </p:cNvPr>
          <p:cNvSpPr txBox="1"/>
          <p:nvPr/>
        </p:nvSpPr>
        <p:spPr>
          <a:xfrm>
            <a:off x="6923928" y="4376719"/>
            <a:ext cx="1492301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Embeddings, Retainers</a:t>
            </a:r>
          </a:p>
        </p:txBody>
      </p:sp>
    </p:spTree>
    <p:extLst>
      <p:ext uri="{BB962C8B-B14F-4D97-AF65-F5344CB8AC3E}">
        <p14:creationId xmlns:p14="http://schemas.microsoft.com/office/powerpoint/2010/main" val="1550427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ADVANCED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Multi-Agent Systems: Teamwork!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Multiple AI Agents collaborate  each specialising in one job, together solving complex problems.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0" y="1737360"/>
            <a:ext cx="2103120" cy="210312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38528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0" y="33375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Roboto" panose="02000000000000000000" pitchFamily="2" charset="0"/>
              </a:rPr>
              <a:t>MANAGER</a:t>
            </a:r>
            <a:endParaRPr lang="en-US" sz="1100" dirty="0">
              <a:latin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Roboto" panose="02000000000000000000" pitchFamily="2" charset="0"/>
              </a:rPr>
              <a:t>AGENT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Research Agent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39696" y="193395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Writing Agent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139696" y="34884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3232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132320" y="164592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2237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Coder Agent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077456" y="1933956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132320" y="320040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2376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Email Agent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077456" y="34884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8224157" cy="485503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" y="4391297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🌟  Example: A 'marketing campaign' task → Manager delegates research to Research Agent, writing to Writing Agent, and delivery to Email Agent  all running in parallel!</a:t>
            </a:r>
            <a:endParaRPr lang="en-US" sz="1100" dirty="0">
              <a:latin typeface="Roboto" panose="02000000000000000000" pitchFamily="2" charset="0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B0CD775-93F2-71D9-0715-CEF2E603A1E0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240280" y="1991106"/>
            <a:ext cx="1234440" cy="7978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5B10F56-2CB1-5716-3970-D8F25C8A0F5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240280" y="3528177"/>
            <a:ext cx="2286000" cy="284871"/>
          </a:xfrm>
          <a:prstGeom prst="bentConnector4">
            <a:avLst>
              <a:gd name="adj1" fmla="val 27000"/>
              <a:gd name="adj2" fmla="val 1802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17BFDD8-7DAD-9520-63CE-20AFF874ECA5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5577840" y="1988820"/>
            <a:ext cx="1508760" cy="8001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111418C-C666-3EFD-38E1-DB25C6D72101}"/>
              </a:ext>
            </a:extLst>
          </p:cNvPr>
          <p:cNvCxnSpPr>
            <a:cxnSpLocks/>
            <a:stCxn id="24" idx="2"/>
            <a:endCxn id="6" idx="4"/>
          </p:cNvCxnSpPr>
          <p:nvPr/>
        </p:nvCxnSpPr>
        <p:spPr>
          <a:xfrm rot="10800000" flipV="1">
            <a:off x="4526280" y="3543300"/>
            <a:ext cx="2551176" cy="297180"/>
          </a:xfrm>
          <a:prstGeom prst="bentConnector4">
            <a:avLst>
              <a:gd name="adj1" fmla="val 29391"/>
              <a:gd name="adj2" fmla="val 176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BENEFITS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Why AI Agents Are Powerful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Roboto" panose="02000000000000000000" pitchFamily="2" charset="0"/>
              </a:rPr>
              <a:t>100x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9339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faster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Roboto" panose="02000000000000000000" pitchFamily="2" charset="0"/>
              </a:rPr>
              <a:t>Speed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Complete in seconds what takes humans hours.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Roboto" panose="02000000000000000000" pitchFamily="2" charset="0"/>
              </a:rPr>
              <a:t>99.9%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1947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accuracy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900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Roboto" panose="02000000000000000000" pitchFamily="2" charset="0"/>
              </a:rPr>
              <a:t>Accuracy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42900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tired mistakes. Consistent, high-quality output.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630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Roboto" panose="02000000000000000000" pitchFamily="2" charset="0"/>
              </a:rPr>
              <a:t>∞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84555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scale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Roboto" panose="02000000000000000000" pitchFamily="2" charset="0"/>
              </a:rPr>
              <a:t>Scalability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35508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agent can handle 1,000 tasks simultaneously.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6576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Roboto" panose="02000000000000000000" pitchFamily="2" charset="0"/>
              </a:rPr>
              <a:t>60%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99339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cost cut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50292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Roboto" panose="02000000000000000000" pitchFamily="2" charset="0"/>
              </a:rPr>
              <a:t>Cost Saving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0292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Reduces operational costs significantly over time.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329184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4612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0507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6C7"/>
                </a:solidFill>
                <a:latin typeface="Roboto" panose="02000000000000000000" pitchFamily="2" charset="0"/>
              </a:rPr>
              <a:t>24/7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91947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uptime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342900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Roboto" panose="02000000000000000000" pitchFamily="2" charset="0"/>
              </a:rPr>
              <a:t>Always On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342900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Works 24/7/365. No breaks, no vacations, no sick days.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621792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4612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3115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  <a:latin typeface="Roboto" panose="02000000000000000000" pitchFamily="2" charset="0"/>
              </a:rPr>
              <a:t>↑↑↑</a:t>
            </a:r>
            <a:endParaRPr lang="en-US" sz="2200" dirty="0">
              <a:latin typeface="Roboto" panose="02000000000000000000" pitchFamily="2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784555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Roboto" panose="02000000000000000000" pitchFamily="2" charset="0"/>
              </a:rPr>
              <a:t>grows</a:t>
            </a:r>
            <a:endParaRPr lang="en-US" sz="1000" dirty="0">
              <a:latin typeface="Roboto" panose="02000000000000000000" pitchFamily="2" charset="0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635508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Roboto" panose="02000000000000000000" pitchFamily="2" charset="0"/>
              </a:rPr>
              <a:t>Adaptability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35508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Learns from new data and continuously improves.</a:t>
            </a:r>
            <a:endParaRPr lang="en-US" sz="11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CHALLENGES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&amp; Limitations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⚠️ 01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Hallucinations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agents can sometimes make up incorrect information or take wrong actions confidently.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🔒 02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197510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Security Risks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49040" y="197510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Agents with tool access can be manipulated by bad actors (prompt injection attacks).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💸 03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7320" y="25786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Cost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25786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Running multiple LLM calls per task can be expensive at scale.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1821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🤖 04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Over-Automation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31821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 much automation without oversight can lead to errors going unnoticed for too long.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78561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🧩 05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37856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Lack of Common Sense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49040" y="37856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agents lack human intuition and may fail at tasks requiring real-world understanding.</a:t>
            </a:r>
            <a:endParaRPr lang="en-US" sz="1100" dirty="0">
              <a:latin typeface="Roboto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Roboto" panose="02000000000000000000" pitchFamily="2" charset="0"/>
              </a:rPr>
              <a:t>🛡️ 06</a:t>
            </a:r>
            <a:endParaRPr lang="en-US" sz="1400" dirty="0">
              <a:latin typeface="Roboto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320" y="4389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Privacy Concerns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49040" y="4389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Agents with access to personal data raise serious data privacy and compliance questions.</a:t>
            </a:r>
            <a:endParaRPr lang="en-US" sz="11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MARKET DATA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AI Agent Market is Exploding</a:t>
            </a:r>
            <a:endParaRPr lang="en-US" sz="3200" dirty="0">
              <a:latin typeface="Roboto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2C0377-931C-29CB-0947-BC41051CE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234440"/>
            <a:ext cx="7724775" cy="3518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BUILD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Build a Simple AI Agent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43560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1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Roboto" panose="02000000000000000000" pitchFamily="2" charset="0"/>
              </a:rPr>
              <a:t>Define the Goal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should the agent do? Be specific.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Example: 'Answer customer emails automatically.'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74720" y="14356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2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42232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Roboto" panose="02000000000000000000" pitchFamily="2" charset="0"/>
              </a:rPr>
              <a:t>Choose the LLM Brain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0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Pick a model: GPT-4, Claude, Gemini.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is the agent's thinking engine.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72784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82512" y="1435608"/>
            <a:ext cx="566928" cy="566928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82512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3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50024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Roboto" panose="02000000000000000000" pitchFamily="2" charset="0"/>
              </a:rPr>
              <a:t>Give It Tools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2512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Connect tools: web search, database, email.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Each tool expands what the agent can DO.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4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34440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Roboto" panose="02000000000000000000" pitchFamily="2" charset="0"/>
              </a:rPr>
              <a:t>Add Memory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Let it remember past conversations.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vector databases (Pinecone, ChromaDB).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64992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3246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5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42232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Roboto" panose="02000000000000000000" pitchFamily="2" charset="0"/>
              </a:rPr>
              <a:t>Set Safety Rules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74720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 boundaries. What should it NOT do?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Always have a human review loop for risky tasks.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72784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82512" y="3246120"/>
            <a:ext cx="566928" cy="566928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82512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Roboto" panose="02000000000000000000" pitchFamily="2" charset="0"/>
              </a:rPr>
              <a:t>6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50024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Roboto" panose="02000000000000000000" pitchFamily="2" charset="0"/>
              </a:rPr>
              <a:t>Test &amp; Improve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82512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Run real scenarios. Catch mistakes early.</a:t>
            </a:r>
            <a:endParaRPr lang="en-US" sz="1050" dirty="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Iterate based on real-world performance.</a:t>
            </a:r>
            <a:endParaRPr lang="en-US" sz="105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FUTURE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Future of AI Agents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80560" y="128016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15968" y="138988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840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3350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Roboto" panose="02000000000000000000" pitchFamily="2" charset="0"/>
              </a:rPr>
              <a:t>2024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08760" y="133502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Tool-using agents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</a:rPr>
              <a:t>Agents browse web, run code, read files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25696" y="2276856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37760" y="2167128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37760" y="2167128"/>
            <a:ext cx="38404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47488" y="2221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Roboto" panose="02000000000000000000" pitchFamily="2" charset="0"/>
              </a:rPr>
              <a:t>2025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89320" y="2221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Agentic workflows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4748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</a:rPr>
              <a:t>Long-running multi-step autonomous pipelines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15968" y="3163824"/>
            <a:ext cx="219456" cy="219456"/>
          </a:xfrm>
          <a:prstGeom prst="ellipse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384048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Roboto" panose="02000000000000000000" pitchFamily="2" charset="0"/>
              </a:rPr>
              <a:t>2026–27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0876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Physical AI Agents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</a:rPr>
              <a:t>Robots controlled by AI agents in the real world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25696" y="4050792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3941064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37760" y="3941064"/>
            <a:ext cx="384048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47488" y="3995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Roboto" panose="02000000000000000000" pitchFamily="2" charset="0"/>
              </a:rPr>
              <a:t>2028–30</a:t>
            </a:r>
            <a:endParaRPr lang="en-US" sz="1200" dirty="0">
              <a:latin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89320" y="39959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anose="02000000000000000000" pitchFamily="2" charset="0"/>
              </a:rPr>
              <a:t>Society-scale Agents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47488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</a:rPr>
              <a:t>Agents managing cities, supply chains, healthcare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475488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"Agents will do the work of a small company. Humans will manage agents, not tasks."  Sam Altman, CEO of OpenAI</a:t>
            </a:r>
            <a:endParaRPr lang="en-US" sz="120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Roboto" panose="02000000000000000000" pitchFamily="2" charset="0"/>
              </a:rPr>
              <a:t>SUMMARY</a:t>
            </a:r>
            <a:endParaRPr lang="en-US" sz="800" dirty="0">
              <a:latin typeface="Roboto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Takeaways</a:t>
            </a:r>
            <a:endParaRPr lang="en-US" sz="3200" dirty="0">
              <a:latin typeface="Roboto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🤖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15568" y="143560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61872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Agents are autonomous programs that perceive, think, and act to achieve goals  without step-by-step human instruction.</a:t>
            </a:r>
            <a:endParaRPr lang="en-US" sz="1150" dirty="0">
              <a:latin typeface="Roboto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🔗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15568" y="2057400"/>
            <a:ext cx="457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61872" y="19476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They use tools like web search, code execution, and APIs  combining them intelligently to solve complex, multi-step problems.</a:t>
            </a:r>
            <a:endParaRPr lang="en-US" sz="1150" dirty="0">
              <a:latin typeface="Roboto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569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🏭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15568" y="2679192"/>
            <a:ext cx="45720" cy="32004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61872" y="25694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Every major industry is adopting AI Agents  from finance to healthcare, retail to cybersecurity.</a:t>
            </a:r>
            <a:endParaRPr lang="en-US" sz="1150" dirty="0">
              <a:latin typeface="Roboto" panose="020000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💡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15568" y="3300984"/>
            <a:ext cx="45720" cy="3200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61872" y="31912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benefits: speed, accuracy, scalability, 24/7 availability, and cost savings  at a scale humans simply cannot match.</a:t>
            </a:r>
            <a:endParaRPr lang="en-US" sz="1150" dirty="0">
              <a:latin typeface="Roboto" panose="02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⚠️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15568" y="3922776"/>
            <a:ext cx="45720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61872" y="3813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 remain: hallucinations, security, cost, and the need for human oversight and safety guardrails.</a:t>
            </a:r>
            <a:endParaRPr lang="en-US" sz="1150" dirty="0">
              <a:latin typeface="Roboto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🚀</a:t>
            </a:r>
            <a:endParaRPr lang="en-US" sz="1800" dirty="0">
              <a:latin typeface="Roboto" panose="02000000000000000000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15568" y="4544568"/>
            <a:ext cx="45720" cy="32004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61872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AI Agent market will reach $102B by 2028. Now is the time to learn, build, and leverage this technology.</a:t>
            </a:r>
            <a:endParaRPr lang="en-US" sz="115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3485A-2262-AAA7-A315-B0ED2026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79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lang="en-US" sz="4800" dirty="0">
              <a:latin typeface="Roboto" panose="020000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B4D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Age of AI Agents is Here.</a:t>
            </a:r>
            <a:endParaRPr lang="en-US" sz="2000" dirty="0">
              <a:latin typeface="Roboto" panose="020000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80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Roboto" panose="02000000000000000000" pitchFamily="2" charset="0"/>
              </a:rPr>
              <a:t>🧠 Keep Learning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980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Follow AI news &amp; build small projects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2900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29000" y="397764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3872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Roboto" panose="02000000000000000000" pitchFamily="2" charset="0"/>
              </a:rPr>
              <a:t>🔧 Start Building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3872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Try LangChain or AutoGPT today</a:t>
            </a:r>
            <a:endParaRPr lang="en-US" sz="1050" dirty="0">
              <a:latin typeface="Roboto" panose="020000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1792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560320" cy="36576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IN" dirty="0">
              <a:latin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2764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Roboto" panose="02000000000000000000" pitchFamily="2" charset="0"/>
              </a:rPr>
              <a:t>🌐 Stay Updated</a:t>
            </a:r>
            <a:endParaRPr lang="en-US" sz="1300" dirty="0">
              <a:latin typeface="Roboto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2764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moves fast  never stop exploring</a:t>
            </a:r>
            <a:endParaRPr lang="en-US" sz="1050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1995</Words>
  <Application>Microsoft Office PowerPoint</Application>
  <PresentationFormat>On-screen Show (16:9)</PresentationFormat>
  <Paragraphs>407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 Bold</vt:lpstr>
      <vt:lpstr>Aptos Display</vt:lpstr>
      <vt:lpstr>Arial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— The Future of Intelligent Automation</dc:title>
  <dc:subject>PptxGenJS Presentation</dc:subject>
  <dc:creator>AI Agents Presentation</dc:creator>
  <cp:lastModifiedBy>Dakshata Shinde</cp:lastModifiedBy>
  <cp:revision>15</cp:revision>
  <dcterms:created xsi:type="dcterms:W3CDTF">2026-06-07T17:07:27Z</dcterms:created>
  <dcterms:modified xsi:type="dcterms:W3CDTF">2026-07-26T19:02:38Z</dcterms:modified>
</cp:coreProperties>
</file>