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75"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1" d="100"/>
          <a:sy n="121" d="100"/>
        </p:scale>
        <p:origin x="72"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Companies Using AI Agents (%)</c:v>
                </c:pt>
              </c:strCache>
            </c:strRef>
          </c:tx>
          <c:spPr>
            <a:solidFill>
              <a:srgbClr val="00B4D8"/>
            </a:solidFill>
            <a:effectLst/>
          </c:spPr>
          <c:invertIfNegative val="0"/>
          <c:dPt>
            <c:idx val="0"/>
            <c:invertIfNegative val="0"/>
            <c:bubble3D val="0"/>
            <c:extLst>
              <c:ext xmlns:c16="http://schemas.microsoft.com/office/drawing/2014/chart" uri="{C3380CC4-5D6E-409C-BE32-E72D297353CC}">
                <c16:uniqueId val="{00000001-E5CB-42BE-97F1-6923B4792AC5}"/>
              </c:ext>
            </c:extLst>
          </c:dPt>
          <c:dPt>
            <c:idx val="1"/>
            <c:invertIfNegative val="0"/>
            <c:bubble3D val="0"/>
            <c:spPr>
              <a:solidFill>
                <a:srgbClr val="9B59B6"/>
              </a:solidFill>
              <a:effectLst/>
            </c:spPr>
            <c:extLst>
              <c:ext xmlns:c16="http://schemas.microsoft.com/office/drawing/2014/chart" uri="{C3380CC4-5D6E-409C-BE32-E72D297353CC}">
                <c16:uniqueId val="{00000003-E5CB-42BE-97F1-6923B4792AC5}"/>
              </c:ext>
            </c:extLst>
          </c:dPt>
          <c:dPt>
            <c:idx val="2"/>
            <c:invertIfNegative val="0"/>
            <c:bubble3D val="0"/>
            <c:spPr>
              <a:solidFill>
                <a:srgbClr val="00C896"/>
              </a:solidFill>
              <a:effectLst/>
            </c:spPr>
            <c:extLst>
              <c:ext xmlns:c16="http://schemas.microsoft.com/office/drawing/2014/chart" uri="{C3380CC4-5D6E-409C-BE32-E72D297353CC}">
                <c16:uniqueId val="{00000005-E5CB-42BE-97F1-6923B4792AC5}"/>
              </c:ext>
            </c:extLst>
          </c:dPt>
          <c:dPt>
            <c:idx val="3"/>
            <c:invertIfNegative val="0"/>
            <c:bubble3D val="0"/>
            <c:spPr>
              <a:solidFill>
                <a:srgbClr val="1565C0"/>
              </a:solidFill>
              <a:effectLst/>
            </c:spPr>
            <c:extLst>
              <c:ext xmlns:c16="http://schemas.microsoft.com/office/drawing/2014/chart" uri="{C3380CC4-5D6E-409C-BE32-E72D297353CC}">
                <c16:uniqueId val="{00000007-E5CB-42BE-97F1-6923B4792AC5}"/>
              </c:ext>
            </c:extLst>
          </c:dPt>
          <c:dPt>
            <c:idx val="4"/>
            <c:invertIfNegative val="0"/>
            <c:bubble3D val="0"/>
            <c:spPr>
              <a:solidFill>
                <a:srgbClr val="FF6B35"/>
              </a:solidFill>
              <a:effectLst/>
            </c:spPr>
            <c:extLst>
              <c:ext xmlns:c16="http://schemas.microsoft.com/office/drawing/2014/chart" uri="{C3380CC4-5D6E-409C-BE32-E72D297353CC}">
                <c16:uniqueId val="{00000009-E5CB-42BE-97F1-6923B4792AC5}"/>
              </c:ext>
            </c:extLst>
          </c:dPt>
          <c:dPt>
            <c:idx val="5"/>
            <c:invertIfNegative val="0"/>
            <c:bubble3D val="0"/>
            <c:spPr>
              <a:solidFill>
                <a:srgbClr val="FFD166"/>
              </a:solidFill>
              <a:effectLst/>
            </c:spPr>
            <c:extLst>
              <c:ext xmlns:c16="http://schemas.microsoft.com/office/drawing/2014/chart" uri="{C3380CC4-5D6E-409C-BE32-E72D297353CC}">
                <c16:uniqueId val="{0000000B-E5CB-42BE-97F1-6923B4792AC5}"/>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Finance</c:v>
                </c:pt>
                <c:pt idx="1">
                  <c:v>Healthcare</c:v>
                </c:pt>
                <c:pt idx="2">
                  <c:v>Retail</c:v>
                </c:pt>
                <c:pt idx="3">
                  <c:v>Tech</c:v>
                </c:pt>
                <c:pt idx="4">
                  <c:v>Manufacturing</c:v>
                </c:pt>
                <c:pt idx="5">
                  <c:v>Education</c:v>
                </c:pt>
              </c:strCache>
            </c:strRef>
          </c:cat>
          <c:val>
            <c:numRef>
              <c:f>Sheet1!$B$2:$B$7</c:f>
              <c:numCache>
                <c:formatCode>General</c:formatCode>
                <c:ptCount val="6"/>
                <c:pt idx="0">
                  <c:v>78</c:v>
                </c:pt>
                <c:pt idx="1">
                  <c:v>62</c:v>
                </c:pt>
                <c:pt idx="2">
                  <c:v>71</c:v>
                </c:pt>
                <c:pt idx="3">
                  <c:v>91</c:v>
                </c:pt>
                <c:pt idx="4">
                  <c:v>54</c:v>
                </c:pt>
                <c:pt idx="5">
                  <c:v>43</c:v>
                </c:pt>
              </c:numCache>
            </c:numRef>
          </c:val>
          <c:extLst>
            <c:ext xmlns:c16="http://schemas.microsoft.com/office/drawing/2014/chart" uri="{C3380CC4-5D6E-409C-BE32-E72D297353CC}">
              <c16:uniqueId val="{0000000C-E5CB-42BE-97F1-6923B4792AC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F3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Market Size (Billion USD)</c:v>
                </c:pt>
              </c:strCache>
            </c:strRef>
          </c:tx>
          <c:spPr>
            <a:ln w="38100" cap="flat">
              <a:solidFill>
                <a:srgbClr val="00E5FF"/>
              </a:solidFill>
              <a:prstDash val="solid"/>
              <a:round/>
            </a:ln>
            <a:effectLst/>
          </c:spPr>
          <c:marker>
            <c:symbol val="circle"/>
            <c:size val="6"/>
            <c:spPr>
              <a:solidFill>
                <a:srgbClr val="00E5FF"/>
              </a:solidFill>
              <a:ln w="9525" cap="flat">
                <a:solidFill>
                  <a:srgbClr val="00E5FF"/>
                </a:solidFill>
                <a:prstDash val="solid"/>
                <a:round/>
              </a:ln>
              <a:effectLst/>
            </c:spPr>
          </c:marker>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2021</c:v>
                </c:pt>
                <c:pt idx="1">
                  <c:v>2022</c:v>
                </c:pt>
                <c:pt idx="2">
                  <c:v>2023</c:v>
                </c:pt>
                <c:pt idx="3">
                  <c:v>2024</c:v>
                </c:pt>
                <c:pt idx="4">
                  <c:v>2025</c:v>
                </c:pt>
                <c:pt idx="5">
                  <c:v>2026</c:v>
                </c:pt>
                <c:pt idx="6">
                  <c:v>2027</c:v>
                </c:pt>
                <c:pt idx="7">
                  <c:v>2028</c:v>
                </c:pt>
              </c:strCache>
            </c:strRef>
          </c:cat>
          <c:val>
            <c:numRef>
              <c:f>Sheet1!$B$2:$B$9</c:f>
              <c:numCache>
                <c:formatCode>General</c:formatCode>
                <c:ptCount val="8"/>
                <c:pt idx="0">
                  <c:v>2.1</c:v>
                </c:pt>
                <c:pt idx="1">
                  <c:v>3.8</c:v>
                </c:pt>
                <c:pt idx="2">
                  <c:v>6.2</c:v>
                </c:pt>
                <c:pt idx="3">
                  <c:v>11.5</c:v>
                </c:pt>
                <c:pt idx="4">
                  <c:v>21</c:v>
                </c:pt>
                <c:pt idx="5">
                  <c:v>37.799999999999997</c:v>
                </c:pt>
                <c:pt idx="6">
                  <c:v>64.5</c:v>
                </c:pt>
                <c:pt idx="7">
                  <c:v>102.3</c:v>
                </c:pt>
              </c:numCache>
            </c:numRef>
          </c:val>
          <c:smooth val="1"/>
          <c:extLst>
            <c:ext xmlns:c16="http://schemas.microsoft.com/office/drawing/2014/chart" uri="{C3380CC4-5D6E-409C-BE32-E72D297353CC}">
              <c16:uniqueId val="{00000000-F285-4A4F-BDFD-2F6EC7EC4FAA}"/>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F3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021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8.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303520" y="274320"/>
            <a:ext cx="3840480" cy="3840480"/>
          </a:xfrm>
          <a:prstGeom prst="ellipse">
            <a:avLst/>
          </a:prstGeom>
          <a:solidFill>
            <a:srgbClr val="1565C0">
              <a:alpha val="18000"/>
            </a:srgbClr>
          </a:solidFill>
          <a:ln/>
        </p:spPr>
      </p:sp>
      <p:sp>
        <p:nvSpPr>
          <p:cNvPr id="3" name="Shape 1"/>
          <p:cNvSpPr/>
          <p:nvPr/>
        </p:nvSpPr>
        <p:spPr>
          <a:xfrm>
            <a:off x="5852160" y="640080"/>
            <a:ext cx="2743200" cy="2743200"/>
          </a:xfrm>
          <a:prstGeom prst="ellipse">
            <a:avLst/>
          </a:prstGeom>
          <a:solidFill>
            <a:srgbClr val="00B4D8">
              <a:alpha val="28000"/>
            </a:srgbClr>
          </a:solidFill>
          <a:ln/>
        </p:spPr>
      </p:sp>
      <p:pic>
        <p:nvPicPr>
          <p:cNvPr id="4" name="Image 0" descr="preencoded.png"/>
          <p:cNvPicPr>
            <a:picLocks noChangeAspect="1"/>
          </p:cNvPicPr>
          <p:nvPr/>
        </p:nvPicPr>
        <p:blipFill>
          <a:blip r:embed="rId3"/>
          <a:stretch>
            <a:fillRect/>
          </a:stretch>
        </p:blipFill>
        <p:spPr>
          <a:xfrm>
            <a:off x="6400800" y="731520"/>
            <a:ext cx="1828800" cy="1828800"/>
          </a:xfrm>
          <a:prstGeom prst="rect">
            <a:avLst/>
          </a:prstGeom>
        </p:spPr>
      </p:pic>
      <p:sp>
        <p:nvSpPr>
          <p:cNvPr id="5" name="Text 2"/>
          <p:cNvSpPr/>
          <p:nvPr/>
        </p:nvSpPr>
        <p:spPr>
          <a:xfrm>
            <a:off x="457200" y="640080"/>
            <a:ext cx="5943600" cy="1097280"/>
          </a:xfrm>
          <a:prstGeom prst="rect">
            <a:avLst/>
          </a:prstGeom>
          <a:noFill/>
          <a:ln/>
        </p:spPr>
        <p:txBody>
          <a:bodyPr wrap="square" rtlCol="0" anchor="ctr"/>
          <a:lstStyle/>
          <a:p>
            <a:pPr marL="0" indent="0">
              <a:buNone/>
            </a:pPr>
            <a:r>
              <a:rPr lang="en-US" sz="5400" b="1" kern="0" spc="400" dirty="0">
                <a:solidFill>
                  <a:srgbClr val="FFFFFF"/>
                </a:solidFill>
                <a:latin typeface="Calibri" pitchFamily="34" charset="0"/>
                <a:ea typeface="Calibri" pitchFamily="34" charset="-122"/>
                <a:cs typeface="Calibri" pitchFamily="34" charset="-120"/>
              </a:rPr>
              <a:t>AI AGENTS</a:t>
            </a:r>
            <a:endParaRPr lang="en-US" sz="5400" dirty="0"/>
          </a:p>
        </p:txBody>
      </p:sp>
      <p:sp>
        <p:nvSpPr>
          <p:cNvPr id="6" name="Text 3"/>
          <p:cNvSpPr/>
          <p:nvPr/>
        </p:nvSpPr>
        <p:spPr>
          <a:xfrm>
            <a:off x="457200" y="1737360"/>
            <a:ext cx="5669280" cy="548640"/>
          </a:xfrm>
          <a:prstGeom prst="rect">
            <a:avLst/>
          </a:prstGeom>
          <a:noFill/>
          <a:ln/>
        </p:spPr>
        <p:txBody>
          <a:bodyPr wrap="square" rtlCol="0" anchor="ctr"/>
          <a:lstStyle/>
          <a:p>
            <a:pPr marL="0" indent="0">
              <a:buNone/>
            </a:pPr>
            <a:r>
              <a:rPr lang="en-US" sz="2000" i="1" dirty="0">
                <a:solidFill>
                  <a:srgbClr val="00B4D8"/>
                </a:solidFill>
                <a:latin typeface="Calibri" pitchFamily="34" charset="0"/>
                <a:ea typeface="Calibri" pitchFamily="34" charset="-122"/>
                <a:cs typeface="Calibri" pitchFamily="34" charset="-120"/>
              </a:rPr>
              <a:t>The Future of Intelligent Automation</a:t>
            </a:r>
            <a:endParaRPr lang="en-US" sz="2000" dirty="0"/>
          </a:p>
        </p:txBody>
      </p:sp>
      <p:sp>
        <p:nvSpPr>
          <p:cNvPr id="7" name="Shape 4"/>
          <p:cNvSpPr/>
          <p:nvPr/>
        </p:nvSpPr>
        <p:spPr>
          <a:xfrm>
            <a:off x="457200" y="2468880"/>
            <a:ext cx="5029200" cy="36576"/>
          </a:xfrm>
          <a:prstGeom prst="rect">
            <a:avLst/>
          </a:prstGeom>
          <a:solidFill>
            <a:srgbClr val="1565C0"/>
          </a:solidFill>
          <a:ln/>
        </p:spPr>
      </p:sp>
      <p:sp>
        <p:nvSpPr>
          <p:cNvPr id="8" name="Text 5"/>
          <p:cNvSpPr/>
          <p:nvPr/>
        </p:nvSpPr>
        <p:spPr>
          <a:xfrm>
            <a:off x="457200" y="2606040"/>
            <a:ext cx="6400800" cy="457200"/>
          </a:xfrm>
          <a:prstGeom prst="rect">
            <a:avLst/>
          </a:prstGeom>
          <a:noFill/>
          <a:ln/>
        </p:spPr>
        <p:txBody>
          <a:bodyPr wrap="square" rtlCol="0" anchor="ctr"/>
          <a:lstStyle/>
          <a:p>
            <a:pPr marL="0" indent="0">
              <a:buNone/>
            </a:pPr>
            <a:r>
              <a:rPr lang="en-US" sz="1400" dirty="0">
                <a:solidFill>
                  <a:srgbClr val="B0BEC5"/>
                </a:solidFill>
                <a:latin typeface="Calibri" pitchFamily="34" charset="0"/>
                <a:ea typeface="Calibri" pitchFamily="34" charset="-122"/>
                <a:cs typeface="Calibri" pitchFamily="34" charset="-120"/>
              </a:rPr>
              <a:t>How AI Agents think, learn, and act — explained simply.</a:t>
            </a:r>
            <a:endParaRPr lang="en-US" sz="1400" dirty="0"/>
          </a:p>
        </p:txBody>
      </p:sp>
      <p:sp>
        <p:nvSpPr>
          <p:cNvPr id="9" name="Shape 6"/>
          <p:cNvSpPr/>
          <p:nvPr/>
        </p:nvSpPr>
        <p:spPr>
          <a:xfrm>
            <a:off x="457200" y="4389120"/>
            <a:ext cx="1737360" cy="411480"/>
          </a:xfrm>
          <a:prstGeom prst="roundRect">
            <a:avLst>
              <a:gd name="adj" fmla="val 22222"/>
            </a:avLst>
          </a:prstGeom>
          <a:solidFill>
            <a:srgbClr val="1565C0"/>
          </a:solidFill>
          <a:ln/>
        </p:spPr>
      </p:sp>
      <p:sp>
        <p:nvSpPr>
          <p:cNvPr id="10" name="Text 7"/>
          <p:cNvSpPr/>
          <p:nvPr/>
        </p:nvSpPr>
        <p:spPr>
          <a:xfrm>
            <a:off x="457200" y="4389120"/>
            <a:ext cx="1737360" cy="411480"/>
          </a:xfrm>
          <a:prstGeom prst="rect">
            <a:avLst/>
          </a:prstGeom>
          <a:noFill/>
          <a:ln/>
        </p:spPr>
        <p:txBody>
          <a:bodyPr wrap="square" lIns="0" tIns="0" rIns="0" bIns="0" rtlCol="0" anchor="ctr"/>
          <a:lstStyle/>
          <a:p>
            <a:pPr marL="0" indent="0" algn="ctr">
              <a:buNone/>
            </a:pPr>
            <a:r>
              <a:rPr lang="en-US" sz="1200" b="1" dirty="0">
                <a:solidFill>
                  <a:srgbClr val="FFFFFF"/>
                </a:solidFill>
              </a:rPr>
              <a:t>🤖 Autonomous</a:t>
            </a:r>
            <a:endParaRPr lang="en-US" sz="1200" dirty="0"/>
          </a:p>
        </p:txBody>
      </p:sp>
      <p:sp>
        <p:nvSpPr>
          <p:cNvPr id="11" name="Shape 8"/>
          <p:cNvSpPr/>
          <p:nvPr/>
        </p:nvSpPr>
        <p:spPr>
          <a:xfrm>
            <a:off x="2377440" y="4389120"/>
            <a:ext cx="1737360" cy="411480"/>
          </a:xfrm>
          <a:prstGeom prst="roundRect">
            <a:avLst>
              <a:gd name="adj" fmla="val 22222"/>
            </a:avLst>
          </a:prstGeom>
          <a:solidFill>
            <a:srgbClr val="7C3AED"/>
          </a:solidFill>
          <a:ln/>
        </p:spPr>
      </p:sp>
      <p:sp>
        <p:nvSpPr>
          <p:cNvPr id="12" name="Text 9"/>
          <p:cNvSpPr/>
          <p:nvPr/>
        </p:nvSpPr>
        <p:spPr>
          <a:xfrm>
            <a:off x="2377440" y="4389120"/>
            <a:ext cx="1737360" cy="411480"/>
          </a:xfrm>
          <a:prstGeom prst="rect">
            <a:avLst/>
          </a:prstGeom>
          <a:noFill/>
          <a:ln/>
        </p:spPr>
        <p:txBody>
          <a:bodyPr wrap="square" lIns="0" tIns="0" rIns="0" bIns="0" rtlCol="0" anchor="ctr"/>
          <a:lstStyle/>
          <a:p>
            <a:pPr marL="0" indent="0" algn="ctr">
              <a:buNone/>
            </a:pPr>
            <a:r>
              <a:rPr lang="en-US" sz="1200" b="1" dirty="0">
                <a:solidFill>
                  <a:srgbClr val="FFFFFF"/>
                </a:solidFill>
              </a:rPr>
              <a:t>🧠 Intelligent</a:t>
            </a:r>
            <a:endParaRPr lang="en-US" sz="1200" dirty="0"/>
          </a:p>
        </p:txBody>
      </p:sp>
      <p:sp>
        <p:nvSpPr>
          <p:cNvPr id="13" name="Shape 10"/>
          <p:cNvSpPr/>
          <p:nvPr/>
        </p:nvSpPr>
        <p:spPr>
          <a:xfrm>
            <a:off x="4297680" y="4389120"/>
            <a:ext cx="1737360" cy="411480"/>
          </a:xfrm>
          <a:prstGeom prst="roundRect">
            <a:avLst>
              <a:gd name="adj" fmla="val 22222"/>
            </a:avLst>
          </a:prstGeom>
          <a:solidFill>
            <a:srgbClr val="00C896"/>
          </a:solidFill>
          <a:ln/>
        </p:spPr>
      </p:sp>
      <p:sp>
        <p:nvSpPr>
          <p:cNvPr id="14" name="Text 11"/>
          <p:cNvSpPr/>
          <p:nvPr/>
        </p:nvSpPr>
        <p:spPr>
          <a:xfrm>
            <a:off x="4297680" y="4389120"/>
            <a:ext cx="1737360" cy="411480"/>
          </a:xfrm>
          <a:prstGeom prst="rect">
            <a:avLst/>
          </a:prstGeom>
          <a:noFill/>
          <a:ln/>
        </p:spPr>
        <p:txBody>
          <a:bodyPr wrap="square" lIns="0" tIns="0" rIns="0" bIns="0" rtlCol="0" anchor="ctr"/>
          <a:lstStyle/>
          <a:p>
            <a:pPr marL="0" indent="0" algn="ctr">
              <a:buNone/>
            </a:pPr>
            <a:r>
              <a:rPr lang="en-US" sz="1200" b="1" dirty="0">
                <a:solidFill>
                  <a:srgbClr val="FFFFFF"/>
                </a:solidFill>
              </a:rPr>
              <a:t>⚡ Fast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OVERVIEW</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We'll Cover</a:t>
            </a:r>
            <a:endParaRPr lang="en-US" sz="3200" dirty="0"/>
          </a:p>
        </p:txBody>
      </p:sp>
      <p:sp>
        <p:nvSpPr>
          <p:cNvPr id="5" name="Shape 3"/>
          <p:cNvSpPr/>
          <p:nvPr/>
        </p:nvSpPr>
        <p:spPr>
          <a:xfrm>
            <a:off x="457200" y="1417320"/>
            <a:ext cx="4114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6" name="Shape 4"/>
          <p:cNvSpPr/>
          <p:nvPr/>
        </p:nvSpPr>
        <p:spPr>
          <a:xfrm>
            <a:off x="457200" y="1417320"/>
            <a:ext cx="54864" cy="777240"/>
          </a:xfrm>
          <a:prstGeom prst="rect">
            <a:avLst/>
          </a:prstGeom>
          <a:solidFill>
            <a:srgbClr val="00B4D8"/>
          </a:solidFill>
          <a:ln/>
        </p:spPr>
      </p:sp>
      <p:sp>
        <p:nvSpPr>
          <p:cNvPr id="7" name="Text 5"/>
          <p:cNvSpPr/>
          <p:nvPr/>
        </p:nvSpPr>
        <p:spPr>
          <a:xfrm>
            <a:off x="594360" y="1417320"/>
            <a:ext cx="548640" cy="777240"/>
          </a:xfrm>
          <a:prstGeom prst="rect">
            <a:avLst/>
          </a:prstGeom>
          <a:noFill/>
          <a:ln/>
        </p:spPr>
        <p:txBody>
          <a:bodyPr wrap="square" lIns="0" tIns="0" rIns="0" bIns="0" rtlCol="0" anchor="ctr"/>
          <a:lstStyle/>
          <a:p>
            <a:pPr marL="0" indent="0">
              <a:buNone/>
            </a:pPr>
            <a:r>
              <a:rPr lang="en-US" sz="2000" b="1" dirty="0">
                <a:solidFill>
                  <a:srgbClr val="00B4D8"/>
                </a:solidFill>
              </a:rPr>
              <a:t>01</a:t>
            </a:r>
            <a:endParaRPr lang="en-US" sz="2000" dirty="0"/>
          </a:p>
        </p:txBody>
      </p:sp>
      <p:sp>
        <p:nvSpPr>
          <p:cNvPr id="8" name="Text 6"/>
          <p:cNvSpPr/>
          <p:nvPr/>
        </p:nvSpPr>
        <p:spPr>
          <a:xfrm>
            <a:off x="1143000" y="1417320"/>
            <a:ext cx="3291840" cy="7772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What is an AI Agent?</a:t>
            </a:r>
            <a:endParaRPr lang="en-US" sz="1500" dirty="0"/>
          </a:p>
        </p:txBody>
      </p:sp>
      <p:sp>
        <p:nvSpPr>
          <p:cNvPr id="9" name="Shape 7"/>
          <p:cNvSpPr/>
          <p:nvPr/>
        </p:nvSpPr>
        <p:spPr>
          <a:xfrm>
            <a:off x="4846320" y="1417320"/>
            <a:ext cx="4114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0" name="Shape 8"/>
          <p:cNvSpPr/>
          <p:nvPr/>
        </p:nvSpPr>
        <p:spPr>
          <a:xfrm>
            <a:off x="4846320" y="1417320"/>
            <a:ext cx="54864" cy="777240"/>
          </a:xfrm>
          <a:prstGeom prst="rect">
            <a:avLst/>
          </a:prstGeom>
          <a:solidFill>
            <a:srgbClr val="7C3AED"/>
          </a:solidFill>
          <a:ln/>
        </p:spPr>
      </p:sp>
      <p:sp>
        <p:nvSpPr>
          <p:cNvPr id="11" name="Text 9"/>
          <p:cNvSpPr/>
          <p:nvPr/>
        </p:nvSpPr>
        <p:spPr>
          <a:xfrm>
            <a:off x="4983480" y="1417320"/>
            <a:ext cx="548640" cy="777240"/>
          </a:xfrm>
          <a:prstGeom prst="rect">
            <a:avLst/>
          </a:prstGeom>
          <a:noFill/>
          <a:ln/>
        </p:spPr>
        <p:txBody>
          <a:bodyPr wrap="square" lIns="0" tIns="0" rIns="0" bIns="0" rtlCol="0" anchor="ctr"/>
          <a:lstStyle/>
          <a:p>
            <a:pPr marL="0" indent="0">
              <a:buNone/>
            </a:pPr>
            <a:r>
              <a:rPr lang="en-US" sz="2000" b="1" dirty="0">
                <a:solidFill>
                  <a:srgbClr val="7C3AED"/>
                </a:solidFill>
              </a:rPr>
              <a:t>02</a:t>
            </a:r>
            <a:endParaRPr lang="en-US" sz="2000" dirty="0"/>
          </a:p>
        </p:txBody>
      </p:sp>
      <p:sp>
        <p:nvSpPr>
          <p:cNvPr id="12" name="Text 10"/>
          <p:cNvSpPr/>
          <p:nvPr/>
        </p:nvSpPr>
        <p:spPr>
          <a:xfrm>
            <a:off x="5532120" y="1417320"/>
            <a:ext cx="3291840" cy="7772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How AI Agents Work</a:t>
            </a:r>
            <a:endParaRPr lang="en-US" sz="1500" dirty="0"/>
          </a:p>
        </p:txBody>
      </p:sp>
      <p:sp>
        <p:nvSpPr>
          <p:cNvPr id="13" name="Shape 11"/>
          <p:cNvSpPr/>
          <p:nvPr/>
        </p:nvSpPr>
        <p:spPr>
          <a:xfrm>
            <a:off x="457200" y="2423160"/>
            <a:ext cx="4114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4" name="Shape 12"/>
          <p:cNvSpPr/>
          <p:nvPr/>
        </p:nvSpPr>
        <p:spPr>
          <a:xfrm>
            <a:off x="457200" y="2423160"/>
            <a:ext cx="54864" cy="777240"/>
          </a:xfrm>
          <a:prstGeom prst="rect">
            <a:avLst/>
          </a:prstGeom>
          <a:solidFill>
            <a:srgbClr val="00C896"/>
          </a:solidFill>
          <a:ln/>
        </p:spPr>
      </p:sp>
      <p:sp>
        <p:nvSpPr>
          <p:cNvPr id="15" name="Text 13"/>
          <p:cNvSpPr/>
          <p:nvPr/>
        </p:nvSpPr>
        <p:spPr>
          <a:xfrm>
            <a:off x="594360" y="2423160"/>
            <a:ext cx="548640" cy="777240"/>
          </a:xfrm>
          <a:prstGeom prst="rect">
            <a:avLst/>
          </a:prstGeom>
          <a:noFill/>
          <a:ln/>
        </p:spPr>
        <p:txBody>
          <a:bodyPr wrap="square" lIns="0" tIns="0" rIns="0" bIns="0" rtlCol="0" anchor="ctr"/>
          <a:lstStyle/>
          <a:p>
            <a:pPr marL="0" indent="0">
              <a:buNone/>
            </a:pPr>
            <a:r>
              <a:rPr lang="en-US" sz="2000" b="1" dirty="0">
                <a:solidFill>
                  <a:srgbClr val="00C896"/>
                </a:solidFill>
              </a:rPr>
              <a:t>03</a:t>
            </a:r>
            <a:endParaRPr lang="en-US" sz="2000" dirty="0"/>
          </a:p>
        </p:txBody>
      </p:sp>
      <p:sp>
        <p:nvSpPr>
          <p:cNvPr id="16" name="Text 14"/>
          <p:cNvSpPr/>
          <p:nvPr/>
        </p:nvSpPr>
        <p:spPr>
          <a:xfrm>
            <a:off x="1143000" y="2423160"/>
            <a:ext cx="3291840" cy="7772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Types of AI Agents</a:t>
            </a:r>
            <a:endParaRPr lang="en-US" sz="1500" dirty="0"/>
          </a:p>
        </p:txBody>
      </p:sp>
      <p:sp>
        <p:nvSpPr>
          <p:cNvPr id="17" name="Shape 15"/>
          <p:cNvSpPr/>
          <p:nvPr/>
        </p:nvSpPr>
        <p:spPr>
          <a:xfrm>
            <a:off x="4846320" y="2423160"/>
            <a:ext cx="4114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8" name="Shape 16"/>
          <p:cNvSpPr/>
          <p:nvPr/>
        </p:nvSpPr>
        <p:spPr>
          <a:xfrm>
            <a:off x="4846320" y="2423160"/>
            <a:ext cx="54864" cy="777240"/>
          </a:xfrm>
          <a:prstGeom prst="rect">
            <a:avLst/>
          </a:prstGeom>
          <a:solidFill>
            <a:srgbClr val="FF6B35"/>
          </a:solidFill>
          <a:ln/>
        </p:spPr>
      </p:sp>
      <p:sp>
        <p:nvSpPr>
          <p:cNvPr id="19" name="Text 17"/>
          <p:cNvSpPr/>
          <p:nvPr/>
        </p:nvSpPr>
        <p:spPr>
          <a:xfrm>
            <a:off x="4983480" y="2423160"/>
            <a:ext cx="548640" cy="777240"/>
          </a:xfrm>
          <a:prstGeom prst="rect">
            <a:avLst/>
          </a:prstGeom>
          <a:noFill/>
          <a:ln/>
        </p:spPr>
        <p:txBody>
          <a:bodyPr wrap="square" lIns="0" tIns="0" rIns="0" bIns="0" rtlCol="0" anchor="ctr"/>
          <a:lstStyle/>
          <a:p>
            <a:pPr marL="0" indent="0">
              <a:buNone/>
            </a:pPr>
            <a:r>
              <a:rPr lang="en-US" sz="2000" b="1" dirty="0">
                <a:solidFill>
                  <a:srgbClr val="FF6B35"/>
                </a:solidFill>
              </a:rPr>
              <a:t>04</a:t>
            </a:r>
            <a:endParaRPr lang="en-US" sz="2000" dirty="0"/>
          </a:p>
        </p:txBody>
      </p:sp>
      <p:sp>
        <p:nvSpPr>
          <p:cNvPr id="20" name="Text 18"/>
          <p:cNvSpPr/>
          <p:nvPr/>
        </p:nvSpPr>
        <p:spPr>
          <a:xfrm>
            <a:off x="5532120" y="2423160"/>
            <a:ext cx="3291840" cy="7772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Real-World Applications</a:t>
            </a:r>
            <a:endParaRPr lang="en-US" sz="1500" dirty="0"/>
          </a:p>
        </p:txBody>
      </p:sp>
      <p:sp>
        <p:nvSpPr>
          <p:cNvPr id="21" name="Shape 19"/>
          <p:cNvSpPr/>
          <p:nvPr/>
        </p:nvSpPr>
        <p:spPr>
          <a:xfrm>
            <a:off x="457200" y="3429000"/>
            <a:ext cx="4114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2" name="Shape 20"/>
          <p:cNvSpPr/>
          <p:nvPr/>
        </p:nvSpPr>
        <p:spPr>
          <a:xfrm>
            <a:off x="457200" y="3429000"/>
            <a:ext cx="54864" cy="777240"/>
          </a:xfrm>
          <a:prstGeom prst="rect">
            <a:avLst/>
          </a:prstGeom>
          <a:solidFill>
            <a:srgbClr val="FFD166"/>
          </a:solidFill>
          <a:ln/>
        </p:spPr>
      </p:sp>
      <p:sp>
        <p:nvSpPr>
          <p:cNvPr id="23" name="Text 21"/>
          <p:cNvSpPr/>
          <p:nvPr/>
        </p:nvSpPr>
        <p:spPr>
          <a:xfrm>
            <a:off x="594360" y="3429000"/>
            <a:ext cx="548640" cy="777240"/>
          </a:xfrm>
          <a:prstGeom prst="rect">
            <a:avLst/>
          </a:prstGeom>
          <a:noFill/>
          <a:ln/>
        </p:spPr>
        <p:txBody>
          <a:bodyPr wrap="square" lIns="0" tIns="0" rIns="0" bIns="0" rtlCol="0" anchor="ctr"/>
          <a:lstStyle/>
          <a:p>
            <a:pPr marL="0" indent="0">
              <a:buNone/>
            </a:pPr>
            <a:r>
              <a:rPr lang="en-US" sz="2000" b="1" dirty="0">
                <a:solidFill>
                  <a:srgbClr val="FFD166"/>
                </a:solidFill>
              </a:rPr>
              <a:t>05</a:t>
            </a:r>
            <a:endParaRPr lang="en-US" sz="2000" dirty="0"/>
          </a:p>
        </p:txBody>
      </p:sp>
      <p:sp>
        <p:nvSpPr>
          <p:cNvPr id="24" name="Text 22"/>
          <p:cNvSpPr/>
          <p:nvPr/>
        </p:nvSpPr>
        <p:spPr>
          <a:xfrm>
            <a:off x="1143000" y="3429000"/>
            <a:ext cx="3291840" cy="7772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Benefits &amp; Challenges</a:t>
            </a:r>
            <a:endParaRPr lang="en-US" sz="1500" dirty="0"/>
          </a:p>
        </p:txBody>
      </p:sp>
      <p:sp>
        <p:nvSpPr>
          <p:cNvPr id="25" name="Shape 23"/>
          <p:cNvSpPr/>
          <p:nvPr/>
        </p:nvSpPr>
        <p:spPr>
          <a:xfrm>
            <a:off x="4846320" y="3429000"/>
            <a:ext cx="4114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6" name="Shape 24"/>
          <p:cNvSpPr/>
          <p:nvPr/>
        </p:nvSpPr>
        <p:spPr>
          <a:xfrm>
            <a:off x="4846320" y="3429000"/>
            <a:ext cx="54864" cy="777240"/>
          </a:xfrm>
          <a:prstGeom prst="rect">
            <a:avLst/>
          </a:prstGeom>
          <a:solidFill>
            <a:srgbClr val="00B4D8"/>
          </a:solidFill>
          <a:ln/>
        </p:spPr>
      </p:sp>
      <p:sp>
        <p:nvSpPr>
          <p:cNvPr id="27" name="Text 25"/>
          <p:cNvSpPr/>
          <p:nvPr/>
        </p:nvSpPr>
        <p:spPr>
          <a:xfrm>
            <a:off x="4983480" y="3429000"/>
            <a:ext cx="548640" cy="777240"/>
          </a:xfrm>
          <a:prstGeom prst="rect">
            <a:avLst/>
          </a:prstGeom>
          <a:noFill/>
          <a:ln/>
        </p:spPr>
        <p:txBody>
          <a:bodyPr wrap="square" lIns="0" tIns="0" rIns="0" bIns="0" rtlCol="0" anchor="ctr"/>
          <a:lstStyle/>
          <a:p>
            <a:pPr marL="0" indent="0">
              <a:buNone/>
            </a:pPr>
            <a:r>
              <a:rPr lang="en-US" sz="2000" b="1" dirty="0">
                <a:solidFill>
                  <a:srgbClr val="00B4D8"/>
                </a:solidFill>
              </a:rPr>
              <a:t>06</a:t>
            </a:r>
            <a:endParaRPr lang="en-US" sz="2000" dirty="0"/>
          </a:p>
        </p:txBody>
      </p:sp>
      <p:sp>
        <p:nvSpPr>
          <p:cNvPr id="28" name="Text 26"/>
          <p:cNvSpPr/>
          <p:nvPr/>
        </p:nvSpPr>
        <p:spPr>
          <a:xfrm>
            <a:off x="5532120" y="3429000"/>
            <a:ext cx="3291840" cy="7772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Future of AI Agents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txBody>
          <a:bodyPr/>
          <a:lstStyle/>
          <a:p>
            <a:endParaRPr/>
          </a:p>
        </p:txBody>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DEFINITION</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is an AI Agent?</a:t>
            </a:r>
            <a:endParaRPr lang="en-US" sz="3200" dirty="0"/>
          </a:p>
        </p:txBody>
      </p:sp>
      <p:sp>
        <p:nvSpPr>
          <p:cNvPr id="5" name="Shape 3"/>
          <p:cNvSpPr/>
          <p:nvPr/>
        </p:nvSpPr>
        <p:spPr>
          <a:xfrm>
            <a:off x="457200" y="1371600"/>
            <a:ext cx="5029200" cy="18288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txBody>
          <a:bodyPr/>
          <a:lstStyle/>
          <a:p>
            <a:endParaRPr/>
          </a:p>
        </p:txBody>
      </p:sp>
      <p:sp>
        <p:nvSpPr>
          <p:cNvPr id="6" name="Text 4"/>
          <p:cNvSpPr/>
          <p:nvPr/>
        </p:nvSpPr>
        <p:spPr>
          <a:xfrm>
            <a:off x="731520" y="1463040"/>
            <a:ext cx="4572000" cy="1645920"/>
          </a:xfrm>
          <a:prstGeom prst="rect">
            <a:avLst/>
          </a:prstGeom>
          <a:noFill/>
          <a:ln/>
        </p:spPr>
        <p:txBody>
          <a:bodyPr wrap="square" rtlCol="0" anchor="t"/>
          <a:lstStyle/>
          <a:p>
            <a:pPr marL="0" indent="0">
              <a:buNone/>
              <a:defRPr sz="2000" b="1">
                <a:solidFill>
                  <a:srgbClr val="00B4D8"/>
                </a:solidFill>
              </a:defRPr>
            </a:pPr>
            <a:r>
              <a:t>An AI Agent</a:t>
            </a:r>
            <a:endParaRPr lang="en-US" sz="1500" dirty="0"/>
          </a:p>
          <a:p>
            <a:pPr>
              <a:defRPr sz="1400">
                <a:solidFill>
                  <a:srgbClr val="FFFFFF"/>
                </a:solidFill>
              </a:defRPr>
            </a:pPr>
            <a:r>
              <a:t>is an autonomous software program that:</a:t>
            </a:r>
          </a:p>
          <a:p>
            <a:pPr>
              <a:spcBef>
                <a:spcPts val="400"/>
              </a:spcBef>
              <a:defRPr sz="1200">
                <a:solidFill>
                  <a:srgbClr val="B0BEC5"/>
                </a:solidFill>
              </a:defRPr>
            </a:pPr>
            <a:r>
              <a:t>• Perceives &amp; understands its environment (data, images, context)</a:t>
            </a:r>
          </a:p>
          <a:p>
            <a:pPr>
              <a:spcBef>
                <a:spcPts val="400"/>
              </a:spcBef>
              <a:defRPr sz="1200">
                <a:solidFill>
                  <a:srgbClr val="B0BEC5"/>
                </a:solidFill>
              </a:defRPr>
            </a:pPr>
            <a:r>
              <a:t>• Reasons independently using AI/ML models</a:t>
            </a:r>
          </a:p>
          <a:p>
            <a:pPr>
              <a:spcBef>
                <a:spcPts val="400"/>
              </a:spcBef>
              <a:defRPr sz="1200">
                <a:solidFill>
                  <a:srgbClr val="B0BEC5"/>
                </a:solidFill>
              </a:defRPr>
            </a:pPr>
            <a:r>
              <a:t>• Makes decisions without human intervention</a:t>
            </a:r>
          </a:p>
          <a:p>
            <a:pPr>
              <a:spcBef>
                <a:spcPts val="400"/>
              </a:spcBef>
              <a:defRPr sz="1200">
                <a:solidFill>
                  <a:srgbClr val="B0BEC5"/>
                </a:solidFill>
              </a:defRPr>
            </a:pPr>
            <a:r>
              <a:t>• Takes actions through available tools (API calls, file operations, web search)</a:t>
            </a:r>
          </a:p>
          <a:p>
            <a:pPr>
              <a:spcBef>
                <a:spcPts val="400"/>
              </a:spcBef>
              <a:defRPr sz="1200">
                <a:solidFill>
                  <a:srgbClr val="B0BEC5"/>
                </a:solidFill>
              </a:defRPr>
            </a:pPr>
            <a:r>
              <a:t>• Learns &amp; improves from past experiences</a:t>
            </a:r>
          </a:p>
          <a:p>
            <a:pPr>
              <a:spcBef>
                <a:spcPts val="400"/>
              </a:spcBef>
              <a:defRPr sz="1200">
                <a:solidFill>
                  <a:srgbClr val="B0BEC5"/>
                </a:solidFill>
              </a:defRPr>
            </a:pPr>
            <a:r>
              <a:t>• Operates with specific goals in mind</a:t>
            </a:r>
          </a:p>
        </p:txBody>
      </p:sp>
      <p:sp>
        <p:nvSpPr>
          <p:cNvPr id="7" name="Shape 5"/>
          <p:cNvSpPr/>
          <p:nvPr/>
        </p:nvSpPr>
        <p:spPr>
          <a:xfrm>
            <a:off x="457200" y="3291840"/>
            <a:ext cx="5029200" cy="1371600"/>
          </a:xfrm>
          <a:prstGeom prst="rect">
            <a:avLst/>
          </a:prstGeom>
          <a:solidFill>
            <a:srgbClr val="1A3A6B"/>
          </a:solidFill>
          <a:ln w="6350">
            <a:solidFill>
              <a:srgbClr val="1565C0"/>
            </a:solidFill>
            <a:prstDash val="solid"/>
          </a:ln>
          <a:effectLst>
            <a:outerShdw blurRad="152400" dist="50800" dir="8100000" algn="bl" rotWithShape="0">
              <a:srgbClr val="000000">
                <a:alpha val="35000"/>
              </a:srgbClr>
            </a:outerShdw>
          </a:effectLst>
        </p:spPr>
        <p:txBody>
          <a:bodyPr/>
          <a:lstStyle/>
          <a:p>
            <a:endParaRPr/>
          </a:p>
        </p:txBody>
      </p:sp>
      <p:sp>
        <p:nvSpPr>
          <p:cNvPr id="8" name="Text 6"/>
          <p:cNvSpPr/>
          <p:nvPr/>
        </p:nvSpPr>
        <p:spPr>
          <a:xfrm>
            <a:off x="640080" y="3337560"/>
            <a:ext cx="4754880" cy="411480"/>
          </a:xfrm>
          <a:prstGeom prst="rect">
            <a:avLst/>
          </a:prstGeom>
          <a:noFill/>
          <a:ln/>
        </p:spPr>
        <p:txBody>
          <a:bodyPr wrap="square" rtlCol="0" anchor="ctr"/>
          <a:lstStyle/>
          <a:p>
            <a:pPr marL="0" indent="0">
              <a:buNone/>
            </a:pPr>
            <a:r>
              <a:rPr lang="en-US" sz="1400" b="1" dirty="0">
                <a:solidFill>
                  <a:srgbClr val="FFD166"/>
                </a:solidFill>
                <a:latin typeface="Calibri" pitchFamily="34" charset="0"/>
                <a:ea typeface="Calibri" pitchFamily="34" charset="-122"/>
                <a:cs typeface="Calibri" pitchFamily="34" charset="-120"/>
              </a:rPr>
              <a:t>💡  Think of it like a Smart Employee</a:t>
            </a:r>
            <a:endParaRPr lang="en-US" sz="1400" dirty="0"/>
          </a:p>
        </p:txBody>
      </p:sp>
      <p:sp>
        <p:nvSpPr>
          <p:cNvPr id="9" name="Text 7"/>
          <p:cNvSpPr/>
          <p:nvPr/>
        </p:nvSpPr>
        <p:spPr>
          <a:xfrm>
            <a:off x="640080" y="3749040"/>
            <a:ext cx="4754880" cy="777240"/>
          </a:xfrm>
          <a:prstGeom prst="rect">
            <a:avLst/>
          </a:prstGeom>
          <a:noFill/>
          <a:ln/>
        </p:spPr>
        <p:txBody>
          <a:bodyPr wrap="square" rtlCol="0" anchor="t"/>
          <a:lstStyle/>
          <a:p>
            <a:pPr marL="0" indent="0">
              <a:buNone/>
            </a:pPr>
            <a:r>
              <a:rPr lang="en-US" sz="1200" dirty="0">
                <a:solidFill>
                  <a:srgbClr val="B0BEC5"/>
                </a:solidFill>
                <a:latin typeface="Calibri" pitchFamily="34" charset="0"/>
                <a:ea typeface="Calibri" pitchFamily="34" charset="-122"/>
                <a:cs typeface="Calibri" pitchFamily="34" charset="-120"/>
              </a:rPr>
              <a:t>Just like an employee receives tasks, thinks about the best approach, and completes work — an AI Agent does the same, but automatically.</a:t>
            </a:r>
            <a:endParaRPr lang="en-US" sz="1200" dirty="0"/>
          </a:p>
        </p:txBody>
      </p:sp>
      <p:sp>
        <p:nvSpPr>
          <p:cNvPr id="10" name="Shape 8"/>
          <p:cNvSpPr/>
          <p:nvPr/>
        </p:nvSpPr>
        <p:spPr>
          <a:xfrm>
            <a:off x="6217920" y="1280160"/>
            <a:ext cx="2560320" cy="2560320"/>
          </a:xfrm>
          <a:prstGeom prst="ellipse">
            <a:avLst/>
          </a:prstGeom>
          <a:solidFill>
            <a:srgbClr val="1565C0">
              <a:alpha val="20000"/>
            </a:srgbClr>
          </a:solidFill>
          <a:ln/>
        </p:spPr>
        <p:txBody>
          <a:bodyPr/>
          <a:lstStyle/>
          <a:p>
            <a:endParaRPr/>
          </a:p>
        </p:txBody>
      </p:sp>
      <p:pic>
        <p:nvPicPr>
          <p:cNvPr id="11" name="Image 0" descr="preencoded.png"/>
          <p:cNvPicPr>
            <a:picLocks noChangeAspect="1"/>
          </p:cNvPicPr>
          <p:nvPr/>
        </p:nvPicPr>
        <p:blipFill>
          <a:blip r:embed="rId3"/>
          <a:stretch>
            <a:fillRect/>
          </a:stretch>
        </p:blipFill>
        <p:spPr>
          <a:xfrm>
            <a:off x="6675120" y="1554480"/>
            <a:ext cx="1645920" cy="1645920"/>
          </a:xfrm>
          <a:prstGeom prst="rect">
            <a:avLst/>
          </a:prstGeom>
        </p:spPr>
      </p:pic>
      <p:sp>
        <p:nvSpPr>
          <p:cNvPr id="12" name="Text 9"/>
          <p:cNvSpPr/>
          <p:nvPr/>
        </p:nvSpPr>
        <p:spPr>
          <a:xfrm>
            <a:off x="5943600" y="3291840"/>
            <a:ext cx="2926080" cy="365760"/>
          </a:xfrm>
          <a:prstGeom prst="rect">
            <a:avLst/>
          </a:prstGeom>
          <a:noFill/>
          <a:ln/>
        </p:spPr>
        <p:txBody>
          <a:bodyPr wrap="square" rtlCol="0" anchor="ctr"/>
          <a:lstStyle/>
          <a:p>
            <a:pPr marL="0" indent="0" algn="ctr">
              <a:buNone/>
            </a:pPr>
            <a:r>
              <a:rPr lang="en-US" sz="1300" b="1" dirty="0">
                <a:solidFill>
                  <a:srgbClr val="00B4D8"/>
                </a:solidFill>
              </a:rPr>
              <a:t>Autonomous</a:t>
            </a:r>
            <a:endParaRPr lang="en-US" sz="1300" dirty="0"/>
          </a:p>
        </p:txBody>
      </p:sp>
      <p:sp>
        <p:nvSpPr>
          <p:cNvPr id="13" name="Text 10"/>
          <p:cNvSpPr/>
          <p:nvPr/>
        </p:nvSpPr>
        <p:spPr>
          <a:xfrm>
            <a:off x="5943600" y="3703320"/>
            <a:ext cx="2926080" cy="365760"/>
          </a:xfrm>
          <a:prstGeom prst="rect">
            <a:avLst/>
          </a:prstGeom>
          <a:noFill/>
          <a:ln/>
        </p:spPr>
        <p:txBody>
          <a:bodyPr wrap="square" rtlCol="0" anchor="ctr"/>
          <a:lstStyle/>
          <a:p>
            <a:pPr marL="0" indent="0" algn="ctr">
              <a:buNone/>
            </a:pPr>
            <a:r>
              <a:rPr lang="en-US" sz="1300" b="1" dirty="0">
                <a:solidFill>
                  <a:srgbClr val="00C896"/>
                </a:solidFill>
              </a:rPr>
              <a:t>Goal-Oriented</a:t>
            </a:r>
            <a:endParaRPr lang="en-US" sz="1300" dirty="0"/>
          </a:p>
        </p:txBody>
      </p:sp>
      <p:sp>
        <p:nvSpPr>
          <p:cNvPr id="14" name="Text 11"/>
          <p:cNvSpPr/>
          <p:nvPr/>
        </p:nvSpPr>
        <p:spPr>
          <a:xfrm>
            <a:off x="5943600" y="4114800"/>
            <a:ext cx="2926080" cy="365760"/>
          </a:xfrm>
          <a:prstGeom prst="rect">
            <a:avLst/>
          </a:prstGeom>
          <a:noFill/>
          <a:ln/>
        </p:spPr>
        <p:txBody>
          <a:bodyPr wrap="square" rtlCol="0" anchor="ctr"/>
          <a:lstStyle/>
          <a:p>
            <a:pPr marL="0" indent="0" algn="ctr">
              <a:buNone/>
            </a:pPr>
            <a:r>
              <a:rPr lang="en-US" sz="1300" b="1" dirty="0">
                <a:solidFill>
                  <a:srgbClr val="7C3AED"/>
                </a:solidFill>
              </a:rPr>
              <a:t>Intelligent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7C3AED"/>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COMPARISON</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AI Agent vs Regular AI</a:t>
            </a:r>
            <a:endParaRPr lang="en-US" sz="3200" dirty="0"/>
          </a:p>
        </p:txBody>
      </p:sp>
      <p:sp>
        <p:nvSpPr>
          <p:cNvPr id="5" name="Shape 3"/>
          <p:cNvSpPr/>
          <p:nvPr/>
        </p:nvSpPr>
        <p:spPr>
          <a:xfrm>
            <a:off x="457200" y="1371600"/>
            <a:ext cx="4023360" cy="502920"/>
          </a:xfrm>
          <a:prstGeom prst="rect">
            <a:avLst/>
          </a:prstGeom>
          <a:solidFill>
            <a:srgbClr val="546E7A"/>
          </a:solidFill>
          <a:ln/>
        </p:spPr>
      </p:sp>
      <p:sp>
        <p:nvSpPr>
          <p:cNvPr id="6" name="Text 4"/>
          <p:cNvSpPr/>
          <p:nvPr/>
        </p:nvSpPr>
        <p:spPr>
          <a:xfrm>
            <a:off x="457200" y="1371600"/>
            <a:ext cx="4023360" cy="502920"/>
          </a:xfrm>
          <a:prstGeom prst="rect">
            <a:avLst/>
          </a:prstGeom>
          <a:noFill/>
          <a:ln/>
        </p:spPr>
        <p:txBody>
          <a:bodyPr wrap="square" lIns="0" tIns="0" rIns="0" bIns="0" rtlCol="0" anchor="ctr"/>
          <a:lstStyle/>
          <a:p>
            <a:pPr marL="0" indent="0" algn="ctr">
              <a:buNone/>
            </a:pPr>
            <a:r>
              <a:rPr lang="en-US" sz="1400" b="1" dirty="0">
                <a:solidFill>
                  <a:srgbClr val="FFFFFF"/>
                </a:solidFill>
              </a:rPr>
              <a:t>Regular AI (like ChatGPT)</a:t>
            </a:r>
            <a:endParaRPr lang="en-US" sz="1400" dirty="0"/>
          </a:p>
        </p:txBody>
      </p:sp>
      <p:sp>
        <p:nvSpPr>
          <p:cNvPr id="7" name="Shape 5"/>
          <p:cNvSpPr/>
          <p:nvPr/>
        </p:nvSpPr>
        <p:spPr>
          <a:xfrm>
            <a:off x="4663440" y="1371600"/>
            <a:ext cx="4023360" cy="502920"/>
          </a:xfrm>
          <a:prstGeom prst="rect">
            <a:avLst/>
          </a:prstGeom>
          <a:solidFill>
            <a:srgbClr val="1565C0"/>
          </a:solidFill>
          <a:ln/>
        </p:spPr>
      </p:sp>
      <p:sp>
        <p:nvSpPr>
          <p:cNvPr id="8" name="Text 6"/>
          <p:cNvSpPr/>
          <p:nvPr/>
        </p:nvSpPr>
        <p:spPr>
          <a:xfrm>
            <a:off x="4663440" y="1371600"/>
            <a:ext cx="4023360" cy="502920"/>
          </a:xfrm>
          <a:prstGeom prst="rect">
            <a:avLst/>
          </a:prstGeom>
          <a:noFill/>
          <a:ln/>
        </p:spPr>
        <p:txBody>
          <a:bodyPr wrap="square" lIns="0" tIns="0" rIns="0" bIns="0" rtlCol="0" anchor="ctr"/>
          <a:lstStyle/>
          <a:p>
            <a:pPr marL="0" indent="0" algn="ctr">
              <a:buNone/>
            </a:pPr>
            <a:r>
              <a:rPr lang="en-US" sz="1400" b="1" dirty="0">
                <a:solidFill>
                  <a:srgbClr val="FFFFFF"/>
                </a:solidFill>
              </a:rPr>
              <a:t>AI Agent</a:t>
            </a:r>
            <a:endParaRPr lang="en-US" sz="1400" dirty="0"/>
          </a:p>
        </p:txBody>
      </p:sp>
      <p:sp>
        <p:nvSpPr>
          <p:cNvPr id="9" name="Shape 7"/>
          <p:cNvSpPr/>
          <p:nvPr/>
        </p:nvSpPr>
        <p:spPr>
          <a:xfrm>
            <a:off x="457200" y="2011680"/>
            <a:ext cx="4023360" cy="475488"/>
          </a:xfrm>
          <a:prstGeom prst="rect">
            <a:avLst/>
          </a:prstGeom>
          <a:solidFill>
            <a:srgbClr val="111F3A"/>
          </a:solidFill>
          <a:ln/>
        </p:spPr>
      </p:sp>
      <p:sp>
        <p:nvSpPr>
          <p:cNvPr id="10" name="Text 8"/>
          <p:cNvSpPr/>
          <p:nvPr/>
        </p:nvSpPr>
        <p:spPr>
          <a:xfrm>
            <a:off x="502920" y="2011680"/>
            <a:ext cx="3931920" cy="475488"/>
          </a:xfrm>
          <a:prstGeom prst="rect">
            <a:avLst/>
          </a:prstGeom>
          <a:noFill/>
          <a:ln/>
        </p:spPr>
        <p:txBody>
          <a:bodyPr wrap="square" lIns="0" tIns="0" rIns="0" bIns="0" rtlCol="0" anchor="ctr"/>
          <a:lstStyle/>
          <a:p>
            <a:pPr marL="0" indent="0">
              <a:buNone/>
            </a:pPr>
            <a:r>
              <a:rPr lang="en-US" sz="1200" dirty="0">
                <a:solidFill>
                  <a:srgbClr val="B0BEC5"/>
                </a:solidFill>
              </a:rPr>
              <a:t>✗  Answers one question at a time</a:t>
            </a:r>
            <a:endParaRPr lang="en-US" sz="1200" dirty="0"/>
          </a:p>
        </p:txBody>
      </p:sp>
      <p:sp>
        <p:nvSpPr>
          <p:cNvPr id="11" name="Shape 9"/>
          <p:cNvSpPr/>
          <p:nvPr/>
        </p:nvSpPr>
        <p:spPr>
          <a:xfrm>
            <a:off x="4663440" y="2011680"/>
            <a:ext cx="4023360" cy="475488"/>
          </a:xfrm>
          <a:prstGeom prst="rect">
            <a:avLst/>
          </a:prstGeom>
          <a:solidFill>
            <a:srgbClr val="0D2A52"/>
          </a:solidFill>
          <a:ln/>
        </p:spPr>
      </p:sp>
      <p:sp>
        <p:nvSpPr>
          <p:cNvPr id="12" name="Text 10"/>
          <p:cNvSpPr/>
          <p:nvPr/>
        </p:nvSpPr>
        <p:spPr>
          <a:xfrm>
            <a:off x="4709160" y="2011680"/>
            <a:ext cx="3931920" cy="475488"/>
          </a:xfrm>
          <a:prstGeom prst="rect">
            <a:avLst/>
          </a:prstGeom>
          <a:noFill/>
          <a:ln/>
        </p:spPr>
        <p:txBody>
          <a:bodyPr wrap="square" lIns="0" tIns="0" rIns="0" bIns="0" rtlCol="0" anchor="ctr"/>
          <a:lstStyle/>
          <a:p>
            <a:pPr marL="0" indent="0">
              <a:buNone/>
            </a:pPr>
            <a:r>
              <a:rPr lang="en-US" sz="1200" dirty="0">
                <a:solidFill>
                  <a:srgbClr val="00C896"/>
                </a:solidFill>
              </a:rPr>
              <a:t>✓  Plans &amp; executes multi-step tasks</a:t>
            </a:r>
            <a:endParaRPr lang="en-US" sz="1200" dirty="0"/>
          </a:p>
        </p:txBody>
      </p:sp>
      <p:sp>
        <p:nvSpPr>
          <p:cNvPr id="13" name="Shape 11"/>
          <p:cNvSpPr/>
          <p:nvPr/>
        </p:nvSpPr>
        <p:spPr>
          <a:xfrm>
            <a:off x="457200" y="2542032"/>
            <a:ext cx="4023360" cy="475488"/>
          </a:xfrm>
          <a:prstGeom prst="rect">
            <a:avLst/>
          </a:prstGeom>
          <a:solidFill>
            <a:srgbClr val="152A4E"/>
          </a:solidFill>
          <a:ln/>
        </p:spPr>
      </p:sp>
      <p:sp>
        <p:nvSpPr>
          <p:cNvPr id="14" name="Text 12"/>
          <p:cNvSpPr/>
          <p:nvPr/>
        </p:nvSpPr>
        <p:spPr>
          <a:xfrm>
            <a:off x="502920" y="2542032"/>
            <a:ext cx="3931920" cy="475488"/>
          </a:xfrm>
          <a:prstGeom prst="rect">
            <a:avLst/>
          </a:prstGeom>
          <a:noFill/>
          <a:ln/>
        </p:spPr>
        <p:txBody>
          <a:bodyPr wrap="square" lIns="0" tIns="0" rIns="0" bIns="0" rtlCol="0" anchor="ctr"/>
          <a:lstStyle/>
          <a:p>
            <a:pPr marL="0" indent="0">
              <a:buNone/>
            </a:pPr>
            <a:r>
              <a:rPr lang="en-US" sz="1200" dirty="0">
                <a:solidFill>
                  <a:srgbClr val="B0BEC5"/>
                </a:solidFill>
              </a:rPr>
              <a:t>✗  Waits for your next message</a:t>
            </a:r>
            <a:endParaRPr lang="en-US" sz="1200" dirty="0"/>
          </a:p>
        </p:txBody>
      </p:sp>
      <p:sp>
        <p:nvSpPr>
          <p:cNvPr id="15" name="Shape 13"/>
          <p:cNvSpPr/>
          <p:nvPr/>
        </p:nvSpPr>
        <p:spPr>
          <a:xfrm>
            <a:off x="4663440" y="2542032"/>
            <a:ext cx="4023360" cy="475488"/>
          </a:xfrm>
          <a:prstGeom prst="rect">
            <a:avLst/>
          </a:prstGeom>
          <a:solidFill>
            <a:srgbClr val="112240"/>
          </a:solidFill>
          <a:ln/>
        </p:spPr>
      </p:sp>
      <p:sp>
        <p:nvSpPr>
          <p:cNvPr id="16" name="Text 14"/>
          <p:cNvSpPr/>
          <p:nvPr/>
        </p:nvSpPr>
        <p:spPr>
          <a:xfrm>
            <a:off x="4709160" y="2542032"/>
            <a:ext cx="3931920" cy="475488"/>
          </a:xfrm>
          <a:prstGeom prst="rect">
            <a:avLst/>
          </a:prstGeom>
          <a:noFill/>
          <a:ln/>
        </p:spPr>
        <p:txBody>
          <a:bodyPr wrap="square" lIns="0" tIns="0" rIns="0" bIns="0" rtlCol="0" anchor="ctr"/>
          <a:lstStyle/>
          <a:p>
            <a:pPr marL="0" indent="0">
              <a:buNone/>
            </a:pPr>
            <a:r>
              <a:rPr lang="en-US" sz="1200" dirty="0">
                <a:solidFill>
                  <a:srgbClr val="00C896"/>
                </a:solidFill>
              </a:rPr>
              <a:t>✓  Acts on its own without prompting</a:t>
            </a:r>
            <a:endParaRPr lang="en-US" sz="1200" dirty="0"/>
          </a:p>
        </p:txBody>
      </p:sp>
      <p:sp>
        <p:nvSpPr>
          <p:cNvPr id="17" name="Shape 15"/>
          <p:cNvSpPr/>
          <p:nvPr/>
        </p:nvSpPr>
        <p:spPr>
          <a:xfrm>
            <a:off x="457200" y="3072384"/>
            <a:ext cx="4023360" cy="475488"/>
          </a:xfrm>
          <a:prstGeom prst="rect">
            <a:avLst/>
          </a:prstGeom>
          <a:solidFill>
            <a:srgbClr val="111F3A"/>
          </a:solidFill>
          <a:ln/>
        </p:spPr>
      </p:sp>
      <p:sp>
        <p:nvSpPr>
          <p:cNvPr id="18" name="Text 16"/>
          <p:cNvSpPr/>
          <p:nvPr/>
        </p:nvSpPr>
        <p:spPr>
          <a:xfrm>
            <a:off x="502920" y="3072384"/>
            <a:ext cx="3931920" cy="475488"/>
          </a:xfrm>
          <a:prstGeom prst="rect">
            <a:avLst/>
          </a:prstGeom>
          <a:noFill/>
          <a:ln/>
        </p:spPr>
        <p:txBody>
          <a:bodyPr wrap="square" lIns="0" tIns="0" rIns="0" bIns="0" rtlCol="0" anchor="ctr"/>
          <a:lstStyle/>
          <a:p>
            <a:pPr marL="0" indent="0">
              <a:buNone/>
            </a:pPr>
            <a:r>
              <a:rPr lang="en-US" sz="1200" dirty="0">
                <a:solidFill>
                  <a:srgbClr val="B0BEC5"/>
                </a:solidFill>
              </a:rPr>
              <a:t>✗  No memory between chats</a:t>
            </a:r>
            <a:endParaRPr lang="en-US" sz="1200" dirty="0"/>
          </a:p>
        </p:txBody>
      </p:sp>
      <p:sp>
        <p:nvSpPr>
          <p:cNvPr id="19" name="Shape 17"/>
          <p:cNvSpPr/>
          <p:nvPr/>
        </p:nvSpPr>
        <p:spPr>
          <a:xfrm>
            <a:off x="4663440" y="3072384"/>
            <a:ext cx="4023360" cy="475488"/>
          </a:xfrm>
          <a:prstGeom prst="rect">
            <a:avLst/>
          </a:prstGeom>
          <a:solidFill>
            <a:srgbClr val="0D2A52"/>
          </a:solidFill>
          <a:ln/>
        </p:spPr>
      </p:sp>
      <p:sp>
        <p:nvSpPr>
          <p:cNvPr id="20" name="Text 18"/>
          <p:cNvSpPr/>
          <p:nvPr/>
        </p:nvSpPr>
        <p:spPr>
          <a:xfrm>
            <a:off x="4709160" y="3072384"/>
            <a:ext cx="3931920" cy="475488"/>
          </a:xfrm>
          <a:prstGeom prst="rect">
            <a:avLst/>
          </a:prstGeom>
          <a:noFill/>
          <a:ln/>
        </p:spPr>
        <p:txBody>
          <a:bodyPr wrap="square" lIns="0" tIns="0" rIns="0" bIns="0" rtlCol="0" anchor="ctr"/>
          <a:lstStyle/>
          <a:p>
            <a:pPr marL="0" indent="0">
              <a:buNone/>
            </a:pPr>
            <a:r>
              <a:rPr lang="en-US" sz="1200" dirty="0">
                <a:solidFill>
                  <a:srgbClr val="00C896"/>
                </a:solidFill>
              </a:rPr>
              <a:t>✓  Remembers context across tasks</a:t>
            </a:r>
            <a:endParaRPr lang="en-US" sz="1200" dirty="0"/>
          </a:p>
        </p:txBody>
      </p:sp>
      <p:sp>
        <p:nvSpPr>
          <p:cNvPr id="21" name="Shape 19"/>
          <p:cNvSpPr/>
          <p:nvPr/>
        </p:nvSpPr>
        <p:spPr>
          <a:xfrm>
            <a:off x="457200" y="3602736"/>
            <a:ext cx="4023360" cy="475488"/>
          </a:xfrm>
          <a:prstGeom prst="rect">
            <a:avLst/>
          </a:prstGeom>
          <a:solidFill>
            <a:srgbClr val="152A4E"/>
          </a:solidFill>
          <a:ln/>
        </p:spPr>
      </p:sp>
      <p:sp>
        <p:nvSpPr>
          <p:cNvPr id="22" name="Text 20"/>
          <p:cNvSpPr/>
          <p:nvPr/>
        </p:nvSpPr>
        <p:spPr>
          <a:xfrm>
            <a:off x="502920" y="3602736"/>
            <a:ext cx="3931920" cy="475488"/>
          </a:xfrm>
          <a:prstGeom prst="rect">
            <a:avLst/>
          </a:prstGeom>
          <a:noFill/>
          <a:ln/>
        </p:spPr>
        <p:txBody>
          <a:bodyPr wrap="square" lIns="0" tIns="0" rIns="0" bIns="0" rtlCol="0" anchor="ctr"/>
          <a:lstStyle/>
          <a:p>
            <a:pPr marL="0" indent="0">
              <a:buNone/>
            </a:pPr>
            <a:r>
              <a:rPr lang="en-US" sz="1200" dirty="0">
                <a:solidFill>
                  <a:srgbClr val="B0BEC5"/>
                </a:solidFill>
              </a:rPr>
              <a:t>✗  Can't use tools</a:t>
            </a:r>
            <a:endParaRPr lang="en-US" sz="1200" dirty="0"/>
          </a:p>
        </p:txBody>
      </p:sp>
      <p:sp>
        <p:nvSpPr>
          <p:cNvPr id="23" name="Shape 21"/>
          <p:cNvSpPr/>
          <p:nvPr/>
        </p:nvSpPr>
        <p:spPr>
          <a:xfrm>
            <a:off x="4663440" y="3602736"/>
            <a:ext cx="4023360" cy="475488"/>
          </a:xfrm>
          <a:prstGeom prst="rect">
            <a:avLst/>
          </a:prstGeom>
          <a:solidFill>
            <a:srgbClr val="112240"/>
          </a:solidFill>
          <a:ln/>
        </p:spPr>
      </p:sp>
      <p:sp>
        <p:nvSpPr>
          <p:cNvPr id="24" name="Text 22"/>
          <p:cNvSpPr/>
          <p:nvPr/>
        </p:nvSpPr>
        <p:spPr>
          <a:xfrm>
            <a:off x="4709160" y="3602736"/>
            <a:ext cx="3931920" cy="475488"/>
          </a:xfrm>
          <a:prstGeom prst="rect">
            <a:avLst/>
          </a:prstGeom>
          <a:noFill/>
          <a:ln/>
        </p:spPr>
        <p:txBody>
          <a:bodyPr wrap="square" lIns="0" tIns="0" rIns="0" bIns="0" rtlCol="0" anchor="ctr"/>
          <a:lstStyle/>
          <a:p>
            <a:pPr marL="0" indent="0">
              <a:buNone/>
            </a:pPr>
            <a:r>
              <a:rPr lang="en-US" sz="1200" dirty="0">
                <a:solidFill>
                  <a:srgbClr val="00C896"/>
                </a:solidFill>
              </a:rPr>
              <a:t>✓  Uses tools: web, email, code, APIs</a:t>
            </a:r>
            <a:endParaRPr lang="en-US" sz="1200" dirty="0"/>
          </a:p>
        </p:txBody>
      </p:sp>
      <p:sp>
        <p:nvSpPr>
          <p:cNvPr id="25" name="Shape 23"/>
          <p:cNvSpPr/>
          <p:nvPr/>
        </p:nvSpPr>
        <p:spPr>
          <a:xfrm>
            <a:off x="457200" y="4133088"/>
            <a:ext cx="4023360" cy="475488"/>
          </a:xfrm>
          <a:prstGeom prst="rect">
            <a:avLst/>
          </a:prstGeom>
          <a:solidFill>
            <a:srgbClr val="111F3A"/>
          </a:solidFill>
          <a:ln/>
        </p:spPr>
      </p:sp>
      <p:sp>
        <p:nvSpPr>
          <p:cNvPr id="26" name="Text 24"/>
          <p:cNvSpPr/>
          <p:nvPr/>
        </p:nvSpPr>
        <p:spPr>
          <a:xfrm>
            <a:off x="502920" y="4133088"/>
            <a:ext cx="3931920" cy="475488"/>
          </a:xfrm>
          <a:prstGeom prst="rect">
            <a:avLst/>
          </a:prstGeom>
          <a:noFill/>
          <a:ln/>
        </p:spPr>
        <p:txBody>
          <a:bodyPr wrap="square" lIns="0" tIns="0" rIns="0" bIns="0" rtlCol="0" anchor="ctr"/>
          <a:lstStyle/>
          <a:p>
            <a:pPr marL="0" indent="0">
              <a:buNone/>
            </a:pPr>
            <a:r>
              <a:rPr lang="en-US" sz="1200" dirty="0">
                <a:solidFill>
                  <a:srgbClr val="B0BEC5"/>
                </a:solidFill>
              </a:rPr>
              <a:t>✗  You do the thinking</a:t>
            </a:r>
            <a:endParaRPr lang="en-US" sz="1200" dirty="0"/>
          </a:p>
        </p:txBody>
      </p:sp>
      <p:sp>
        <p:nvSpPr>
          <p:cNvPr id="27" name="Shape 25"/>
          <p:cNvSpPr/>
          <p:nvPr/>
        </p:nvSpPr>
        <p:spPr>
          <a:xfrm>
            <a:off x="4663440" y="4133088"/>
            <a:ext cx="4023360" cy="475488"/>
          </a:xfrm>
          <a:prstGeom prst="rect">
            <a:avLst/>
          </a:prstGeom>
          <a:solidFill>
            <a:srgbClr val="0D2A52"/>
          </a:solidFill>
          <a:ln/>
        </p:spPr>
      </p:sp>
      <p:sp>
        <p:nvSpPr>
          <p:cNvPr id="28" name="Text 26"/>
          <p:cNvSpPr/>
          <p:nvPr/>
        </p:nvSpPr>
        <p:spPr>
          <a:xfrm>
            <a:off x="4709160" y="4133088"/>
            <a:ext cx="3931920" cy="475488"/>
          </a:xfrm>
          <a:prstGeom prst="rect">
            <a:avLst/>
          </a:prstGeom>
          <a:noFill/>
          <a:ln/>
        </p:spPr>
        <p:txBody>
          <a:bodyPr wrap="square" lIns="0" tIns="0" rIns="0" bIns="0" rtlCol="0" anchor="ctr"/>
          <a:lstStyle/>
          <a:p>
            <a:pPr marL="0" indent="0">
              <a:buNone/>
            </a:pPr>
            <a:r>
              <a:rPr lang="en-US" sz="1200" dirty="0">
                <a:solidFill>
                  <a:srgbClr val="00C896"/>
                </a:solidFill>
              </a:rPr>
              <a:t>✓  It does the thinking FOR you</a:t>
            </a:r>
            <a:endParaRPr lang="en-US" sz="1200" dirty="0"/>
          </a:p>
        </p:txBody>
      </p:sp>
      <p:sp>
        <p:nvSpPr>
          <p:cNvPr id="29" name="Shape 27"/>
          <p:cNvSpPr/>
          <p:nvPr/>
        </p:nvSpPr>
        <p:spPr>
          <a:xfrm>
            <a:off x="4251960" y="2423160"/>
            <a:ext cx="640080" cy="640080"/>
          </a:xfrm>
          <a:prstGeom prst="ellipse">
            <a:avLst/>
          </a:prstGeom>
          <a:solidFill>
            <a:srgbClr val="FF6B35"/>
          </a:solidFill>
          <a:ln/>
        </p:spPr>
      </p:sp>
      <p:sp>
        <p:nvSpPr>
          <p:cNvPr id="30" name="Text 28"/>
          <p:cNvSpPr/>
          <p:nvPr/>
        </p:nvSpPr>
        <p:spPr>
          <a:xfrm>
            <a:off x="4251960" y="2423160"/>
            <a:ext cx="640080" cy="640080"/>
          </a:xfrm>
          <a:prstGeom prst="rect">
            <a:avLst/>
          </a:prstGeom>
          <a:noFill/>
          <a:ln/>
        </p:spPr>
        <p:txBody>
          <a:bodyPr wrap="square" lIns="0" tIns="0" rIns="0" bIns="0" rtlCol="0" anchor="ctr"/>
          <a:lstStyle/>
          <a:p>
            <a:pPr marL="0" indent="0" algn="ctr">
              <a:buNone/>
            </a:pPr>
            <a:r>
              <a:rPr lang="en-US" sz="1300" b="1" dirty="0">
                <a:solidFill>
                  <a:srgbClr val="FFFFFF"/>
                </a:solidFill>
              </a:rPr>
              <a:t>VS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HOW IT WORKS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The Brain of an AI Agent</a:t>
            </a:r>
            <a:endParaRPr lang="en-US" sz="3200" dirty="0"/>
          </a:p>
        </p:txBody>
      </p:sp>
      <p:sp>
        <p:nvSpPr>
          <p:cNvPr id="5" name="Shape 3"/>
          <p:cNvSpPr/>
          <p:nvPr/>
        </p:nvSpPr>
        <p:spPr>
          <a:xfrm>
            <a:off x="502920" y="1325880"/>
            <a:ext cx="1737360" cy="1737360"/>
          </a:xfrm>
          <a:prstGeom prst="ellipse">
            <a:avLst/>
          </a:prstGeom>
          <a:solidFill>
            <a:srgbClr val="00B4D8">
              <a:alpha val="18000"/>
            </a:srgbClr>
          </a:solidFill>
          <a:ln/>
        </p:spPr>
      </p:sp>
      <p:pic>
        <p:nvPicPr>
          <p:cNvPr id="6" name="Image 0" descr="preencoded.png"/>
          <p:cNvPicPr>
            <a:picLocks noChangeAspect="1"/>
          </p:cNvPicPr>
          <p:nvPr/>
        </p:nvPicPr>
        <p:blipFill>
          <a:blip r:embed="rId3"/>
          <a:stretch>
            <a:fillRect/>
          </a:stretch>
        </p:blipFill>
        <p:spPr>
          <a:xfrm>
            <a:off x="822960" y="1463040"/>
            <a:ext cx="1097280" cy="1097280"/>
          </a:xfrm>
          <a:prstGeom prst="rect">
            <a:avLst/>
          </a:prstGeom>
        </p:spPr>
      </p:pic>
      <p:sp>
        <p:nvSpPr>
          <p:cNvPr id="7" name="Text 4"/>
          <p:cNvSpPr/>
          <p:nvPr/>
        </p:nvSpPr>
        <p:spPr>
          <a:xfrm>
            <a:off x="457200" y="2651760"/>
            <a:ext cx="1828800" cy="365760"/>
          </a:xfrm>
          <a:prstGeom prst="rect">
            <a:avLst/>
          </a:prstGeom>
          <a:noFill/>
          <a:ln/>
        </p:spPr>
        <p:txBody>
          <a:bodyPr wrap="square" rtlCol="0" anchor="ctr"/>
          <a:lstStyle/>
          <a:p>
            <a:pPr marL="0" indent="0" algn="ctr">
              <a:buNone/>
            </a:pPr>
            <a:r>
              <a:rPr lang="en-US" sz="1300" b="1" kern="0" spc="200" dirty="0">
                <a:solidFill>
                  <a:srgbClr val="00B4D8"/>
                </a:solidFill>
              </a:rPr>
              <a:t>PERCEIVE</a:t>
            </a:r>
            <a:endParaRPr lang="en-US" sz="1300" dirty="0"/>
          </a:p>
        </p:txBody>
      </p:sp>
      <p:sp>
        <p:nvSpPr>
          <p:cNvPr id="8" name="Shape 5"/>
          <p:cNvSpPr/>
          <p:nvPr/>
        </p:nvSpPr>
        <p:spPr>
          <a:xfrm>
            <a:off x="457200" y="3063240"/>
            <a:ext cx="1828800" cy="14630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9" name="Text 6"/>
          <p:cNvSpPr/>
          <p:nvPr/>
        </p:nvSpPr>
        <p:spPr>
          <a:xfrm>
            <a:off x="548640" y="3154680"/>
            <a:ext cx="1645920" cy="1371600"/>
          </a:xfrm>
          <a:prstGeom prst="rect">
            <a:avLst/>
          </a:prstGeom>
          <a:noFill/>
          <a:ln/>
        </p:spPr>
        <p:txBody>
          <a:bodyPr wrap="square" rtlCol="0" anchor="t"/>
          <a:lstStyle/>
          <a:p>
            <a:pPr marL="0" indent="0" algn="ctr">
              <a:buNone/>
            </a:pPr>
            <a:r>
              <a:rPr lang="en-US" sz="1100" dirty="0">
                <a:solidFill>
                  <a:srgbClr val="B0BEC5"/>
                </a:solidFill>
                <a:latin typeface="Calibri" pitchFamily="34" charset="0"/>
                <a:ea typeface="Calibri" pitchFamily="34" charset="-122"/>
                <a:cs typeface="Calibri" pitchFamily="34" charset="-120"/>
              </a:rPr>
              <a:t>Takes in data:</a:t>
            </a:r>
            <a:endParaRPr lang="en-US" sz="1100" dirty="0"/>
          </a:p>
          <a:p>
            <a:pPr marL="0" indent="0" algn="ctr">
              <a:buNone/>
            </a:pPr>
            <a:r>
              <a:rPr lang="en-US" sz="1100" dirty="0">
                <a:solidFill>
                  <a:srgbClr val="B0BEC5"/>
                </a:solidFill>
                <a:latin typeface="Calibri" pitchFamily="34" charset="0"/>
                <a:ea typeface="Calibri" pitchFamily="34" charset="-122"/>
                <a:cs typeface="Calibri" pitchFamily="34" charset="-120"/>
              </a:rPr>
              <a:t>Text, images,</a:t>
            </a:r>
            <a:endParaRPr lang="en-US" sz="1100" dirty="0"/>
          </a:p>
          <a:p>
            <a:pPr marL="0" indent="0" algn="ctr">
              <a:buNone/>
            </a:pPr>
            <a:r>
              <a:rPr lang="en-US" sz="1100" dirty="0">
                <a:solidFill>
                  <a:srgbClr val="B0BEC5"/>
                </a:solidFill>
                <a:latin typeface="Calibri" pitchFamily="34" charset="0"/>
                <a:ea typeface="Calibri" pitchFamily="34" charset="-122"/>
                <a:cs typeface="Calibri" pitchFamily="34" charset="-120"/>
              </a:rPr>
              <a:t>websites, files</a:t>
            </a:r>
            <a:endParaRPr lang="en-US" sz="1100" dirty="0"/>
          </a:p>
        </p:txBody>
      </p:sp>
      <p:sp>
        <p:nvSpPr>
          <p:cNvPr id="10" name="Shape 7"/>
          <p:cNvSpPr/>
          <p:nvPr/>
        </p:nvSpPr>
        <p:spPr>
          <a:xfrm>
            <a:off x="2788920" y="1325880"/>
            <a:ext cx="1737360" cy="1737360"/>
          </a:xfrm>
          <a:prstGeom prst="ellipse">
            <a:avLst/>
          </a:prstGeom>
          <a:solidFill>
            <a:srgbClr val="7C3AED">
              <a:alpha val="18000"/>
            </a:srgbClr>
          </a:solidFill>
          <a:ln/>
        </p:spPr>
      </p:sp>
      <p:pic>
        <p:nvPicPr>
          <p:cNvPr id="11" name="Image 1" descr="preencoded.png"/>
          <p:cNvPicPr>
            <a:picLocks noChangeAspect="1"/>
          </p:cNvPicPr>
          <p:nvPr/>
        </p:nvPicPr>
        <p:blipFill>
          <a:blip r:embed="rId4"/>
          <a:stretch>
            <a:fillRect/>
          </a:stretch>
        </p:blipFill>
        <p:spPr>
          <a:xfrm>
            <a:off x="3108960" y="1463040"/>
            <a:ext cx="1097280" cy="1097280"/>
          </a:xfrm>
          <a:prstGeom prst="rect">
            <a:avLst/>
          </a:prstGeom>
        </p:spPr>
      </p:pic>
      <p:sp>
        <p:nvSpPr>
          <p:cNvPr id="12" name="Text 8"/>
          <p:cNvSpPr/>
          <p:nvPr/>
        </p:nvSpPr>
        <p:spPr>
          <a:xfrm>
            <a:off x="2743200" y="2651760"/>
            <a:ext cx="1828800" cy="365760"/>
          </a:xfrm>
          <a:prstGeom prst="rect">
            <a:avLst/>
          </a:prstGeom>
          <a:noFill/>
          <a:ln/>
        </p:spPr>
        <p:txBody>
          <a:bodyPr wrap="square" rtlCol="0" anchor="ctr"/>
          <a:lstStyle/>
          <a:p>
            <a:pPr marL="0" indent="0" algn="ctr">
              <a:buNone/>
            </a:pPr>
            <a:r>
              <a:rPr lang="en-US" sz="1300" b="1" kern="0" spc="200" dirty="0">
                <a:solidFill>
                  <a:srgbClr val="7C3AED"/>
                </a:solidFill>
              </a:rPr>
              <a:t>THINK</a:t>
            </a:r>
            <a:endParaRPr lang="en-US" sz="1300" dirty="0"/>
          </a:p>
        </p:txBody>
      </p:sp>
      <p:sp>
        <p:nvSpPr>
          <p:cNvPr id="13" name="Shape 9"/>
          <p:cNvSpPr/>
          <p:nvPr/>
        </p:nvSpPr>
        <p:spPr>
          <a:xfrm>
            <a:off x="2743200" y="3063240"/>
            <a:ext cx="1828800" cy="14630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4" name="Text 10"/>
          <p:cNvSpPr/>
          <p:nvPr/>
        </p:nvSpPr>
        <p:spPr>
          <a:xfrm>
            <a:off x="2834640" y="3154680"/>
            <a:ext cx="1645920" cy="1371600"/>
          </a:xfrm>
          <a:prstGeom prst="rect">
            <a:avLst/>
          </a:prstGeom>
          <a:noFill/>
          <a:ln/>
        </p:spPr>
        <p:txBody>
          <a:bodyPr wrap="square" rtlCol="0" anchor="t"/>
          <a:lstStyle/>
          <a:p>
            <a:pPr marL="0" indent="0" algn="ctr">
              <a:buNone/>
            </a:pPr>
            <a:r>
              <a:rPr lang="en-US" sz="1100" dirty="0">
                <a:solidFill>
                  <a:srgbClr val="B0BEC5"/>
                </a:solidFill>
                <a:latin typeface="Calibri" pitchFamily="34" charset="0"/>
                <a:ea typeface="Calibri" pitchFamily="34" charset="-122"/>
                <a:cs typeface="Calibri" pitchFamily="34" charset="-120"/>
              </a:rPr>
              <a:t>Uses AI to plan:</a:t>
            </a:r>
            <a:endParaRPr lang="en-US" sz="1100" dirty="0"/>
          </a:p>
          <a:p>
            <a:pPr marL="0" indent="0" algn="ctr">
              <a:buNone/>
            </a:pPr>
            <a:r>
              <a:rPr lang="en-US" sz="1100" dirty="0">
                <a:solidFill>
                  <a:srgbClr val="B0BEC5"/>
                </a:solidFill>
                <a:latin typeface="Calibri" pitchFamily="34" charset="0"/>
                <a:ea typeface="Calibri" pitchFamily="34" charset="-122"/>
                <a:cs typeface="Calibri" pitchFamily="34" charset="-120"/>
              </a:rPr>
              <a:t>What is the goal?</a:t>
            </a:r>
            <a:endParaRPr lang="en-US" sz="1100" dirty="0"/>
          </a:p>
          <a:p>
            <a:pPr marL="0" indent="0" algn="ctr">
              <a:buNone/>
            </a:pPr>
            <a:r>
              <a:rPr lang="en-US" sz="1100" dirty="0">
                <a:solidFill>
                  <a:srgbClr val="B0BEC5"/>
                </a:solidFill>
                <a:latin typeface="Calibri" pitchFamily="34" charset="0"/>
                <a:ea typeface="Calibri" pitchFamily="34" charset="-122"/>
                <a:cs typeface="Calibri" pitchFamily="34" charset="-120"/>
              </a:rPr>
              <a:t>What steps to take?</a:t>
            </a:r>
            <a:endParaRPr lang="en-US" sz="1100" dirty="0"/>
          </a:p>
        </p:txBody>
      </p:sp>
      <p:sp>
        <p:nvSpPr>
          <p:cNvPr id="15" name="Shape 11"/>
          <p:cNvSpPr/>
          <p:nvPr/>
        </p:nvSpPr>
        <p:spPr>
          <a:xfrm>
            <a:off x="5074920" y="1325880"/>
            <a:ext cx="1737360" cy="1737360"/>
          </a:xfrm>
          <a:prstGeom prst="ellipse">
            <a:avLst/>
          </a:prstGeom>
          <a:solidFill>
            <a:srgbClr val="00C896">
              <a:alpha val="18000"/>
            </a:srgbClr>
          </a:solidFill>
          <a:ln/>
        </p:spPr>
      </p:sp>
      <p:pic>
        <p:nvPicPr>
          <p:cNvPr id="16" name="Image 2" descr="preencoded.png"/>
          <p:cNvPicPr>
            <a:picLocks noChangeAspect="1"/>
          </p:cNvPicPr>
          <p:nvPr/>
        </p:nvPicPr>
        <p:blipFill>
          <a:blip r:embed="rId5"/>
          <a:stretch>
            <a:fillRect/>
          </a:stretch>
        </p:blipFill>
        <p:spPr>
          <a:xfrm>
            <a:off x="5394960" y="1463040"/>
            <a:ext cx="1097280" cy="1097280"/>
          </a:xfrm>
          <a:prstGeom prst="rect">
            <a:avLst/>
          </a:prstGeom>
        </p:spPr>
      </p:pic>
      <p:sp>
        <p:nvSpPr>
          <p:cNvPr id="17" name="Text 12"/>
          <p:cNvSpPr/>
          <p:nvPr/>
        </p:nvSpPr>
        <p:spPr>
          <a:xfrm>
            <a:off x="5029200" y="2651760"/>
            <a:ext cx="1828800" cy="365760"/>
          </a:xfrm>
          <a:prstGeom prst="rect">
            <a:avLst/>
          </a:prstGeom>
          <a:noFill/>
          <a:ln/>
        </p:spPr>
        <p:txBody>
          <a:bodyPr wrap="square" rtlCol="0" anchor="ctr"/>
          <a:lstStyle/>
          <a:p>
            <a:pPr marL="0" indent="0" algn="ctr">
              <a:buNone/>
            </a:pPr>
            <a:r>
              <a:rPr lang="en-US" sz="1300" b="1" kern="0" spc="200" dirty="0">
                <a:solidFill>
                  <a:srgbClr val="00C896"/>
                </a:solidFill>
              </a:rPr>
              <a:t>ACT</a:t>
            </a:r>
            <a:endParaRPr lang="en-US" sz="1300" dirty="0"/>
          </a:p>
        </p:txBody>
      </p:sp>
      <p:sp>
        <p:nvSpPr>
          <p:cNvPr id="18" name="Shape 13"/>
          <p:cNvSpPr/>
          <p:nvPr/>
        </p:nvSpPr>
        <p:spPr>
          <a:xfrm>
            <a:off x="5029200" y="3063240"/>
            <a:ext cx="1828800" cy="14630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9" name="Text 14"/>
          <p:cNvSpPr/>
          <p:nvPr/>
        </p:nvSpPr>
        <p:spPr>
          <a:xfrm>
            <a:off x="5120640" y="3154680"/>
            <a:ext cx="1645920" cy="1371600"/>
          </a:xfrm>
          <a:prstGeom prst="rect">
            <a:avLst/>
          </a:prstGeom>
          <a:noFill/>
          <a:ln/>
        </p:spPr>
        <p:txBody>
          <a:bodyPr wrap="square" rtlCol="0" anchor="t"/>
          <a:lstStyle/>
          <a:p>
            <a:pPr marL="0" indent="0" algn="ctr">
              <a:buNone/>
            </a:pPr>
            <a:r>
              <a:rPr lang="en-US" sz="1100" dirty="0">
                <a:solidFill>
                  <a:srgbClr val="B0BEC5"/>
                </a:solidFill>
                <a:latin typeface="Calibri" pitchFamily="34" charset="0"/>
                <a:ea typeface="Calibri" pitchFamily="34" charset="-122"/>
                <a:cs typeface="Calibri" pitchFamily="34" charset="-120"/>
              </a:rPr>
              <a:t>Executes actions:</a:t>
            </a:r>
            <a:endParaRPr lang="en-US" sz="1100" dirty="0"/>
          </a:p>
          <a:p>
            <a:pPr marL="0" indent="0" algn="ctr">
              <a:buNone/>
            </a:pPr>
            <a:r>
              <a:rPr lang="en-US" sz="1100" dirty="0">
                <a:solidFill>
                  <a:srgbClr val="B0BEC5"/>
                </a:solidFill>
                <a:latin typeface="Calibri" pitchFamily="34" charset="0"/>
                <a:ea typeface="Calibri" pitchFamily="34" charset="-122"/>
                <a:cs typeface="Calibri" pitchFamily="34" charset="-120"/>
              </a:rPr>
              <a:t>Sends email, runs</a:t>
            </a:r>
            <a:endParaRPr lang="en-US" sz="1100" dirty="0"/>
          </a:p>
          <a:p>
            <a:pPr marL="0" indent="0" algn="ctr">
              <a:buNone/>
            </a:pPr>
            <a:r>
              <a:rPr lang="en-US" sz="1100" dirty="0">
                <a:solidFill>
                  <a:srgbClr val="B0BEC5"/>
                </a:solidFill>
                <a:latin typeface="Calibri" pitchFamily="34" charset="0"/>
                <a:ea typeface="Calibri" pitchFamily="34" charset="-122"/>
                <a:cs typeface="Calibri" pitchFamily="34" charset="-120"/>
              </a:rPr>
              <a:t>code, searches web</a:t>
            </a:r>
            <a:endParaRPr lang="en-US" sz="1100" dirty="0"/>
          </a:p>
        </p:txBody>
      </p:sp>
      <p:sp>
        <p:nvSpPr>
          <p:cNvPr id="20" name="Shape 15"/>
          <p:cNvSpPr/>
          <p:nvPr/>
        </p:nvSpPr>
        <p:spPr>
          <a:xfrm>
            <a:off x="7360920" y="1325880"/>
            <a:ext cx="1737360" cy="1737360"/>
          </a:xfrm>
          <a:prstGeom prst="ellipse">
            <a:avLst/>
          </a:prstGeom>
          <a:solidFill>
            <a:srgbClr val="FFD166">
              <a:alpha val="18000"/>
            </a:srgbClr>
          </a:solidFill>
          <a:ln/>
        </p:spPr>
      </p:sp>
      <p:pic>
        <p:nvPicPr>
          <p:cNvPr id="21" name="Image 3" descr="preencoded.png"/>
          <p:cNvPicPr>
            <a:picLocks noChangeAspect="1"/>
          </p:cNvPicPr>
          <p:nvPr/>
        </p:nvPicPr>
        <p:blipFill>
          <a:blip r:embed="rId6"/>
          <a:stretch>
            <a:fillRect/>
          </a:stretch>
        </p:blipFill>
        <p:spPr>
          <a:xfrm>
            <a:off x="7680960" y="1463040"/>
            <a:ext cx="1097280" cy="1097280"/>
          </a:xfrm>
          <a:prstGeom prst="rect">
            <a:avLst/>
          </a:prstGeom>
        </p:spPr>
      </p:pic>
      <p:sp>
        <p:nvSpPr>
          <p:cNvPr id="22" name="Text 16"/>
          <p:cNvSpPr/>
          <p:nvPr/>
        </p:nvSpPr>
        <p:spPr>
          <a:xfrm>
            <a:off x="7315200" y="2651760"/>
            <a:ext cx="1828800" cy="365760"/>
          </a:xfrm>
          <a:prstGeom prst="rect">
            <a:avLst/>
          </a:prstGeom>
          <a:noFill/>
          <a:ln/>
        </p:spPr>
        <p:txBody>
          <a:bodyPr wrap="square" rtlCol="0" anchor="ctr"/>
          <a:lstStyle/>
          <a:p>
            <a:pPr marL="0" indent="0" algn="ctr">
              <a:buNone/>
            </a:pPr>
            <a:r>
              <a:rPr lang="en-US" sz="1300" b="1" kern="0" spc="200" dirty="0">
                <a:solidFill>
                  <a:srgbClr val="FFD166"/>
                </a:solidFill>
              </a:rPr>
              <a:t>REMEMBER</a:t>
            </a:r>
            <a:endParaRPr lang="en-US" sz="1300" dirty="0"/>
          </a:p>
        </p:txBody>
      </p:sp>
      <p:sp>
        <p:nvSpPr>
          <p:cNvPr id="23" name="Shape 17"/>
          <p:cNvSpPr/>
          <p:nvPr/>
        </p:nvSpPr>
        <p:spPr>
          <a:xfrm>
            <a:off x="7315200" y="3063240"/>
            <a:ext cx="1828800" cy="14630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4" name="Text 18"/>
          <p:cNvSpPr/>
          <p:nvPr/>
        </p:nvSpPr>
        <p:spPr>
          <a:xfrm>
            <a:off x="7406640" y="3154680"/>
            <a:ext cx="1645920" cy="1371600"/>
          </a:xfrm>
          <a:prstGeom prst="rect">
            <a:avLst/>
          </a:prstGeom>
          <a:noFill/>
          <a:ln/>
        </p:spPr>
        <p:txBody>
          <a:bodyPr wrap="square" rtlCol="0" anchor="t"/>
          <a:lstStyle/>
          <a:p>
            <a:pPr marL="0" indent="0" algn="ctr">
              <a:buNone/>
            </a:pPr>
            <a:r>
              <a:rPr lang="en-US" sz="1100" dirty="0">
                <a:solidFill>
                  <a:srgbClr val="B0BEC5"/>
                </a:solidFill>
                <a:latin typeface="Calibri" pitchFamily="34" charset="0"/>
                <a:ea typeface="Calibri" pitchFamily="34" charset="-122"/>
                <a:cs typeface="Calibri" pitchFamily="34" charset="-120"/>
              </a:rPr>
              <a:t>Stores results:</a:t>
            </a:r>
            <a:endParaRPr lang="en-US" sz="1100" dirty="0"/>
          </a:p>
          <a:p>
            <a:pPr marL="0" indent="0" algn="ctr">
              <a:buNone/>
            </a:pPr>
            <a:r>
              <a:rPr lang="en-US" sz="1100" dirty="0">
                <a:solidFill>
                  <a:srgbClr val="B0BEC5"/>
                </a:solidFill>
                <a:latin typeface="Calibri" pitchFamily="34" charset="0"/>
                <a:ea typeface="Calibri" pitchFamily="34" charset="-122"/>
                <a:cs typeface="Calibri" pitchFamily="34" charset="-120"/>
              </a:rPr>
              <a:t>Learns from past</a:t>
            </a:r>
            <a:endParaRPr lang="en-US" sz="1100" dirty="0"/>
          </a:p>
          <a:p>
            <a:pPr marL="0" indent="0" algn="ctr">
              <a:buNone/>
            </a:pPr>
            <a:r>
              <a:rPr lang="en-US" sz="1100" dirty="0">
                <a:solidFill>
                  <a:srgbClr val="B0BEC5"/>
                </a:solidFill>
                <a:latin typeface="Calibri" pitchFamily="34" charset="0"/>
                <a:ea typeface="Calibri" pitchFamily="34" charset="-122"/>
                <a:cs typeface="Calibri" pitchFamily="34" charset="-120"/>
              </a:rPr>
              <a:t>actions &amp; outcomes</a:t>
            </a:r>
            <a:endParaRPr lang="en-US" sz="1100" dirty="0"/>
          </a:p>
        </p:txBody>
      </p:sp>
      <p:sp>
        <p:nvSpPr>
          <p:cNvPr id="25" name="Shape 19"/>
          <p:cNvSpPr/>
          <p:nvPr/>
        </p:nvSpPr>
        <p:spPr>
          <a:xfrm>
            <a:off x="2286000" y="2057400"/>
            <a:ext cx="502920" cy="54864"/>
          </a:xfrm>
          <a:prstGeom prst="rect">
            <a:avLst/>
          </a:prstGeom>
          <a:solidFill>
            <a:srgbClr val="1565C0"/>
          </a:solidFill>
          <a:ln/>
        </p:spPr>
      </p:sp>
      <p:sp>
        <p:nvSpPr>
          <p:cNvPr id="26" name="Text 20"/>
          <p:cNvSpPr/>
          <p:nvPr/>
        </p:nvSpPr>
        <p:spPr>
          <a:xfrm>
            <a:off x="2651760" y="1901952"/>
            <a:ext cx="274320" cy="365760"/>
          </a:xfrm>
          <a:prstGeom prst="rect">
            <a:avLst/>
          </a:prstGeom>
          <a:noFill/>
          <a:ln/>
        </p:spPr>
        <p:txBody>
          <a:bodyPr wrap="square" rtlCol="0" anchor="ctr"/>
          <a:lstStyle/>
          <a:p>
            <a:pPr marL="0" indent="0" algn="ctr">
              <a:buNone/>
            </a:pPr>
            <a:r>
              <a:rPr lang="en-US" sz="1400" dirty="0">
                <a:solidFill>
                  <a:srgbClr val="1565C0"/>
                </a:solidFill>
              </a:rPr>
              <a:t>▶</a:t>
            </a:r>
            <a:endParaRPr lang="en-US" sz="1400" dirty="0"/>
          </a:p>
        </p:txBody>
      </p:sp>
      <p:sp>
        <p:nvSpPr>
          <p:cNvPr id="27" name="Shape 21"/>
          <p:cNvSpPr/>
          <p:nvPr/>
        </p:nvSpPr>
        <p:spPr>
          <a:xfrm>
            <a:off x="4572000" y="2057400"/>
            <a:ext cx="502920" cy="54864"/>
          </a:xfrm>
          <a:prstGeom prst="rect">
            <a:avLst/>
          </a:prstGeom>
          <a:solidFill>
            <a:srgbClr val="1565C0"/>
          </a:solidFill>
          <a:ln/>
        </p:spPr>
      </p:sp>
      <p:sp>
        <p:nvSpPr>
          <p:cNvPr id="28" name="Text 22"/>
          <p:cNvSpPr/>
          <p:nvPr/>
        </p:nvSpPr>
        <p:spPr>
          <a:xfrm>
            <a:off x="4937760" y="1901952"/>
            <a:ext cx="274320" cy="365760"/>
          </a:xfrm>
          <a:prstGeom prst="rect">
            <a:avLst/>
          </a:prstGeom>
          <a:noFill/>
          <a:ln/>
        </p:spPr>
        <p:txBody>
          <a:bodyPr wrap="square" rtlCol="0" anchor="ctr"/>
          <a:lstStyle/>
          <a:p>
            <a:pPr marL="0" indent="0" algn="ctr">
              <a:buNone/>
            </a:pPr>
            <a:r>
              <a:rPr lang="en-US" sz="1400" dirty="0">
                <a:solidFill>
                  <a:srgbClr val="1565C0"/>
                </a:solidFill>
              </a:rPr>
              <a:t>▶</a:t>
            </a:r>
            <a:endParaRPr lang="en-US" sz="1400" dirty="0"/>
          </a:p>
        </p:txBody>
      </p:sp>
      <p:sp>
        <p:nvSpPr>
          <p:cNvPr id="29" name="Shape 23"/>
          <p:cNvSpPr/>
          <p:nvPr/>
        </p:nvSpPr>
        <p:spPr>
          <a:xfrm>
            <a:off x="6858000" y="2057400"/>
            <a:ext cx="502920" cy="54864"/>
          </a:xfrm>
          <a:prstGeom prst="rect">
            <a:avLst/>
          </a:prstGeom>
          <a:solidFill>
            <a:srgbClr val="1565C0"/>
          </a:solidFill>
          <a:ln/>
        </p:spPr>
      </p:sp>
      <p:sp>
        <p:nvSpPr>
          <p:cNvPr id="30" name="Text 24"/>
          <p:cNvSpPr/>
          <p:nvPr/>
        </p:nvSpPr>
        <p:spPr>
          <a:xfrm>
            <a:off x="7223760" y="1901952"/>
            <a:ext cx="274320" cy="365760"/>
          </a:xfrm>
          <a:prstGeom prst="rect">
            <a:avLst/>
          </a:prstGeom>
          <a:noFill/>
          <a:ln/>
        </p:spPr>
        <p:txBody>
          <a:bodyPr wrap="square" rtlCol="0" anchor="ctr"/>
          <a:lstStyle/>
          <a:p>
            <a:pPr marL="0" indent="0" algn="ctr">
              <a:buNone/>
            </a:pPr>
            <a:r>
              <a:rPr lang="en-US" sz="1400" dirty="0">
                <a:solidFill>
                  <a:srgbClr val="1565C0"/>
                </a:solidFill>
              </a:rPr>
              <a:t>▶</a:t>
            </a:r>
            <a:endParaRPr lang="en-US" sz="1400" dirty="0"/>
          </a:p>
        </p:txBody>
      </p:sp>
      <p:sp>
        <p:nvSpPr>
          <p:cNvPr id="31" name="TextBox 30"/>
          <p:cNvSpPr txBox="1"/>
          <p:nvPr/>
        </p:nvSpPr>
        <p:spPr>
          <a:xfrm>
            <a:off x="457200" y="3474720"/>
            <a:ext cx="8229600" cy="1371600"/>
          </a:xfrm>
          <a:prstGeom prst="rect">
            <a:avLst/>
          </a:prstGeom>
          <a:noFill/>
        </p:spPr>
        <p:txBody>
          <a:bodyPr wrap="square">
            <a:spAutoFit/>
          </a:bodyPr>
          <a:lstStyle/>
          <a:p>
            <a:pPr>
              <a:defRPr sz="1200" b="1">
                <a:solidFill>
                  <a:srgbClr val="FFD166"/>
                </a:solidFill>
              </a:defRPr>
            </a:pPr>
            <a:r>
              <a:t>Script: </a:t>
            </a:r>
          </a:p>
          <a:p>
            <a:pPr>
              <a:spcBef>
                <a:spcPts val="600"/>
              </a:spcBef>
              <a:defRPr sz="1100">
                <a:solidFill>
                  <a:srgbClr val="B0BEC5"/>
                </a:solidFill>
              </a:defRPr>
            </a:pPr>
            <a:r>
              <a:t>"An AI Agent follows a continuous cycle: First, it PERCEIVES the input data or task at hand. Then it THINKS through the best approach using its AI brain. Next, it ACTS by executing the necessary operations. Finally, it REMEMBERS the outcomes for future improvement. This loop repeats until the goal is achieved."</a:t>
            </a:r>
          </a:p>
          <a:p>
            <a:pPr>
              <a:spcBef>
                <a:spcPts val="600"/>
              </a:spcBef>
              <a:defRPr sz="1000">
                <a:solidFill>
                  <a:srgbClr val="00B4D8"/>
                </a:solidFill>
              </a:defRPr>
            </a:pPr>
            <a:r>
              <a:t>Key Terms: Perceive = Input &amp; Understanding | Think = Planning &amp; Reasoning | Act = Execution | Remember = Learning &amp; Context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FFD166"/>
          </a:solidFill>
          <a:ln/>
        </p:spPr>
        <p:txBody>
          <a:bodyPr/>
          <a:lstStyle/>
          <a:p>
            <a:endParaRPr/>
          </a:p>
        </p:txBody>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TYPES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Types of AI Agents</a:t>
            </a:r>
            <a:endParaRPr lang="en-US" sz="3200" dirty="0"/>
          </a:p>
        </p:txBody>
      </p:sp>
      <p:sp>
        <p:nvSpPr>
          <p:cNvPr id="5" name="Shape 3"/>
          <p:cNvSpPr/>
          <p:nvPr/>
        </p:nvSpPr>
        <p:spPr>
          <a:xfrm>
            <a:off x="457200" y="137160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txBody>
          <a:bodyPr/>
          <a:lstStyle/>
          <a:p>
            <a:endParaRPr/>
          </a:p>
        </p:txBody>
      </p:sp>
      <p:sp>
        <p:nvSpPr>
          <p:cNvPr id="6" name="Shape 4"/>
          <p:cNvSpPr/>
          <p:nvPr/>
        </p:nvSpPr>
        <p:spPr>
          <a:xfrm>
            <a:off x="457200" y="1371600"/>
            <a:ext cx="2743200" cy="36576"/>
          </a:xfrm>
          <a:prstGeom prst="rect">
            <a:avLst/>
          </a:prstGeom>
          <a:solidFill>
            <a:srgbClr val="00B4D8"/>
          </a:solidFill>
          <a:ln/>
        </p:spPr>
        <p:txBody>
          <a:bodyPr/>
          <a:lstStyle/>
          <a:p>
            <a:endParaRPr/>
          </a:p>
        </p:txBody>
      </p:sp>
      <p:pic>
        <p:nvPicPr>
          <p:cNvPr id="7" name="Image 0" descr="preencoded.png"/>
          <p:cNvPicPr>
            <a:picLocks noChangeAspect="1"/>
          </p:cNvPicPr>
          <p:nvPr/>
        </p:nvPicPr>
        <p:blipFill>
          <a:blip r:embed="rId3"/>
          <a:stretch>
            <a:fillRect/>
          </a:stretch>
        </p:blipFill>
        <p:spPr>
          <a:xfrm>
            <a:off x="594360" y="1481328"/>
            <a:ext cx="457200" cy="457200"/>
          </a:xfrm>
          <a:prstGeom prst="rect">
            <a:avLst/>
          </a:prstGeom>
        </p:spPr>
      </p:pic>
      <p:sp>
        <p:nvSpPr>
          <p:cNvPr id="8" name="Text 5"/>
          <p:cNvSpPr/>
          <p:nvPr/>
        </p:nvSpPr>
        <p:spPr>
          <a:xfrm>
            <a:off x="1115568" y="1481328"/>
            <a:ext cx="2011680" cy="457200"/>
          </a:xfrm>
          <a:prstGeom prst="rect">
            <a:avLst/>
          </a:prstGeom>
          <a:noFill/>
          <a:ln/>
        </p:spPr>
        <p:txBody>
          <a:bodyPr wrap="square" lIns="0" tIns="0" rIns="0" bIns="0" rtlCol="0" anchor="ctr"/>
          <a:lstStyle/>
          <a:p>
            <a:pPr marL="0" indent="0">
              <a:buNone/>
            </a:pPr>
            <a:r>
              <a:rPr lang="en-US" sz="1300" b="1" dirty="0">
                <a:solidFill>
                  <a:srgbClr val="00B4D8"/>
                </a:solidFill>
              </a:rPr>
              <a:t>Simple Reflex</a:t>
            </a:r>
            <a:endParaRPr lang="en-US" sz="1300" dirty="0"/>
          </a:p>
        </p:txBody>
      </p:sp>
      <p:sp>
        <p:nvSpPr>
          <p:cNvPr id="9" name="Text 6"/>
          <p:cNvSpPr/>
          <p:nvPr/>
        </p:nvSpPr>
        <p:spPr>
          <a:xfrm>
            <a:off x="566928" y="2011680"/>
            <a:ext cx="2514600" cy="868680"/>
          </a:xfrm>
          <a:prstGeom prst="rect">
            <a:avLst/>
          </a:prstGeom>
          <a:noFill/>
          <a:ln/>
        </p:spPr>
        <p:txBody>
          <a:bodyPr wrap="square" rtlCol="0" anchor="t"/>
          <a:lstStyle/>
          <a:p>
            <a:pPr marL="0" indent="0">
              <a:buNone/>
              <a:defRPr sz="1400" b="1">
                <a:solidFill>
                  <a:srgbClr val="00B4D8"/>
                </a:solidFill>
              </a:defRPr>
            </a:pPr>
            <a:r>
              <a:t>Simple Reflex Agent</a:t>
            </a:r>
            <a:endParaRPr lang="en-US" sz="1100" dirty="0"/>
          </a:p>
          <a:p>
            <a:pPr>
              <a:defRPr sz="1100">
                <a:solidFill>
                  <a:srgbClr val="B0BEC5"/>
                </a:solidFill>
              </a:defRPr>
            </a:pPr>
            <a:r>
              <a:t>Responds immediately to current input without memory or planning. Acts based on fixed rules.</a:t>
            </a:r>
          </a:p>
          <a:p>
            <a:br/>
            <a:r>
              <a:t>Example: Smart Email Filter</a:t>
            </a:r>
          </a:p>
          <a:p>
            <a:pPr>
              <a:defRPr sz="1000">
                <a:solidFill>
                  <a:srgbClr val="B0BEC5"/>
                </a:solidFill>
              </a:defRPr>
            </a:pPr>
            <a:r>
              <a:t>Rule: IF email contains 'buy now' → Move to Spam folder. Instantly, no thinking required.</a:t>
            </a:r>
          </a:p>
        </p:txBody>
      </p:sp>
      <p:sp>
        <p:nvSpPr>
          <p:cNvPr id="10" name="Shape 7"/>
          <p:cNvSpPr/>
          <p:nvPr/>
        </p:nvSpPr>
        <p:spPr>
          <a:xfrm>
            <a:off x="3364992" y="137160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txBody>
          <a:bodyPr/>
          <a:lstStyle/>
          <a:p>
            <a:endParaRPr/>
          </a:p>
        </p:txBody>
      </p:sp>
      <p:sp>
        <p:nvSpPr>
          <p:cNvPr id="11" name="Shape 8"/>
          <p:cNvSpPr/>
          <p:nvPr/>
        </p:nvSpPr>
        <p:spPr>
          <a:xfrm>
            <a:off x="3364992" y="1371600"/>
            <a:ext cx="2743200" cy="36576"/>
          </a:xfrm>
          <a:prstGeom prst="rect">
            <a:avLst/>
          </a:prstGeom>
          <a:solidFill>
            <a:srgbClr val="7C3AED"/>
          </a:solidFill>
          <a:ln/>
        </p:spPr>
        <p:txBody>
          <a:bodyPr/>
          <a:lstStyle/>
          <a:p>
            <a:endParaRPr/>
          </a:p>
        </p:txBody>
      </p:sp>
      <p:pic>
        <p:nvPicPr>
          <p:cNvPr id="12" name="Image 1" descr="preencoded.png"/>
          <p:cNvPicPr>
            <a:picLocks noChangeAspect="1"/>
          </p:cNvPicPr>
          <p:nvPr/>
        </p:nvPicPr>
        <p:blipFill>
          <a:blip r:embed="rId4"/>
          <a:stretch>
            <a:fillRect/>
          </a:stretch>
        </p:blipFill>
        <p:spPr>
          <a:xfrm>
            <a:off x="3502152" y="1481328"/>
            <a:ext cx="457200" cy="457200"/>
          </a:xfrm>
          <a:prstGeom prst="rect">
            <a:avLst/>
          </a:prstGeom>
        </p:spPr>
      </p:pic>
      <p:sp>
        <p:nvSpPr>
          <p:cNvPr id="13" name="Text 9"/>
          <p:cNvSpPr/>
          <p:nvPr/>
        </p:nvSpPr>
        <p:spPr>
          <a:xfrm>
            <a:off x="4023360" y="1481328"/>
            <a:ext cx="2011680" cy="457200"/>
          </a:xfrm>
          <a:prstGeom prst="rect">
            <a:avLst/>
          </a:prstGeom>
          <a:noFill/>
          <a:ln/>
        </p:spPr>
        <p:txBody>
          <a:bodyPr wrap="square" lIns="0" tIns="0" rIns="0" bIns="0" rtlCol="0" anchor="ctr"/>
          <a:lstStyle/>
          <a:p>
            <a:pPr marL="0" indent="0">
              <a:buNone/>
            </a:pPr>
            <a:r>
              <a:rPr lang="en-US" sz="1300" b="1" dirty="0">
                <a:solidFill>
                  <a:srgbClr val="7C3AED"/>
                </a:solidFill>
              </a:rPr>
              <a:t>Model-Based</a:t>
            </a:r>
            <a:endParaRPr lang="en-US" sz="1300" dirty="0"/>
          </a:p>
        </p:txBody>
      </p:sp>
      <p:sp>
        <p:nvSpPr>
          <p:cNvPr id="14" name="Text 10"/>
          <p:cNvSpPr/>
          <p:nvPr/>
        </p:nvSpPr>
        <p:spPr>
          <a:xfrm>
            <a:off x="3474720" y="2011680"/>
            <a:ext cx="2514600" cy="868680"/>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Keeps memory of past events. Tracks what happened to make better decisions.</a:t>
            </a:r>
            <a:endParaRPr lang="en-US" sz="1100" dirty="0"/>
          </a:p>
        </p:txBody>
      </p:sp>
      <p:sp>
        <p:nvSpPr>
          <p:cNvPr id="15" name="Shape 11"/>
          <p:cNvSpPr/>
          <p:nvPr/>
        </p:nvSpPr>
        <p:spPr>
          <a:xfrm>
            <a:off x="6272784" y="137160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txBody>
          <a:bodyPr/>
          <a:lstStyle/>
          <a:p>
            <a:endParaRPr/>
          </a:p>
        </p:txBody>
      </p:sp>
      <p:sp>
        <p:nvSpPr>
          <p:cNvPr id="16" name="Shape 12"/>
          <p:cNvSpPr/>
          <p:nvPr/>
        </p:nvSpPr>
        <p:spPr>
          <a:xfrm>
            <a:off x="6272784" y="1371600"/>
            <a:ext cx="2743200" cy="36576"/>
          </a:xfrm>
          <a:prstGeom prst="rect">
            <a:avLst/>
          </a:prstGeom>
          <a:solidFill>
            <a:srgbClr val="00C896"/>
          </a:solidFill>
          <a:ln/>
        </p:spPr>
        <p:txBody>
          <a:bodyPr/>
          <a:lstStyle/>
          <a:p>
            <a:endParaRPr/>
          </a:p>
        </p:txBody>
      </p:sp>
      <p:pic>
        <p:nvPicPr>
          <p:cNvPr id="17" name="Image 2" descr="preencoded.png"/>
          <p:cNvPicPr>
            <a:picLocks noChangeAspect="1"/>
          </p:cNvPicPr>
          <p:nvPr/>
        </p:nvPicPr>
        <p:blipFill>
          <a:blip r:embed="rId5"/>
          <a:stretch>
            <a:fillRect/>
          </a:stretch>
        </p:blipFill>
        <p:spPr>
          <a:xfrm>
            <a:off x="6409944" y="1481328"/>
            <a:ext cx="457200" cy="457200"/>
          </a:xfrm>
          <a:prstGeom prst="rect">
            <a:avLst/>
          </a:prstGeom>
        </p:spPr>
      </p:pic>
      <p:sp>
        <p:nvSpPr>
          <p:cNvPr id="18" name="Text 13"/>
          <p:cNvSpPr/>
          <p:nvPr/>
        </p:nvSpPr>
        <p:spPr>
          <a:xfrm>
            <a:off x="6931152" y="1481328"/>
            <a:ext cx="2011680" cy="457200"/>
          </a:xfrm>
          <a:prstGeom prst="rect">
            <a:avLst/>
          </a:prstGeom>
          <a:noFill/>
          <a:ln/>
        </p:spPr>
        <p:txBody>
          <a:bodyPr wrap="square" lIns="0" tIns="0" rIns="0" bIns="0" rtlCol="0" anchor="ctr"/>
          <a:lstStyle/>
          <a:p>
            <a:pPr marL="0" indent="0">
              <a:buNone/>
            </a:pPr>
            <a:r>
              <a:rPr lang="en-US" sz="1300" b="1" dirty="0">
                <a:solidFill>
                  <a:srgbClr val="00C896"/>
                </a:solidFill>
              </a:rPr>
              <a:t>Goal-Based</a:t>
            </a:r>
            <a:endParaRPr lang="en-US" sz="1300" dirty="0"/>
          </a:p>
        </p:txBody>
      </p:sp>
      <p:sp>
        <p:nvSpPr>
          <p:cNvPr id="19" name="Text 14"/>
          <p:cNvSpPr/>
          <p:nvPr/>
        </p:nvSpPr>
        <p:spPr>
          <a:xfrm>
            <a:off x="6382512" y="2011680"/>
            <a:ext cx="2514600" cy="868680"/>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Works towards a specific goal. Plans multiple steps to achieve the objective.</a:t>
            </a:r>
            <a:endParaRPr lang="en-US" sz="1100" dirty="0"/>
          </a:p>
        </p:txBody>
      </p:sp>
      <p:sp>
        <p:nvSpPr>
          <p:cNvPr id="20" name="Shape 15"/>
          <p:cNvSpPr/>
          <p:nvPr/>
        </p:nvSpPr>
        <p:spPr>
          <a:xfrm>
            <a:off x="457200" y="315468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txBody>
          <a:bodyPr/>
          <a:lstStyle/>
          <a:p>
            <a:endParaRPr/>
          </a:p>
        </p:txBody>
      </p:sp>
      <p:sp>
        <p:nvSpPr>
          <p:cNvPr id="21" name="Shape 16"/>
          <p:cNvSpPr/>
          <p:nvPr/>
        </p:nvSpPr>
        <p:spPr>
          <a:xfrm>
            <a:off x="457200" y="3154680"/>
            <a:ext cx="2743200" cy="36576"/>
          </a:xfrm>
          <a:prstGeom prst="rect">
            <a:avLst/>
          </a:prstGeom>
          <a:solidFill>
            <a:srgbClr val="FF6B35"/>
          </a:solidFill>
          <a:ln/>
        </p:spPr>
        <p:txBody>
          <a:bodyPr/>
          <a:lstStyle/>
          <a:p>
            <a:endParaRPr/>
          </a:p>
        </p:txBody>
      </p:sp>
      <p:pic>
        <p:nvPicPr>
          <p:cNvPr id="22" name="Image 3" descr="preencoded.png"/>
          <p:cNvPicPr>
            <a:picLocks noChangeAspect="1"/>
          </p:cNvPicPr>
          <p:nvPr/>
        </p:nvPicPr>
        <p:blipFill>
          <a:blip r:embed="rId6"/>
          <a:stretch>
            <a:fillRect/>
          </a:stretch>
        </p:blipFill>
        <p:spPr>
          <a:xfrm>
            <a:off x="594360" y="3264408"/>
            <a:ext cx="457200" cy="457200"/>
          </a:xfrm>
          <a:prstGeom prst="rect">
            <a:avLst/>
          </a:prstGeom>
        </p:spPr>
      </p:pic>
      <p:sp>
        <p:nvSpPr>
          <p:cNvPr id="23" name="Text 17"/>
          <p:cNvSpPr/>
          <p:nvPr/>
        </p:nvSpPr>
        <p:spPr>
          <a:xfrm>
            <a:off x="1115568" y="3264408"/>
            <a:ext cx="2011680" cy="457200"/>
          </a:xfrm>
          <a:prstGeom prst="rect">
            <a:avLst/>
          </a:prstGeom>
          <a:noFill/>
          <a:ln/>
        </p:spPr>
        <p:txBody>
          <a:bodyPr wrap="square" lIns="0" tIns="0" rIns="0" bIns="0" rtlCol="0" anchor="ctr"/>
          <a:lstStyle/>
          <a:p>
            <a:pPr marL="0" indent="0">
              <a:buNone/>
            </a:pPr>
            <a:r>
              <a:rPr lang="en-US" sz="1300" b="1" dirty="0">
                <a:solidFill>
                  <a:srgbClr val="FF6B35"/>
                </a:solidFill>
              </a:rPr>
              <a:t>Utility-Based</a:t>
            </a:r>
            <a:endParaRPr lang="en-US" sz="1300" dirty="0"/>
          </a:p>
        </p:txBody>
      </p:sp>
      <p:sp>
        <p:nvSpPr>
          <p:cNvPr id="24" name="Text 18"/>
          <p:cNvSpPr/>
          <p:nvPr/>
        </p:nvSpPr>
        <p:spPr>
          <a:xfrm>
            <a:off x="566928" y="3794760"/>
            <a:ext cx="2514600" cy="868680"/>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Picks the BEST option, not just any option. Maximizes a score or outcome.</a:t>
            </a:r>
            <a:endParaRPr lang="en-US" sz="1100" dirty="0"/>
          </a:p>
        </p:txBody>
      </p:sp>
      <p:sp>
        <p:nvSpPr>
          <p:cNvPr id="25" name="Shape 19"/>
          <p:cNvSpPr/>
          <p:nvPr/>
        </p:nvSpPr>
        <p:spPr>
          <a:xfrm>
            <a:off x="3364992" y="315468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txBody>
          <a:bodyPr/>
          <a:lstStyle/>
          <a:p>
            <a:endParaRPr/>
          </a:p>
        </p:txBody>
      </p:sp>
      <p:sp>
        <p:nvSpPr>
          <p:cNvPr id="26" name="Shape 20"/>
          <p:cNvSpPr/>
          <p:nvPr/>
        </p:nvSpPr>
        <p:spPr>
          <a:xfrm>
            <a:off x="3364992" y="3154680"/>
            <a:ext cx="2743200" cy="36576"/>
          </a:xfrm>
          <a:prstGeom prst="rect">
            <a:avLst/>
          </a:prstGeom>
          <a:solidFill>
            <a:srgbClr val="FFD166"/>
          </a:solidFill>
          <a:ln/>
        </p:spPr>
        <p:txBody>
          <a:bodyPr/>
          <a:lstStyle/>
          <a:p>
            <a:endParaRPr/>
          </a:p>
        </p:txBody>
      </p:sp>
      <p:pic>
        <p:nvPicPr>
          <p:cNvPr id="27" name="Image 4" descr="preencoded.png"/>
          <p:cNvPicPr>
            <a:picLocks noChangeAspect="1"/>
          </p:cNvPicPr>
          <p:nvPr/>
        </p:nvPicPr>
        <p:blipFill>
          <a:blip r:embed="rId7"/>
          <a:stretch>
            <a:fillRect/>
          </a:stretch>
        </p:blipFill>
        <p:spPr>
          <a:xfrm>
            <a:off x="3502152" y="3264408"/>
            <a:ext cx="457200" cy="457200"/>
          </a:xfrm>
          <a:prstGeom prst="rect">
            <a:avLst/>
          </a:prstGeom>
        </p:spPr>
      </p:pic>
      <p:sp>
        <p:nvSpPr>
          <p:cNvPr id="28" name="Text 21"/>
          <p:cNvSpPr/>
          <p:nvPr/>
        </p:nvSpPr>
        <p:spPr>
          <a:xfrm>
            <a:off x="4023360" y="3264408"/>
            <a:ext cx="2011680" cy="457200"/>
          </a:xfrm>
          <a:prstGeom prst="rect">
            <a:avLst/>
          </a:prstGeom>
          <a:noFill/>
          <a:ln/>
        </p:spPr>
        <p:txBody>
          <a:bodyPr wrap="square" lIns="0" tIns="0" rIns="0" bIns="0" rtlCol="0" anchor="ctr"/>
          <a:lstStyle/>
          <a:p>
            <a:pPr marL="0" indent="0">
              <a:buNone/>
            </a:pPr>
            <a:r>
              <a:rPr lang="en-US" sz="1300" b="1" dirty="0">
                <a:solidFill>
                  <a:srgbClr val="FFD166"/>
                </a:solidFill>
              </a:rPr>
              <a:t>Learning Agent</a:t>
            </a:r>
            <a:endParaRPr lang="en-US" sz="1300" dirty="0"/>
          </a:p>
        </p:txBody>
      </p:sp>
      <p:sp>
        <p:nvSpPr>
          <p:cNvPr id="29" name="Text 22"/>
          <p:cNvSpPr/>
          <p:nvPr/>
        </p:nvSpPr>
        <p:spPr>
          <a:xfrm>
            <a:off x="3474720" y="3794760"/>
            <a:ext cx="2514600" cy="868680"/>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Improves over time. Gets smarter with every task it completes.</a:t>
            </a:r>
            <a:endParaRPr lang="en-US" sz="1100" dirty="0"/>
          </a:p>
        </p:txBody>
      </p:sp>
      <p:sp>
        <p:nvSpPr>
          <p:cNvPr id="30" name="Shape 23"/>
          <p:cNvSpPr/>
          <p:nvPr/>
        </p:nvSpPr>
        <p:spPr>
          <a:xfrm>
            <a:off x="6272784" y="315468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txBody>
          <a:bodyPr/>
          <a:lstStyle/>
          <a:p>
            <a:endParaRPr/>
          </a:p>
        </p:txBody>
      </p:sp>
      <p:sp>
        <p:nvSpPr>
          <p:cNvPr id="31" name="Shape 24"/>
          <p:cNvSpPr/>
          <p:nvPr/>
        </p:nvSpPr>
        <p:spPr>
          <a:xfrm>
            <a:off x="6272784" y="3154680"/>
            <a:ext cx="2743200" cy="36576"/>
          </a:xfrm>
          <a:prstGeom prst="rect">
            <a:avLst/>
          </a:prstGeom>
          <a:solidFill>
            <a:srgbClr val="0096C7"/>
          </a:solidFill>
          <a:ln/>
        </p:spPr>
        <p:txBody>
          <a:bodyPr/>
          <a:lstStyle/>
          <a:p>
            <a:endParaRPr/>
          </a:p>
        </p:txBody>
      </p:sp>
      <p:pic>
        <p:nvPicPr>
          <p:cNvPr id="32" name="Image 5" descr="preencoded.png"/>
          <p:cNvPicPr>
            <a:picLocks noChangeAspect="1"/>
          </p:cNvPicPr>
          <p:nvPr/>
        </p:nvPicPr>
        <p:blipFill>
          <a:blip r:embed="rId8"/>
          <a:stretch>
            <a:fillRect/>
          </a:stretch>
        </p:blipFill>
        <p:spPr>
          <a:xfrm>
            <a:off x="6409944" y="3264408"/>
            <a:ext cx="457200" cy="457200"/>
          </a:xfrm>
          <a:prstGeom prst="rect">
            <a:avLst/>
          </a:prstGeom>
        </p:spPr>
      </p:pic>
      <p:sp>
        <p:nvSpPr>
          <p:cNvPr id="33" name="Text 25"/>
          <p:cNvSpPr/>
          <p:nvPr/>
        </p:nvSpPr>
        <p:spPr>
          <a:xfrm>
            <a:off x="6931152" y="3264408"/>
            <a:ext cx="2011680" cy="457200"/>
          </a:xfrm>
          <a:prstGeom prst="rect">
            <a:avLst/>
          </a:prstGeom>
          <a:noFill/>
          <a:ln/>
        </p:spPr>
        <p:txBody>
          <a:bodyPr wrap="square" lIns="0" tIns="0" rIns="0" bIns="0" rtlCol="0" anchor="ctr"/>
          <a:lstStyle/>
          <a:p>
            <a:pPr marL="0" indent="0">
              <a:buNone/>
            </a:pPr>
            <a:r>
              <a:rPr lang="en-US" sz="1300" b="1" dirty="0">
                <a:solidFill>
                  <a:srgbClr val="0096C7"/>
                </a:solidFill>
              </a:rPr>
              <a:t>Multi-Agent</a:t>
            </a:r>
            <a:endParaRPr lang="en-US" sz="1300" dirty="0"/>
          </a:p>
        </p:txBody>
      </p:sp>
      <p:sp>
        <p:nvSpPr>
          <p:cNvPr id="34" name="Text 26"/>
          <p:cNvSpPr/>
          <p:nvPr/>
        </p:nvSpPr>
        <p:spPr>
          <a:xfrm>
            <a:off x="6382512" y="3794760"/>
            <a:ext cx="2514600" cy="868680"/>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Multiple agents working together as a team to solve complex problems.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COMPONENTS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Components of an AI Agent</a:t>
            </a:r>
            <a:endParaRPr lang="en-US" sz="3200" dirty="0"/>
          </a:p>
        </p:txBody>
      </p:sp>
      <p:sp>
        <p:nvSpPr>
          <p:cNvPr id="5" name="Shape 3"/>
          <p:cNvSpPr/>
          <p:nvPr/>
        </p:nvSpPr>
        <p:spPr>
          <a:xfrm>
            <a:off x="3474720" y="1645920"/>
            <a:ext cx="2286000" cy="2286000"/>
          </a:xfrm>
          <a:prstGeom prst="ellipse">
            <a:avLst/>
          </a:prstGeom>
          <a:solidFill>
            <a:srgbClr val="1565C0">
              <a:alpha val="22000"/>
            </a:srgbClr>
          </a:solidFill>
          <a:ln/>
        </p:spPr>
      </p:sp>
      <p:pic>
        <p:nvPicPr>
          <p:cNvPr id="6" name="Image 0" descr="preencoded.png"/>
          <p:cNvPicPr>
            <a:picLocks noChangeAspect="1"/>
          </p:cNvPicPr>
          <p:nvPr/>
        </p:nvPicPr>
        <p:blipFill>
          <a:blip r:embed="rId3"/>
          <a:stretch>
            <a:fillRect/>
          </a:stretch>
        </p:blipFill>
        <p:spPr>
          <a:xfrm>
            <a:off x="3886200" y="1874520"/>
            <a:ext cx="1463040" cy="1463040"/>
          </a:xfrm>
          <a:prstGeom prst="rect">
            <a:avLst/>
          </a:prstGeom>
        </p:spPr>
      </p:pic>
      <p:sp>
        <p:nvSpPr>
          <p:cNvPr id="7" name="Text 4"/>
          <p:cNvSpPr/>
          <p:nvPr/>
        </p:nvSpPr>
        <p:spPr>
          <a:xfrm>
            <a:off x="3474720" y="3337560"/>
            <a:ext cx="2286000" cy="502920"/>
          </a:xfrm>
          <a:prstGeom prst="rect">
            <a:avLst/>
          </a:prstGeom>
          <a:noFill/>
          <a:ln/>
        </p:spPr>
        <p:txBody>
          <a:bodyPr wrap="square" rtlCol="0" anchor="ctr"/>
          <a:lstStyle/>
          <a:p>
            <a:pPr marL="0" indent="0" algn="ctr">
              <a:buNone/>
            </a:pPr>
            <a:r>
              <a:rPr lang="en-US" sz="1200" b="1" kern="0" spc="200" dirty="0">
                <a:solidFill>
                  <a:srgbClr val="00B4D8"/>
                </a:solidFill>
              </a:rPr>
              <a:t>AI</a:t>
            </a:r>
            <a:endParaRPr lang="en-US" sz="1200" dirty="0"/>
          </a:p>
          <a:p>
            <a:pPr marL="0" indent="0" algn="ctr">
              <a:buNone/>
            </a:pPr>
            <a:r>
              <a:rPr lang="en-US" sz="1200" b="1" kern="0" spc="200" dirty="0">
                <a:solidFill>
                  <a:srgbClr val="00B4D8"/>
                </a:solidFill>
              </a:rPr>
              <a:t>AGENT</a:t>
            </a:r>
            <a:endParaRPr lang="en-US" sz="1200" dirty="0"/>
          </a:p>
        </p:txBody>
      </p:sp>
      <p:sp>
        <p:nvSpPr>
          <p:cNvPr id="8" name="Shape 5"/>
          <p:cNvSpPr/>
          <p:nvPr/>
        </p:nvSpPr>
        <p:spPr>
          <a:xfrm>
            <a:off x="274320" y="1371600"/>
            <a:ext cx="1828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9" name="Image 1" descr="preencoded.png"/>
          <p:cNvPicPr>
            <a:picLocks noChangeAspect="1"/>
          </p:cNvPicPr>
          <p:nvPr/>
        </p:nvPicPr>
        <p:blipFill>
          <a:blip r:embed="rId4"/>
          <a:stretch>
            <a:fillRect/>
          </a:stretch>
        </p:blipFill>
        <p:spPr>
          <a:xfrm>
            <a:off x="365760" y="1536192"/>
            <a:ext cx="365760" cy="365760"/>
          </a:xfrm>
          <a:prstGeom prst="rect">
            <a:avLst/>
          </a:prstGeom>
        </p:spPr>
      </p:pic>
      <p:sp>
        <p:nvSpPr>
          <p:cNvPr id="10" name="Text 6"/>
          <p:cNvSpPr/>
          <p:nvPr/>
        </p:nvSpPr>
        <p:spPr>
          <a:xfrm>
            <a:off x="777240" y="1444752"/>
            <a:ext cx="1234440" cy="347472"/>
          </a:xfrm>
          <a:prstGeom prst="rect">
            <a:avLst/>
          </a:prstGeom>
          <a:noFill/>
          <a:ln/>
        </p:spPr>
        <p:txBody>
          <a:bodyPr wrap="square" lIns="0" tIns="0" rIns="0" bIns="0" rtlCol="0" anchor="ctr"/>
          <a:lstStyle/>
          <a:p>
            <a:pPr marL="0" indent="0">
              <a:buNone/>
            </a:pPr>
            <a:r>
              <a:rPr lang="en-US" sz="1200" b="1" dirty="0">
                <a:solidFill>
                  <a:srgbClr val="7C3AED"/>
                </a:solidFill>
              </a:rPr>
              <a:t>LLM Brain</a:t>
            </a:r>
            <a:endParaRPr lang="en-US" sz="1200" dirty="0"/>
          </a:p>
        </p:txBody>
      </p:sp>
      <p:sp>
        <p:nvSpPr>
          <p:cNvPr id="11" name="Text 7"/>
          <p:cNvSpPr/>
          <p:nvPr/>
        </p:nvSpPr>
        <p:spPr>
          <a:xfrm>
            <a:off x="777240" y="1792224"/>
            <a:ext cx="1234440" cy="274320"/>
          </a:xfrm>
          <a:prstGeom prst="rect">
            <a:avLst/>
          </a:prstGeom>
          <a:noFill/>
          <a:ln/>
        </p:spPr>
        <p:txBody>
          <a:bodyPr wrap="square" lIns="0" tIns="0" rIns="0" bIns="0" rtlCol="0" anchor="ctr"/>
          <a:lstStyle/>
          <a:p>
            <a:pPr marL="0" indent="0">
              <a:buNone/>
            </a:pPr>
            <a:r>
              <a:rPr lang="en-US" sz="1000" dirty="0">
                <a:solidFill>
                  <a:srgbClr val="B0BEC5"/>
                </a:solidFill>
              </a:rPr>
              <a:t>Thinks &amp; reasons</a:t>
            </a:r>
            <a:endParaRPr lang="en-US" sz="1000" dirty="0"/>
          </a:p>
        </p:txBody>
      </p:sp>
      <p:sp>
        <p:nvSpPr>
          <p:cNvPr id="12" name="Shape 8"/>
          <p:cNvSpPr/>
          <p:nvPr/>
        </p:nvSpPr>
        <p:spPr>
          <a:xfrm>
            <a:off x="274320" y="3108960"/>
            <a:ext cx="1828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13" name="Image 2" descr="preencoded.png"/>
          <p:cNvPicPr>
            <a:picLocks noChangeAspect="1"/>
          </p:cNvPicPr>
          <p:nvPr/>
        </p:nvPicPr>
        <p:blipFill>
          <a:blip r:embed="rId5"/>
          <a:stretch>
            <a:fillRect/>
          </a:stretch>
        </p:blipFill>
        <p:spPr>
          <a:xfrm>
            <a:off x="365760" y="3273552"/>
            <a:ext cx="365760" cy="365760"/>
          </a:xfrm>
          <a:prstGeom prst="rect">
            <a:avLst/>
          </a:prstGeom>
        </p:spPr>
      </p:pic>
      <p:sp>
        <p:nvSpPr>
          <p:cNvPr id="14" name="Text 9"/>
          <p:cNvSpPr/>
          <p:nvPr/>
        </p:nvSpPr>
        <p:spPr>
          <a:xfrm>
            <a:off x="777240" y="3182112"/>
            <a:ext cx="1234440" cy="347472"/>
          </a:xfrm>
          <a:prstGeom prst="rect">
            <a:avLst/>
          </a:prstGeom>
          <a:noFill/>
          <a:ln/>
        </p:spPr>
        <p:txBody>
          <a:bodyPr wrap="square" lIns="0" tIns="0" rIns="0" bIns="0" rtlCol="0" anchor="ctr"/>
          <a:lstStyle/>
          <a:p>
            <a:pPr marL="0" indent="0">
              <a:buNone/>
            </a:pPr>
            <a:r>
              <a:rPr lang="en-US" sz="1200" b="1" dirty="0">
                <a:solidFill>
                  <a:srgbClr val="00B4D8"/>
                </a:solidFill>
              </a:rPr>
              <a:t>Perception</a:t>
            </a:r>
            <a:endParaRPr lang="en-US" sz="1200" dirty="0"/>
          </a:p>
        </p:txBody>
      </p:sp>
      <p:sp>
        <p:nvSpPr>
          <p:cNvPr id="15" name="Text 10"/>
          <p:cNvSpPr/>
          <p:nvPr/>
        </p:nvSpPr>
        <p:spPr>
          <a:xfrm>
            <a:off x="777240" y="3529584"/>
            <a:ext cx="1234440" cy="274320"/>
          </a:xfrm>
          <a:prstGeom prst="rect">
            <a:avLst/>
          </a:prstGeom>
          <a:noFill/>
          <a:ln/>
        </p:spPr>
        <p:txBody>
          <a:bodyPr wrap="square" lIns="0" tIns="0" rIns="0" bIns="0" rtlCol="0" anchor="ctr"/>
          <a:lstStyle/>
          <a:p>
            <a:pPr marL="0" indent="0">
              <a:buNone/>
            </a:pPr>
            <a:r>
              <a:rPr lang="en-US" sz="1000" dirty="0">
                <a:solidFill>
                  <a:srgbClr val="B0BEC5"/>
                </a:solidFill>
              </a:rPr>
              <a:t>Reads environment</a:t>
            </a:r>
            <a:endParaRPr lang="en-US" sz="1000" dirty="0"/>
          </a:p>
        </p:txBody>
      </p:sp>
      <p:sp>
        <p:nvSpPr>
          <p:cNvPr id="16" name="Shape 11"/>
          <p:cNvSpPr/>
          <p:nvPr/>
        </p:nvSpPr>
        <p:spPr>
          <a:xfrm>
            <a:off x="7132320" y="1371600"/>
            <a:ext cx="1828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17" name="Image 3" descr="preencoded.png"/>
          <p:cNvPicPr>
            <a:picLocks noChangeAspect="1"/>
          </p:cNvPicPr>
          <p:nvPr/>
        </p:nvPicPr>
        <p:blipFill>
          <a:blip r:embed="rId6"/>
          <a:stretch>
            <a:fillRect/>
          </a:stretch>
        </p:blipFill>
        <p:spPr>
          <a:xfrm>
            <a:off x="7223760" y="1536192"/>
            <a:ext cx="365760" cy="365760"/>
          </a:xfrm>
          <a:prstGeom prst="rect">
            <a:avLst/>
          </a:prstGeom>
        </p:spPr>
      </p:pic>
      <p:sp>
        <p:nvSpPr>
          <p:cNvPr id="18" name="Text 12"/>
          <p:cNvSpPr/>
          <p:nvPr/>
        </p:nvSpPr>
        <p:spPr>
          <a:xfrm>
            <a:off x="7635240" y="1444752"/>
            <a:ext cx="1234440" cy="347472"/>
          </a:xfrm>
          <a:prstGeom prst="rect">
            <a:avLst/>
          </a:prstGeom>
          <a:noFill/>
          <a:ln/>
        </p:spPr>
        <p:txBody>
          <a:bodyPr wrap="square" lIns="0" tIns="0" rIns="0" bIns="0" rtlCol="0" anchor="ctr"/>
          <a:lstStyle/>
          <a:p>
            <a:pPr marL="0" indent="0">
              <a:buNone/>
            </a:pPr>
            <a:r>
              <a:rPr lang="en-US" sz="1200" b="1" dirty="0">
                <a:solidFill>
                  <a:srgbClr val="FFD166"/>
                </a:solidFill>
              </a:rPr>
              <a:t>Memory</a:t>
            </a:r>
            <a:endParaRPr lang="en-US" sz="1200" dirty="0"/>
          </a:p>
        </p:txBody>
      </p:sp>
      <p:sp>
        <p:nvSpPr>
          <p:cNvPr id="19" name="Text 13"/>
          <p:cNvSpPr/>
          <p:nvPr/>
        </p:nvSpPr>
        <p:spPr>
          <a:xfrm>
            <a:off x="7635240" y="1792224"/>
            <a:ext cx="1234440" cy="274320"/>
          </a:xfrm>
          <a:prstGeom prst="rect">
            <a:avLst/>
          </a:prstGeom>
          <a:noFill/>
          <a:ln/>
        </p:spPr>
        <p:txBody>
          <a:bodyPr wrap="square" lIns="0" tIns="0" rIns="0" bIns="0" rtlCol="0" anchor="ctr"/>
          <a:lstStyle/>
          <a:p>
            <a:pPr marL="0" indent="0">
              <a:buNone/>
            </a:pPr>
            <a:r>
              <a:rPr lang="en-US" sz="1000" dirty="0">
                <a:solidFill>
                  <a:srgbClr val="B0BEC5"/>
                </a:solidFill>
              </a:rPr>
              <a:t>Stores knowledge</a:t>
            </a:r>
            <a:endParaRPr lang="en-US" sz="1000" dirty="0"/>
          </a:p>
        </p:txBody>
      </p:sp>
      <p:sp>
        <p:nvSpPr>
          <p:cNvPr id="20" name="Shape 14"/>
          <p:cNvSpPr/>
          <p:nvPr/>
        </p:nvSpPr>
        <p:spPr>
          <a:xfrm>
            <a:off x="7132320" y="3108960"/>
            <a:ext cx="1828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21" name="Image 4" descr="preencoded.png"/>
          <p:cNvPicPr>
            <a:picLocks noChangeAspect="1"/>
          </p:cNvPicPr>
          <p:nvPr/>
        </p:nvPicPr>
        <p:blipFill>
          <a:blip r:embed="rId7"/>
          <a:stretch>
            <a:fillRect/>
          </a:stretch>
        </p:blipFill>
        <p:spPr>
          <a:xfrm>
            <a:off x="7223760" y="3273552"/>
            <a:ext cx="365760" cy="365760"/>
          </a:xfrm>
          <a:prstGeom prst="rect">
            <a:avLst/>
          </a:prstGeom>
        </p:spPr>
      </p:pic>
      <p:sp>
        <p:nvSpPr>
          <p:cNvPr id="22" name="Text 15"/>
          <p:cNvSpPr/>
          <p:nvPr/>
        </p:nvSpPr>
        <p:spPr>
          <a:xfrm>
            <a:off x="7635240" y="3182112"/>
            <a:ext cx="1234440" cy="347472"/>
          </a:xfrm>
          <a:prstGeom prst="rect">
            <a:avLst/>
          </a:prstGeom>
          <a:noFill/>
          <a:ln/>
        </p:spPr>
        <p:txBody>
          <a:bodyPr wrap="square" lIns="0" tIns="0" rIns="0" bIns="0" rtlCol="0" anchor="ctr"/>
          <a:lstStyle/>
          <a:p>
            <a:pPr marL="0" indent="0">
              <a:buNone/>
            </a:pPr>
            <a:r>
              <a:rPr lang="en-US" sz="1200" b="1" dirty="0">
                <a:solidFill>
                  <a:srgbClr val="00C896"/>
                </a:solidFill>
              </a:rPr>
              <a:t>Tools</a:t>
            </a:r>
            <a:endParaRPr lang="en-US" sz="1200" dirty="0"/>
          </a:p>
        </p:txBody>
      </p:sp>
      <p:sp>
        <p:nvSpPr>
          <p:cNvPr id="23" name="Text 16"/>
          <p:cNvSpPr/>
          <p:nvPr/>
        </p:nvSpPr>
        <p:spPr>
          <a:xfrm>
            <a:off x="7635240" y="3529584"/>
            <a:ext cx="1234440" cy="274320"/>
          </a:xfrm>
          <a:prstGeom prst="rect">
            <a:avLst/>
          </a:prstGeom>
          <a:noFill/>
          <a:ln/>
        </p:spPr>
        <p:txBody>
          <a:bodyPr wrap="square" lIns="0" tIns="0" rIns="0" bIns="0" rtlCol="0" anchor="ctr"/>
          <a:lstStyle/>
          <a:p>
            <a:pPr marL="0" indent="0">
              <a:buNone/>
            </a:pPr>
            <a:r>
              <a:rPr lang="en-US" sz="1000" dirty="0">
                <a:solidFill>
                  <a:srgbClr val="B0BEC5"/>
                </a:solidFill>
              </a:rPr>
              <a:t>Takes actions</a:t>
            </a:r>
            <a:endParaRPr lang="en-US" sz="1000" dirty="0"/>
          </a:p>
        </p:txBody>
      </p:sp>
      <p:sp>
        <p:nvSpPr>
          <p:cNvPr id="24" name="Shape 17"/>
          <p:cNvSpPr/>
          <p:nvPr/>
        </p:nvSpPr>
        <p:spPr>
          <a:xfrm>
            <a:off x="3566160" y="4389120"/>
            <a:ext cx="1828800" cy="7772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25" name="Image 5" descr="preencoded.png"/>
          <p:cNvPicPr>
            <a:picLocks noChangeAspect="1"/>
          </p:cNvPicPr>
          <p:nvPr/>
        </p:nvPicPr>
        <p:blipFill>
          <a:blip r:embed="rId8"/>
          <a:stretch>
            <a:fillRect/>
          </a:stretch>
        </p:blipFill>
        <p:spPr>
          <a:xfrm>
            <a:off x="3657600" y="4553712"/>
            <a:ext cx="365760" cy="365760"/>
          </a:xfrm>
          <a:prstGeom prst="rect">
            <a:avLst/>
          </a:prstGeom>
        </p:spPr>
      </p:pic>
      <p:sp>
        <p:nvSpPr>
          <p:cNvPr id="26" name="Text 18"/>
          <p:cNvSpPr/>
          <p:nvPr/>
        </p:nvSpPr>
        <p:spPr>
          <a:xfrm>
            <a:off x="4069080" y="4462272"/>
            <a:ext cx="1234440" cy="347472"/>
          </a:xfrm>
          <a:prstGeom prst="rect">
            <a:avLst/>
          </a:prstGeom>
          <a:noFill/>
          <a:ln/>
        </p:spPr>
        <p:txBody>
          <a:bodyPr wrap="square" lIns="0" tIns="0" rIns="0" bIns="0" rtlCol="0" anchor="ctr"/>
          <a:lstStyle/>
          <a:p>
            <a:pPr marL="0" indent="0">
              <a:buNone/>
            </a:pPr>
            <a:r>
              <a:rPr lang="en-US" sz="1200" b="1" dirty="0">
                <a:solidFill>
                  <a:srgbClr val="FF6B35"/>
                </a:solidFill>
              </a:rPr>
              <a:t>Planning</a:t>
            </a:r>
            <a:endParaRPr lang="en-US" sz="1200" dirty="0"/>
          </a:p>
        </p:txBody>
      </p:sp>
      <p:sp>
        <p:nvSpPr>
          <p:cNvPr id="27" name="Text 19"/>
          <p:cNvSpPr/>
          <p:nvPr/>
        </p:nvSpPr>
        <p:spPr>
          <a:xfrm>
            <a:off x="4069080" y="4809744"/>
            <a:ext cx="1234440" cy="274320"/>
          </a:xfrm>
          <a:prstGeom prst="rect">
            <a:avLst/>
          </a:prstGeom>
          <a:noFill/>
          <a:ln/>
        </p:spPr>
        <p:txBody>
          <a:bodyPr wrap="square" lIns="0" tIns="0" rIns="0" bIns="0" rtlCol="0" anchor="ctr"/>
          <a:lstStyle/>
          <a:p>
            <a:pPr marL="0" indent="0">
              <a:buNone/>
            </a:pPr>
            <a:r>
              <a:rPr lang="en-US" sz="1000" dirty="0">
                <a:solidFill>
                  <a:srgbClr val="B0BEC5"/>
                </a:solidFill>
              </a:rPr>
              <a:t>Breaks into steps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FF6B35"/>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APPLICATIONS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Where AI Agents Are Used Today</a:t>
            </a:r>
            <a:endParaRPr lang="en-US" sz="3200" dirty="0"/>
          </a:p>
        </p:txBody>
      </p:sp>
      <p:sp>
        <p:nvSpPr>
          <p:cNvPr id="5" name="Shape 3"/>
          <p:cNvSpPr/>
          <p:nvPr/>
        </p:nvSpPr>
        <p:spPr>
          <a:xfrm>
            <a:off x="457200" y="1371600"/>
            <a:ext cx="2743200" cy="162763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6" name="Shape 4"/>
          <p:cNvSpPr/>
          <p:nvPr/>
        </p:nvSpPr>
        <p:spPr>
          <a:xfrm>
            <a:off x="566928" y="1481328"/>
            <a:ext cx="548640" cy="548640"/>
          </a:xfrm>
          <a:prstGeom prst="ellipse">
            <a:avLst/>
          </a:prstGeom>
          <a:solidFill>
            <a:srgbClr val="00B4D8">
              <a:alpha val="30000"/>
            </a:srgbClr>
          </a:solidFill>
          <a:ln/>
        </p:spPr>
      </p:sp>
      <p:pic>
        <p:nvPicPr>
          <p:cNvPr id="7" name="Image 0" descr="preencoded.png"/>
          <p:cNvPicPr>
            <a:picLocks noChangeAspect="1"/>
          </p:cNvPicPr>
          <p:nvPr/>
        </p:nvPicPr>
        <p:blipFill>
          <a:blip r:embed="rId3"/>
          <a:stretch>
            <a:fillRect/>
          </a:stretch>
        </p:blipFill>
        <p:spPr>
          <a:xfrm>
            <a:off x="621792" y="1517904"/>
            <a:ext cx="438912" cy="438912"/>
          </a:xfrm>
          <a:prstGeom prst="rect">
            <a:avLst/>
          </a:prstGeom>
        </p:spPr>
      </p:pic>
      <p:sp>
        <p:nvSpPr>
          <p:cNvPr id="8" name="Text 5"/>
          <p:cNvSpPr/>
          <p:nvPr/>
        </p:nvSpPr>
        <p:spPr>
          <a:xfrm>
            <a:off x="1188720" y="1481328"/>
            <a:ext cx="1920240" cy="457200"/>
          </a:xfrm>
          <a:prstGeom prst="rect">
            <a:avLst/>
          </a:prstGeom>
          <a:noFill/>
          <a:ln/>
        </p:spPr>
        <p:txBody>
          <a:bodyPr wrap="square" lIns="0" tIns="0" rIns="0" bIns="0" rtlCol="0" anchor="ctr"/>
          <a:lstStyle/>
          <a:p>
            <a:pPr marL="0" indent="0">
              <a:buNone/>
            </a:pPr>
            <a:r>
              <a:rPr lang="en-US" sz="1300" b="1" dirty="0">
                <a:solidFill>
                  <a:srgbClr val="00B4D8"/>
                </a:solidFill>
              </a:rPr>
              <a:t>Customer Support</a:t>
            </a:r>
            <a:endParaRPr lang="en-US" sz="1300" dirty="0"/>
          </a:p>
        </p:txBody>
      </p:sp>
      <p:sp>
        <p:nvSpPr>
          <p:cNvPr id="9" name="Text 6"/>
          <p:cNvSpPr/>
          <p:nvPr/>
        </p:nvSpPr>
        <p:spPr>
          <a:xfrm>
            <a:off x="566928" y="2029968"/>
            <a:ext cx="2542032" cy="91440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24/7 chatbots that resolve complaints, process refunds, and escalate complex issues automatically.</a:t>
            </a:r>
            <a:endParaRPr lang="en-US" sz="1050" dirty="0"/>
          </a:p>
        </p:txBody>
      </p:sp>
      <p:sp>
        <p:nvSpPr>
          <p:cNvPr id="10" name="Shape 7"/>
          <p:cNvSpPr/>
          <p:nvPr/>
        </p:nvSpPr>
        <p:spPr>
          <a:xfrm>
            <a:off x="3364992" y="1371600"/>
            <a:ext cx="2743200" cy="162763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1" name="Shape 8"/>
          <p:cNvSpPr/>
          <p:nvPr/>
        </p:nvSpPr>
        <p:spPr>
          <a:xfrm>
            <a:off x="3474720" y="1481328"/>
            <a:ext cx="548640" cy="548640"/>
          </a:xfrm>
          <a:prstGeom prst="ellipse">
            <a:avLst/>
          </a:prstGeom>
          <a:solidFill>
            <a:srgbClr val="7C3AED">
              <a:alpha val="30000"/>
            </a:srgbClr>
          </a:solidFill>
          <a:ln/>
        </p:spPr>
      </p:sp>
      <p:pic>
        <p:nvPicPr>
          <p:cNvPr id="12" name="Image 1" descr="preencoded.png"/>
          <p:cNvPicPr>
            <a:picLocks noChangeAspect="1"/>
          </p:cNvPicPr>
          <p:nvPr/>
        </p:nvPicPr>
        <p:blipFill>
          <a:blip r:embed="rId4"/>
          <a:stretch>
            <a:fillRect/>
          </a:stretch>
        </p:blipFill>
        <p:spPr>
          <a:xfrm>
            <a:off x="3529584" y="1517904"/>
            <a:ext cx="438912" cy="438912"/>
          </a:xfrm>
          <a:prstGeom prst="rect">
            <a:avLst/>
          </a:prstGeom>
        </p:spPr>
      </p:pic>
      <p:sp>
        <p:nvSpPr>
          <p:cNvPr id="13" name="Text 9"/>
          <p:cNvSpPr/>
          <p:nvPr/>
        </p:nvSpPr>
        <p:spPr>
          <a:xfrm>
            <a:off x="4096512" y="1481328"/>
            <a:ext cx="1920240" cy="457200"/>
          </a:xfrm>
          <a:prstGeom prst="rect">
            <a:avLst/>
          </a:prstGeom>
          <a:noFill/>
          <a:ln/>
        </p:spPr>
        <p:txBody>
          <a:bodyPr wrap="square" lIns="0" tIns="0" rIns="0" bIns="0" rtlCol="0" anchor="ctr"/>
          <a:lstStyle/>
          <a:p>
            <a:pPr marL="0" indent="0">
              <a:buNone/>
            </a:pPr>
            <a:r>
              <a:rPr lang="en-US" sz="1300" b="1" dirty="0">
                <a:solidFill>
                  <a:srgbClr val="7C3AED"/>
                </a:solidFill>
              </a:rPr>
              <a:t>Coding Assistant</a:t>
            </a:r>
            <a:endParaRPr lang="en-US" sz="1300" dirty="0"/>
          </a:p>
        </p:txBody>
      </p:sp>
      <p:sp>
        <p:nvSpPr>
          <p:cNvPr id="14" name="Text 10"/>
          <p:cNvSpPr/>
          <p:nvPr/>
        </p:nvSpPr>
        <p:spPr>
          <a:xfrm>
            <a:off x="3474720" y="2029968"/>
            <a:ext cx="2542032" cy="91440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Writes, debugs, and tests code automatically. Tools like GitHub Copilot are AI agents.</a:t>
            </a:r>
            <a:endParaRPr lang="en-US" sz="1050" dirty="0"/>
          </a:p>
        </p:txBody>
      </p:sp>
      <p:sp>
        <p:nvSpPr>
          <p:cNvPr id="15" name="Shape 11"/>
          <p:cNvSpPr/>
          <p:nvPr/>
        </p:nvSpPr>
        <p:spPr>
          <a:xfrm>
            <a:off x="6272784" y="1371600"/>
            <a:ext cx="2743200" cy="162763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6" name="Shape 12"/>
          <p:cNvSpPr/>
          <p:nvPr/>
        </p:nvSpPr>
        <p:spPr>
          <a:xfrm>
            <a:off x="6382512" y="1481328"/>
            <a:ext cx="548640" cy="548640"/>
          </a:xfrm>
          <a:prstGeom prst="ellipse">
            <a:avLst/>
          </a:prstGeom>
          <a:solidFill>
            <a:srgbClr val="00C896">
              <a:alpha val="30000"/>
            </a:srgbClr>
          </a:solidFill>
          <a:ln/>
        </p:spPr>
      </p:sp>
      <p:pic>
        <p:nvPicPr>
          <p:cNvPr id="17" name="Image 2" descr="preencoded.png"/>
          <p:cNvPicPr>
            <a:picLocks noChangeAspect="1"/>
          </p:cNvPicPr>
          <p:nvPr/>
        </p:nvPicPr>
        <p:blipFill>
          <a:blip r:embed="rId5"/>
          <a:stretch>
            <a:fillRect/>
          </a:stretch>
        </p:blipFill>
        <p:spPr>
          <a:xfrm>
            <a:off x="6437376" y="1517904"/>
            <a:ext cx="438912" cy="438912"/>
          </a:xfrm>
          <a:prstGeom prst="rect">
            <a:avLst/>
          </a:prstGeom>
        </p:spPr>
      </p:pic>
      <p:sp>
        <p:nvSpPr>
          <p:cNvPr id="18" name="Text 13"/>
          <p:cNvSpPr/>
          <p:nvPr/>
        </p:nvSpPr>
        <p:spPr>
          <a:xfrm>
            <a:off x="7004304" y="1481328"/>
            <a:ext cx="1920240" cy="457200"/>
          </a:xfrm>
          <a:prstGeom prst="rect">
            <a:avLst/>
          </a:prstGeom>
          <a:noFill/>
          <a:ln/>
        </p:spPr>
        <p:txBody>
          <a:bodyPr wrap="square" lIns="0" tIns="0" rIns="0" bIns="0" rtlCol="0" anchor="ctr"/>
          <a:lstStyle/>
          <a:p>
            <a:pPr marL="0" indent="0">
              <a:buNone/>
            </a:pPr>
            <a:r>
              <a:rPr lang="en-US" sz="1300" b="1" dirty="0">
                <a:solidFill>
                  <a:srgbClr val="00C896"/>
                </a:solidFill>
              </a:rPr>
              <a:t>Finance &amp; Trading</a:t>
            </a:r>
            <a:endParaRPr lang="en-US" sz="1300" dirty="0"/>
          </a:p>
        </p:txBody>
      </p:sp>
      <p:sp>
        <p:nvSpPr>
          <p:cNvPr id="19" name="Text 14"/>
          <p:cNvSpPr/>
          <p:nvPr/>
        </p:nvSpPr>
        <p:spPr>
          <a:xfrm>
            <a:off x="6382512" y="2029968"/>
            <a:ext cx="2542032" cy="91440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Analyses market data in real-time and executes trades based on programmed strategies.</a:t>
            </a:r>
            <a:endParaRPr lang="en-US" sz="1050" dirty="0"/>
          </a:p>
        </p:txBody>
      </p:sp>
      <p:sp>
        <p:nvSpPr>
          <p:cNvPr id="20" name="Shape 15"/>
          <p:cNvSpPr/>
          <p:nvPr/>
        </p:nvSpPr>
        <p:spPr>
          <a:xfrm>
            <a:off x="457200" y="3182112"/>
            <a:ext cx="2743200" cy="162763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1" name="Shape 16"/>
          <p:cNvSpPr/>
          <p:nvPr/>
        </p:nvSpPr>
        <p:spPr>
          <a:xfrm>
            <a:off x="566928" y="3291840"/>
            <a:ext cx="548640" cy="548640"/>
          </a:xfrm>
          <a:prstGeom prst="ellipse">
            <a:avLst/>
          </a:prstGeom>
          <a:solidFill>
            <a:srgbClr val="FF6B35">
              <a:alpha val="30000"/>
            </a:srgbClr>
          </a:solidFill>
          <a:ln/>
        </p:spPr>
      </p:sp>
      <p:pic>
        <p:nvPicPr>
          <p:cNvPr id="22" name="Image 3" descr="preencoded.png"/>
          <p:cNvPicPr>
            <a:picLocks noChangeAspect="1"/>
          </p:cNvPicPr>
          <p:nvPr/>
        </p:nvPicPr>
        <p:blipFill>
          <a:blip r:embed="rId6"/>
          <a:stretch>
            <a:fillRect/>
          </a:stretch>
        </p:blipFill>
        <p:spPr>
          <a:xfrm>
            <a:off x="621792" y="3328416"/>
            <a:ext cx="438912" cy="438912"/>
          </a:xfrm>
          <a:prstGeom prst="rect">
            <a:avLst/>
          </a:prstGeom>
        </p:spPr>
      </p:pic>
      <p:sp>
        <p:nvSpPr>
          <p:cNvPr id="23" name="Text 17"/>
          <p:cNvSpPr/>
          <p:nvPr/>
        </p:nvSpPr>
        <p:spPr>
          <a:xfrm>
            <a:off x="1188720" y="3291840"/>
            <a:ext cx="1920240" cy="457200"/>
          </a:xfrm>
          <a:prstGeom prst="rect">
            <a:avLst/>
          </a:prstGeom>
          <a:noFill/>
          <a:ln/>
        </p:spPr>
        <p:txBody>
          <a:bodyPr wrap="square" lIns="0" tIns="0" rIns="0" bIns="0" rtlCol="0" anchor="ctr"/>
          <a:lstStyle/>
          <a:p>
            <a:pPr marL="0" indent="0">
              <a:buNone/>
            </a:pPr>
            <a:r>
              <a:rPr lang="en-US" sz="1300" b="1" dirty="0">
                <a:solidFill>
                  <a:srgbClr val="FF6B35"/>
                </a:solidFill>
              </a:rPr>
              <a:t>Research Agent</a:t>
            </a:r>
            <a:endParaRPr lang="en-US" sz="1300" dirty="0"/>
          </a:p>
        </p:txBody>
      </p:sp>
      <p:sp>
        <p:nvSpPr>
          <p:cNvPr id="24" name="Text 18"/>
          <p:cNvSpPr/>
          <p:nvPr/>
        </p:nvSpPr>
        <p:spPr>
          <a:xfrm>
            <a:off x="566928" y="3840480"/>
            <a:ext cx="2542032" cy="91440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Browses the web, reads documents, and compiles research reports without human effort.</a:t>
            </a:r>
            <a:endParaRPr lang="en-US" sz="1050" dirty="0"/>
          </a:p>
        </p:txBody>
      </p:sp>
      <p:sp>
        <p:nvSpPr>
          <p:cNvPr id="25" name="Shape 19"/>
          <p:cNvSpPr/>
          <p:nvPr/>
        </p:nvSpPr>
        <p:spPr>
          <a:xfrm>
            <a:off x="3364992" y="3182112"/>
            <a:ext cx="2743200" cy="162763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6" name="Shape 20"/>
          <p:cNvSpPr/>
          <p:nvPr/>
        </p:nvSpPr>
        <p:spPr>
          <a:xfrm>
            <a:off x="3474720" y="3291840"/>
            <a:ext cx="548640" cy="548640"/>
          </a:xfrm>
          <a:prstGeom prst="ellipse">
            <a:avLst/>
          </a:prstGeom>
          <a:solidFill>
            <a:srgbClr val="FFD166">
              <a:alpha val="30000"/>
            </a:srgbClr>
          </a:solidFill>
          <a:ln/>
        </p:spPr>
      </p:sp>
      <p:pic>
        <p:nvPicPr>
          <p:cNvPr id="27" name="Image 4" descr="preencoded.png"/>
          <p:cNvPicPr>
            <a:picLocks noChangeAspect="1"/>
          </p:cNvPicPr>
          <p:nvPr/>
        </p:nvPicPr>
        <p:blipFill>
          <a:blip r:embed="rId7"/>
          <a:stretch>
            <a:fillRect/>
          </a:stretch>
        </p:blipFill>
        <p:spPr>
          <a:xfrm>
            <a:off x="3529584" y="3328416"/>
            <a:ext cx="438912" cy="438912"/>
          </a:xfrm>
          <a:prstGeom prst="rect">
            <a:avLst/>
          </a:prstGeom>
        </p:spPr>
      </p:pic>
      <p:sp>
        <p:nvSpPr>
          <p:cNvPr id="28" name="Text 21"/>
          <p:cNvSpPr/>
          <p:nvPr/>
        </p:nvSpPr>
        <p:spPr>
          <a:xfrm>
            <a:off x="4096512" y="3291840"/>
            <a:ext cx="1920240" cy="457200"/>
          </a:xfrm>
          <a:prstGeom prst="rect">
            <a:avLst/>
          </a:prstGeom>
          <a:noFill/>
          <a:ln/>
        </p:spPr>
        <p:txBody>
          <a:bodyPr wrap="square" lIns="0" tIns="0" rIns="0" bIns="0" rtlCol="0" anchor="ctr"/>
          <a:lstStyle/>
          <a:p>
            <a:pPr marL="0" indent="0">
              <a:buNone/>
            </a:pPr>
            <a:r>
              <a:rPr lang="en-US" sz="1300" b="1" dirty="0">
                <a:solidFill>
                  <a:srgbClr val="FFD166"/>
                </a:solidFill>
              </a:rPr>
              <a:t>Travel Planning</a:t>
            </a:r>
            <a:endParaRPr lang="en-US" sz="1300" dirty="0"/>
          </a:p>
        </p:txBody>
      </p:sp>
      <p:sp>
        <p:nvSpPr>
          <p:cNvPr id="29" name="Text 22"/>
          <p:cNvSpPr/>
          <p:nvPr/>
        </p:nvSpPr>
        <p:spPr>
          <a:xfrm>
            <a:off x="3474720" y="3840480"/>
            <a:ext cx="2542032" cy="91440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Books flights, hotels, and creates itineraries by talking to multiple services simultaneously.</a:t>
            </a:r>
            <a:endParaRPr lang="en-US" sz="1050" dirty="0"/>
          </a:p>
        </p:txBody>
      </p:sp>
      <p:sp>
        <p:nvSpPr>
          <p:cNvPr id="30" name="Shape 23"/>
          <p:cNvSpPr/>
          <p:nvPr/>
        </p:nvSpPr>
        <p:spPr>
          <a:xfrm>
            <a:off x="6272784" y="3182112"/>
            <a:ext cx="2743200" cy="162763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31" name="Shape 24"/>
          <p:cNvSpPr/>
          <p:nvPr/>
        </p:nvSpPr>
        <p:spPr>
          <a:xfrm>
            <a:off x="6382512" y="3291840"/>
            <a:ext cx="548640" cy="548640"/>
          </a:xfrm>
          <a:prstGeom prst="ellipse">
            <a:avLst/>
          </a:prstGeom>
          <a:solidFill>
            <a:srgbClr val="0096C7">
              <a:alpha val="30000"/>
            </a:srgbClr>
          </a:solidFill>
          <a:ln/>
        </p:spPr>
      </p:sp>
      <p:pic>
        <p:nvPicPr>
          <p:cNvPr id="32" name="Image 5" descr="preencoded.png"/>
          <p:cNvPicPr>
            <a:picLocks noChangeAspect="1"/>
          </p:cNvPicPr>
          <p:nvPr/>
        </p:nvPicPr>
        <p:blipFill>
          <a:blip r:embed="rId8"/>
          <a:stretch>
            <a:fillRect/>
          </a:stretch>
        </p:blipFill>
        <p:spPr>
          <a:xfrm>
            <a:off x="6437376" y="3328416"/>
            <a:ext cx="438912" cy="438912"/>
          </a:xfrm>
          <a:prstGeom prst="rect">
            <a:avLst/>
          </a:prstGeom>
        </p:spPr>
      </p:pic>
      <p:sp>
        <p:nvSpPr>
          <p:cNvPr id="33" name="Text 25"/>
          <p:cNvSpPr/>
          <p:nvPr/>
        </p:nvSpPr>
        <p:spPr>
          <a:xfrm>
            <a:off x="7004304" y="3291840"/>
            <a:ext cx="1920240" cy="457200"/>
          </a:xfrm>
          <a:prstGeom prst="rect">
            <a:avLst/>
          </a:prstGeom>
          <a:noFill/>
          <a:ln/>
        </p:spPr>
        <p:txBody>
          <a:bodyPr wrap="square" lIns="0" tIns="0" rIns="0" bIns="0" rtlCol="0" anchor="ctr"/>
          <a:lstStyle/>
          <a:p>
            <a:pPr marL="0" indent="0">
              <a:buNone/>
            </a:pPr>
            <a:r>
              <a:rPr lang="en-US" sz="1300" b="1" dirty="0">
                <a:solidFill>
                  <a:srgbClr val="0096C7"/>
                </a:solidFill>
              </a:rPr>
              <a:t>Cybersecurity</a:t>
            </a:r>
            <a:endParaRPr lang="en-US" sz="1300" dirty="0"/>
          </a:p>
        </p:txBody>
      </p:sp>
      <p:sp>
        <p:nvSpPr>
          <p:cNvPr id="34" name="Text 26"/>
          <p:cNvSpPr/>
          <p:nvPr/>
        </p:nvSpPr>
        <p:spPr>
          <a:xfrm>
            <a:off x="6382512" y="3840480"/>
            <a:ext cx="2542032" cy="91440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Monitors networks 24/7, detects threats, and automatically blocks suspicious activity.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DATA</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AI Agent Adoption by Industry</a:t>
            </a:r>
            <a:endParaRPr lang="en-US" sz="3200" dirty="0"/>
          </a:p>
        </p:txBody>
      </p:sp>
      <p:graphicFrame>
        <p:nvGraphicFramePr>
          <p:cNvPr id="5" name="Chart 0"/>
          <p:cNvGraphicFramePr/>
          <p:nvPr/>
        </p:nvGraphicFramePr>
        <p:xfrm>
          <a:off x="457200" y="1234440"/>
          <a:ext cx="822960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4800600"/>
            <a:ext cx="8229600" cy="274320"/>
          </a:xfrm>
          <a:prstGeom prst="rect">
            <a:avLst/>
          </a:prstGeom>
          <a:noFill/>
          <a:ln/>
        </p:spPr>
        <p:txBody>
          <a:bodyPr wrap="square" rtlCol="0" anchor="ctr"/>
          <a:lstStyle/>
          <a:p>
            <a:pPr marL="0" indent="0" algn="r">
              <a:buNone/>
            </a:pPr>
            <a:r>
              <a:rPr lang="en-US" sz="900" i="1" dirty="0">
                <a:solidFill>
                  <a:srgbClr val="546E7A"/>
                </a:solidFill>
              </a:rPr>
              <a:t>Source: Gartner AI Adoption Report 2024–2025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7C3AED"/>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TOOLS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AI Agents Use Tools Like Humans</a:t>
            </a:r>
            <a:endParaRPr lang="en-US" sz="3200" dirty="0"/>
          </a:p>
        </p:txBody>
      </p:sp>
      <p:sp>
        <p:nvSpPr>
          <p:cNvPr id="5" name="Text 3"/>
          <p:cNvSpPr/>
          <p:nvPr/>
        </p:nvSpPr>
        <p:spPr>
          <a:xfrm>
            <a:off x="457200" y="1261872"/>
            <a:ext cx="8229600" cy="411480"/>
          </a:xfrm>
          <a:prstGeom prst="rect">
            <a:avLst/>
          </a:prstGeom>
          <a:noFill/>
          <a:ln/>
        </p:spPr>
        <p:txBody>
          <a:bodyPr wrap="square" rtlCol="0" anchor="ctr"/>
          <a:lstStyle/>
          <a:p>
            <a:pPr marL="0" indent="0">
              <a:buNone/>
            </a:pPr>
            <a:r>
              <a:rPr lang="en-US" sz="1400" dirty="0">
                <a:solidFill>
                  <a:srgbClr val="B0BEC5"/>
                </a:solidFill>
                <a:latin typeface="Calibri" pitchFamily="34" charset="0"/>
                <a:ea typeface="Calibri" pitchFamily="34" charset="-122"/>
                <a:cs typeface="Calibri" pitchFamily="34" charset="-120"/>
              </a:rPr>
              <a:t>Just like you use a calculator, email, or Google — AI Agents use tools to get things done.</a:t>
            </a:r>
            <a:endParaRPr lang="en-US" sz="1400" dirty="0"/>
          </a:p>
        </p:txBody>
      </p:sp>
      <p:sp>
        <p:nvSpPr>
          <p:cNvPr id="6" name="Shape 4"/>
          <p:cNvSpPr/>
          <p:nvPr/>
        </p:nvSpPr>
        <p:spPr>
          <a:xfrm>
            <a:off x="365760" y="1783080"/>
            <a:ext cx="2743200" cy="1261872"/>
          </a:xfrm>
          <a:prstGeom prst="rect">
            <a:avLst/>
          </a:prstGeom>
          <a:solidFill>
            <a:srgbClr val="152A4E"/>
          </a:solidFill>
          <a:ln w="10160">
            <a:solidFill>
              <a:srgbClr val="00B4D8"/>
            </a:solidFill>
            <a:prstDash val="solid"/>
          </a:ln>
          <a:effectLst>
            <a:outerShdw blurRad="152400" dist="50800" dir="8100000" algn="bl" rotWithShape="0">
              <a:srgbClr val="000000">
                <a:alpha val="35000"/>
              </a:srgbClr>
            </a:outerShdw>
          </a:effectLst>
        </p:spPr>
      </p:sp>
      <p:pic>
        <p:nvPicPr>
          <p:cNvPr id="7" name="Image 0" descr="preencoded.png"/>
          <p:cNvPicPr>
            <a:picLocks noChangeAspect="1"/>
          </p:cNvPicPr>
          <p:nvPr/>
        </p:nvPicPr>
        <p:blipFill>
          <a:blip r:embed="rId3"/>
          <a:stretch>
            <a:fillRect/>
          </a:stretch>
        </p:blipFill>
        <p:spPr>
          <a:xfrm>
            <a:off x="530352" y="2148840"/>
            <a:ext cx="548640" cy="548640"/>
          </a:xfrm>
          <a:prstGeom prst="rect">
            <a:avLst/>
          </a:prstGeom>
        </p:spPr>
      </p:pic>
      <p:sp>
        <p:nvSpPr>
          <p:cNvPr id="8" name="Text 5"/>
          <p:cNvSpPr/>
          <p:nvPr/>
        </p:nvSpPr>
        <p:spPr>
          <a:xfrm>
            <a:off x="1188720" y="1965960"/>
            <a:ext cx="1828800" cy="411480"/>
          </a:xfrm>
          <a:prstGeom prst="rect">
            <a:avLst/>
          </a:prstGeom>
          <a:noFill/>
          <a:ln/>
        </p:spPr>
        <p:txBody>
          <a:bodyPr wrap="square" lIns="0" tIns="0" rIns="0" bIns="0" rtlCol="0" anchor="ctr"/>
          <a:lstStyle/>
          <a:p>
            <a:pPr marL="0" indent="0">
              <a:buNone/>
            </a:pPr>
            <a:r>
              <a:rPr lang="en-US" sz="1300" b="1" dirty="0">
                <a:solidFill>
                  <a:srgbClr val="00B4D8"/>
                </a:solidFill>
              </a:rPr>
              <a:t>Web Search</a:t>
            </a:r>
            <a:endParaRPr lang="en-US" sz="1300" dirty="0"/>
          </a:p>
        </p:txBody>
      </p:sp>
      <p:sp>
        <p:nvSpPr>
          <p:cNvPr id="9" name="Text 6"/>
          <p:cNvSpPr/>
          <p:nvPr/>
        </p:nvSpPr>
        <p:spPr>
          <a:xfrm>
            <a:off x="1188720" y="2377440"/>
            <a:ext cx="1828800" cy="457200"/>
          </a:xfrm>
          <a:prstGeom prst="rect">
            <a:avLst/>
          </a:prstGeom>
          <a:noFill/>
          <a:ln/>
        </p:spPr>
        <p:txBody>
          <a:bodyPr wrap="square" lIns="0" tIns="0" rIns="0" bIns="0" rtlCol="0" anchor="t"/>
          <a:lstStyle/>
          <a:p>
            <a:pPr marL="0" indent="0">
              <a:buNone/>
            </a:pPr>
            <a:r>
              <a:rPr lang="en-US" sz="1100" dirty="0">
                <a:solidFill>
                  <a:srgbClr val="B0BEC5"/>
                </a:solidFill>
              </a:rPr>
              <a:t>Finds latest information online</a:t>
            </a:r>
            <a:endParaRPr lang="en-US" sz="1100" dirty="0"/>
          </a:p>
        </p:txBody>
      </p:sp>
      <p:sp>
        <p:nvSpPr>
          <p:cNvPr id="10" name="Shape 7"/>
          <p:cNvSpPr/>
          <p:nvPr/>
        </p:nvSpPr>
        <p:spPr>
          <a:xfrm>
            <a:off x="3291840" y="1783080"/>
            <a:ext cx="2743200" cy="1261872"/>
          </a:xfrm>
          <a:prstGeom prst="rect">
            <a:avLst/>
          </a:prstGeom>
          <a:solidFill>
            <a:srgbClr val="152A4E"/>
          </a:solidFill>
          <a:ln w="10160">
            <a:solidFill>
              <a:srgbClr val="7C3AED"/>
            </a:solidFill>
            <a:prstDash val="solid"/>
          </a:ln>
          <a:effectLst>
            <a:outerShdw blurRad="152400" dist="50800" dir="8100000" algn="bl" rotWithShape="0">
              <a:srgbClr val="000000">
                <a:alpha val="35000"/>
              </a:srgbClr>
            </a:outerShdw>
          </a:effectLst>
        </p:spPr>
      </p:sp>
      <p:pic>
        <p:nvPicPr>
          <p:cNvPr id="11" name="Image 1" descr="preencoded.png"/>
          <p:cNvPicPr>
            <a:picLocks noChangeAspect="1"/>
          </p:cNvPicPr>
          <p:nvPr/>
        </p:nvPicPr>
        <p:blipFill>
          <a:blip r:embed="rId4"/>
          <a:stretch>
            <a:fillRect/>
          </a:stretch>
        </p:blipFill>
        <p:spPr>
          <a:xfrm>
            <a:off x="3456432" y="2148840"/>
            <a:ext cx="548640" cy="548640"/>
          </a:xfrm>
          <a:prstGeom prst="rect">
            <a:avLst/>
          </a:prstGeom>
        </p:spPr>
      </p:pic>
      <p:sp>
        <p:nvSpPr>
          <p:cNvPr id="12" name="Text 8"/>
          <p:cNvSpPr/>
          <p:nvPr/>
        </p:nvSpPr>
        <p:spPr>
          <a:xfrm>
            <a:off x="4114800" y="1965960"/>
            <a:ext cx="1828800" cy="411480"/>
          </a:xfrm>
          <a:prstGeom prst="rect">
            <a:avLst/>
          </a:prstGeom>
          <a:noFill/>
          <a:ln/>
        </p:spPr>
        <p:txBody>
          <a:bodyPr wrap="square" lIns="0" tIns="0" rIns="0" bIns="0" rtlCol="0" anchor="ctr"/>
          <a:lstStyle/>
          <a:p>
            <a:pPr marL="0" indent="0">
              <a:buNone/>
            </a:pPr>
            <a:r>
              <a:rPr lang="en-US" sz="1300" b="1" dirty="0">
                <a:solidFill>
                  <a:srgbClr val="7C3AED"/>
                </a:solidFill>
              </a:rPr>
              <a:t>Code Executor</a:t>
            </a:r>
            <a:endParaRPr lang="en-US" sz="1300" dirty="0"/>
          </a:p>
        </p:txBody>
      </p:sp>
      <p:sp>
        <p:nvSpPr>
          <p:cNvPr id="13" name="Text 9"/>
          <p:cNvSpPr/>
          <p:nvPr/>
        </p:nvSpPr>
        <p:spPr>
          <a:xfrm>
            <a:off x="4114800" y="2377440"/>
            <a:ext cx="1828800" cy="457200"/>
          </a:xfrm>
          <a:prstGeom prst="rect">
            <a:avLst/>
          </a:prstGeom>
          <a:noFill/>
          <a:ln/>
        </p:spPr>
        <p:txBody>
          <a:bodyPr wrap="square" lIns="0" tIns="0" rIns="0" bIns="0" rtlCol="0" anchor="t"/>
          <a:lstStyle/>
          <a:p>
            <a:pPr marL="0" indent="0">
              <a:buNone/>
            </a:pPr>
            <a:r>
              <a:rPr lang="en-US" sz="1100" dirty="0">
                <a:solidFill>
                  <a:srgbClr val="B0BEC5"/>
                </a:solidFill>
              </a:rPr>
              <a:t>Writes &amp; runs Python, JS code</a:t>
            </a:r>
            <a:endParaRPr lang="en-US" sz="1100" dirty="0"/>
          </a:p>
        </p:txBody>
      </p:sp>
      <p:sp>
        <p:nvSpPr>
          <p:cNvPr id="14" name="Shape 10"/>
          <p:cNvSpPr/>
          <p:nvPr/>
        </p:nvSpPr>
        <p:spPr>
          <a:xfrm>
            <a:off x="6217920" y="1783080"/>
            <a:ext cx="2743200" cy="1261872"/>
          </a:xfrm>
          <a:prstGeom prst="rect">
            <a:avLst/>
          </a:prstGeom>
          <a:solidFill>
            <a:srgbClr val="152A4E"/>
          </a:solidFill>
          <a:ln w="10160">
            <a:solidFill>
              <a:srgbClr val="FFD166"/>
            </a:solidFill>
            <a:prstDash val="solid"/>
          </a:ln>
          <a:effectLst>
            <a:outerShdw blurRad="152400" dist="50800" dir="8100000" algn="bl" rotWithShape="0">
              <a:srgbClr val="000000">
                <a:alpha val="35000"/>
              </a:srgbClr>
            </a:outerShdw>
          </a:effectLst>
        </p:spPr>
      </p:sp>
      <p:pic>
        <p:nvPicPr>
          <p:cNvPr id="15" name="Image 2" descr="preencoded.png"/>
          <p:cNvPicPr>
            <a:picLocks noChangeAspect="1"/>
          </p:cNvPicPr>
          <p:nvPr/>
        </p:nvPicPr>
        <p:blipFill>
          <a:blip r:embed="rId5"/>
          <a:stretch>
            <a:fillRect/>
          </a:stretch>
        </p:blipFill>
        <p:spPr>
          <a:xfrm>
            <a:off x="6382512" y="2148840"/>
            <a:ext cx="548640" cy="548640"/>
          </a:xfrm>
          <a:prstGeom prst="rect">
            <a:avLst/>
          </a:prstGeom>
        </p:spPr>
      </p:pic>
      <p:sp>
        <p:nvSpPr>
          <p:cNvPr id="16" name="Text 11"/>
          <p:cNvSpPr/>
          <p:nvPr/>
        </p:nvSpPr>
        <p:spPr>
          <a:xfrm>
            <a:off x="7040880" y="1965960"/>
            <a:ext cx="1828800" cy="411480"/>
          </a:xfrm>
          <a:prstGeom prst="rect">
            <a:avLst/>
          </a:prstGeom>
          <a:noFill/>
          <a:ln/>
        </p:spPr>
        <p:txBody>
          <a:bodyPr wrap="square" lIns="0" tIns="0" rIns="0" bIns="0" rtlCol="0" anchor="ctr"/>
          <a:lstStyle/>
          <a:p>
            <a:pPr marL="0" indent="0">
              <a:buNone/>
            </a:pPr>
            <a:r>
              <a:rPr lang="en-US" sz="1300" b="1" dirty="0">
                <a:solidFill>
                  <a:srgbClr val="FFD166"/>
                </a:solidFill>
              </a:rPr>
              <a:t>Database</a:t>
            </a:r>
            <a:endParaRPr lang="en-US" sz="1300" dirty="0"/>
          </a:p>
        </p:txBody>
      </p:sp>
      <p:sp>
        <p:nvSpPr>
          <p:cNvPr id="17" name="Text 12"/>
          <p:cNvSpPr/>
          <p:nvPr/>
        </p:nvSpPr>
        <p:spPr>
          <a:xfrm>
            <a:off x="7040880" y="2377440"/>
            <a:ext cx="1828800" cy="457200"/>
          </a:xfrm>
          <a:prstGeom prst="rect">
            <a:avLst/>
          </a:prstGeom>
          <a:noFill/>
          <a:ln/>
        </p:spPr>
        <p:txBody>
          <a:bodyPr wrap="square" lIns="0" tIns="0" rIns="0" bIns="0" rtlCol="0" anchor="t"/>
          <a:lstStyle/>
          <a:p>
            <a:pPr marL="0" indent="0">
              <a:buNone/>
            </a:pPr>
            <a:r>
              <a:rPr lang="en-US" sz="1100" dirty="0">
                <a:solidFill>
                  <a:srgbClr val="B0BEC5"/>
                </a:solidFill>
              </a:rPr>
              <a:t>Reads &amp; writes structured data</a:t>
            </a:r>
            <a:endParaRPr lang="en-US" sz="1100" dirty="0"/>
          </a:p>
        </p:txBody>
      </p:sp>
      <p:sp>
        <p:nvSpPr>
          <p:cNvPr id="18" name="Shape 13"/>
          <p:cNvSpPr/>
          <p:nvPr/>
        </p:nvSpPr>
        <p:spPr>
          <a:xfrm>
            <a:off x="365760" y="3246120"/>
            <a:ext cx="2743200" cy="1261872"/>
          </a:xfrm>
          <a:prstGeom prst="rect">
            <a:avLst/>
          </a:prstGeom>
          <a:solidFill>
            <a:srgbClr val="152A4E"/>
          </a:solidFill>
          <a:ln w="10160">
            <a:solidFill>
              <a:srgbClr val="0096C7"/>
            </a:solidFill>
            <a:prstDash val="solid"/>
          </a:ln>
          <a:effectLst>
            <a:outerShdw blurRad="152400" dist="50800" dir="8100000" algn="bl" rotWithShape="0">
              <a:srgbClr val="000000">
                <a:alpha val="35000"/>
              </a:srgbClr>
            </a:outerShdw>
          </a:effectLst>
        </p:spPr>
      </p:sp>
      <p:pic>
        <p:nvPicPr>
          <p:cNvPr id="19" name="Image 3" descr="preencoded.png"/>
          <p:cNvPicPr>
            <a:picLocks noChangeAspect="1"/>
          </p:cNvPicPr>
          <p:nvPr/>
        </p:nvPicPr>
        <p:blipFill>
          <a:blip r:embed="rId6"/>
          <a:stretch>
            <a:fillRect/>
          </a:stretch>
        </p:blipFill>
        <p:spPr>
          <a:xfrm>
            <a:off x="530352" y="3611880"/>
            <a:ext cx="548640" cy="548640"/>
          </a:xfrm>
          <a:prstGeom prst="rect">
            <a:avLst/>
          </a:prstGeom>
        </p:spPr>
      </p:pic>
      <p:sp>
        <p:nvSpPr>
          <p:cNvPr id="20" name="Text 14"/>
          <p:cNvSpPr/>
          <p:nvPr/>
        </p:nvSpPr>
        <p:spPr>
          <a:xfrm>
            <a:off x="1188720" y="3429000"/>
            <a:ext cx="1828800" cy="411480"/>
          </a:xfrm>
          <a:prstGeom prst="rect">
            <a:avLst/>
          </a:prstGeom>
          <a:noFill/>
          <a:ln/>
        </p:spPr>
        <p:txBody>
          <a:bodyPr wrap="square" lIns="0" tIns="0" rIns="0" bIns="0" rtlCol="0" anchor="ctr"/>
          <a:lstStyle/>
          <a:p>
            <a:pPr marL="0" indent="0">
              <a:buNone/>
            </a:pPr>
            <a:r>
              <a:rPr lang="en-US" sz="1300" b="1" dirty="0">
                <a:solidFill>
                  <a:srgbClr val="0096C7"/>
                </a:solidFill>
              </a:rPr>
              <a:t>APIs</a:t>
            </a:r>
            <a:endParaRPr lang="en-US" sz="1300" dirty="0"/>
          </a:p>
        </p:txBody>
      </p:sp>
      <p:sp>
        <p:nvSpPr>
          <p:cNvPr id="21" name="Text 15"/>
          <p:cNvSpPr/>
          <p:nvPr/>
        </p:nvSpPr>
        <p:spPr>
          <a:xfrm>
            <a:off x="1188720" y="3840480"/>
            <a:ext cx="1828800" cy="457200"/>
          </a:xfrm>
          <a:prstGeom prst="rect">
            <a:avLst/>
          </a:prstGeom>
          <a:noFill/>
          <a:ln/>
        </p:spPr>
        <p:txBody>
          <a:bodyPr wrap="square" lIns="0" tIns="0" rIns="0" bIns="0" rtlCol="0" anchor="t"/>
          <a:lstStyle/>
          <a:p>
            <a:pPr marL="0" indent="0">
              <a:buNone/>
            </a:pPr>
            <a:r>
              <a:rPr lang="en-US" sz="1100" dirty="0">
                <a:solidFill>
                  <a:srgbClr val="B0BEC5"/>
                </a:solidFill>
              </a:rPr>
              <a:t>Connects to external services</a:t>
            </a:r>
            <a:endParaRPr lang="en-US" sz="1100" dirty="0"/>
          </a:p>
        </p:txBody>
      </p:sp>
      <p:sp>
        <p:nvSpPr>
          <p:cNvPr id="22" name="Shape 16"/>
          <p:cNvSpPr/>
          <p:nvPr/>
        </p:nvSpPr>
        <p:spPr>
          <a:xfrm>
            <a:off x="3291840" y="3246120"/>
            <a:ext cx="2743200" cy="1261872"/>
          </a:xfrm>
          <a:prstGeom prst="rect">
            <a:avLst/>
          </a:prstGeom>
          <a:solidFill>
            <a:srgbClr val="152A4E"/>
          </a:solidFill>
          <a:ln w="10160">
            <a:solidFill>
              <a:srgbClr val="00C896"/>
            </a:solidFill>
            <a:prstDash val="solid"/>
          </a:ln>
          <a:effectLst>
            <a:outerShdw blurRad="152400" dist="50800" dir="8100000" algn="bl" rotWithShape="0">
              <a:srgbClr val="000000">
                <a:alpha val="35000"/>
              </a:srgbClr>
            </a:outerShdw>
          </a:effectLst>
        </p:spPr>
      </p:sp>
      <p:pic>
        <p:nvPicPr>
          <p:cNvPr id="23" name="Image 4" descr="preencoded.png"/>
          <p:cNvPicPr>
            <a:picLocks noChangeAspect="1"/>
          </p:cNvPicPr>
          <p:nvPr/>
        </p:nvPicPr>
        <p:blipFill>
          <a:blip r:embed="rId7"/>
          <a:stretch>
            <a:fillRect/>
          </a:stretch>
        </p:blipFill>
        <p:spPr>
          <a:xfrm>
            <a:off x="3456432" y="3611880"/>
            <a:ext cx="548640" cy="548640"/>
          </a:xfrm>
          <a:prstGeom prst="rect">
            <a:avLst/>
          </a:prstGeom>
        </p:spPr>
      </p:pic>
      <p:sp>
        <p:nvSpPr>
          <p:cNvPr id="24" name="Text 17"/>
          <p:cNvSpPr/>
          <p:nvPr/>
        </p:nvSpPr>
        <p:spPr>
          <a:xfrm>
            <a:off x="4114800" y="3429000"/>
            <a:ext cx="1828800" cy="411480"/>
          </a:xfrm>
          <a:prstGeom prst="rect">
            <a:avLst/>
          </a:prstGeom>
          <a:noFill/>
          <a:ln/>
        </p:spPr>
        <p:txBody>
          <a:bodyPr wrap="square" lIns="0" tIns="0" rIns="0" bIns="0" rtlCol="0" anchor="ctr"/>
          <a:lstStyle/>
          <a:p>
            <a:pPr marL="0" indent="0">
              <a:buNone/>
            </a:pPr>
            <a:r>
              <a:rPr lang="en-US" sz="1300" b="1" dirty="0">
                <a:solidFill>
                  <a:srgbClr val="00C896"/>
                </a:solidFill>
              </a:rPr>
              <a:t>Email / Chat</a:t>
            </a:r>
            <a:endParaRPr lang="en-US" sz="1300" dirty="0"/>
          </a:p>
        </p:txBody>
      </p:sp>
      <p:sp>
        <p:nvSpPr>
          <p:cNvPr id="25" name="Text 18"/>
          <p:cNvSpPr/>
          <p:nvPr/>
        </p:nvSpPr>
        <p:spPr>
          <a:xfrm>
            <a:off x="4114800" y="3840480"/>
            <a:ext cx="1828800" cy="457200"/>
          </a:xfrm>
          <a:prstGeom prst="rect">
            <a:avLst/>
          </a:prstGeom>
          <a:noFill/>
          <a:ln/>
        </p:spPr>
        <p:txBody>
          <a:bodyPr wrap="square" lIns="0" tIns="0" rIns="0" bIns="0" rtlCol="0" anchor="t"/>
          <a:lstStyle/>
          <a:p>
            <a:pPr marL="0" indent="0">
              <a:buNone/>
            </a:pPr>
            <a:r>
              <a:rPr lang="en-US" sz="1100" dirty="0">
                <a:solidFill>
                  <a:srgbClr val="B0BEC5"/>
                </a:solidFill>
              </a:rPr>
              <a:t>Sends messages &amp; notifications</a:t>
            </a:r>
            <a:endParaRPr lang="en-US" sz="1100" dirty="0"/>
          </a:p>
        </p:txBody>
      </p:sp>
      <p:sp>
        <p:nvSpPr>
          <p:cNvPr id="26" name="Shape 19"/>
          <p:cNvSpPr/>
          <p:nvPr/>
        </p:nvSpPr>
        <p:spPr>
          <a:xfrm>
            <a:off x="6217920" y="3246120"/>
            <a:ext cx="2743200" cy="1261872"/>
          </a:xfrm>
          <a:prstGeom prst="rect">
            <a:avLst/>
          </a:prstGeom>
          <a:solidFill>
            <a:srgbClr val="152A4E"/>
          </a:solidFill>
          <a:ln w="10160">
            <a:solidFill>
              <a:srgbClr val="FF6B35"/>
            </a:solidFill>
            <a:prstDash val="solid"/>
          </a:ln>
          <a:effectLst>
            <a:outerShdw blurRad="152400" dist="50800" dir="8100000" algn="bl" rotWithShape="0">
              <a:srgbClr val="000000">
                <a:alpha val="35000"/>
              </a:srgbClr>
            </a:outerShdw>
          </a:effectLst>
        </p:spPr>
      </p:sp>
      <p:pic>
        <p:nvPicPr>
          <p:cNvPr id="27" name="Image 5" descr="preencoded.png"/>
          <p:cNvPicPr>
            <a:picLocks noChangeAspect="1"/>
          </p:cNvPicPr>
          <p:nvPr/>
        </p:nvPicPr>
        <p:blipFill>
          <a:blip r:embed="rId8"/>
          <a:stretch>
            <a:fillRect/>
          </a:stretch>
        </p:blipFill>
        <p:spPr>
          <a:xfrm>
            <a:off x="6382512" y="3611880"/>
            <a:ext cx="548640" cy="548640"/>
          </a:xfrm>
          <a:prstGeom prst="rect">
            <a:avLst/>
          </a:prstGeom>
        </p:spPr>
      </p:pic>
      <p:sp>
        <p:nvSpPr>
          <p:cNvPr id="28" name="Text 20"/>
          <p:cNvSpPr/>
          <p:nvPr/>
        </p:nvSpPr>
        <p:spPr>
          <a:xfrm>
            <a:off x="7040880" y="3429000"/>
            <a:ext cx="1828800" cy="411480"/>
          </a:xfrm>
          <a:prstGeom prst="rect">
            <a:avLst/>
          </a:prstGeom>
          <a:noFill/>
          <a:ln/>
        </p:spPr>
        <p:txBody>
          <a:bodyPr wrap="square" lIns="0" tIns="0" rIns="0" bIns="0" rtlCol="0" anchor="ctr"/>
          <a:lstStyle/>
          <a:p>
            <a:pPr marL="0" indent="0">
              <a:buNone/>
            </a:pPr>
            <a:r>
              <a:rPr lang="en-US" sz="1300" b="1" dirty="0">
                <a:solidFill>
                  <a:srgbClr val="FF6B35"/>
                </a:solidFill>
              </a:rPr>
              <a:t>File System</a:t>
            </a:r>
            <a:endParaRPr lang="en-US" sz="1300" dirty="0"/>
          </a:p>
        </p:txBody>
      </p:sp>
      <p:sp>
        <p:nvSpPr>
          <p:cNvPr id="29" name="Text 21"/>
          <p:cNvSpPr/>
          <p:nvPr/>
        </p:nvSpPr>
        <p:spPr>
          <a:xfrm>
            <a:off x="7040880" y="3840480"/>
            <a:ext cx="1828800" cy="457200"/>
          </a:xfrm>
          <a:prstGeom prst="rect">
            <a:avLst/>
          </a:prstGeom>
          <a:noFill/>
          <a:ln/>
        </p:spPr>
        <p:txBody>
          <a:bodyPr wrap="square" lIns="0" tIns="0" rIns="0" bIns="0" rtlCol="0" anchor="t"/>
          <a:lstStyle/>
          <a:p>
            <a:pPr marL="0" indent="0">
              <a:buNone/>
            </a:pPr>
            <a:r>
              <a:rPr lang="en-US" sz="1100" dirty="0">
                <a:solidFill>
                  <a:srgbClr val="B0BEC5"/>
                </a:solidFill>
              </a:rPr>
              <a:t>Reads/writes files &amp; documents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EXAMPLES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Popular AI Agents You Know</a:t>
            </a:r>
            <a:endParaRPr lang="en-US" sz="3200" dirty="0"/>
          </a:p>
        </p:txBody>
      </p:sp>
      <p:sp>
        <p:nvSpPr>
          <p:cNvPr id="5" name="Shape 3"/>
          <p:cNvSpPr/>
          <p:nvPr/>
        </p:nvSpPr>
        <p:spPr>
          <a:xfrm>
            <a:off x="457200" y="1325880"/>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6" name="Shape 4"/>
          <p:cNvSpPr/>
          <p:nvPr/>
        </p:nvSpPr>
        <p:spPr>
          <a:xfrm>
            <a:off x="457200" y="1325880"/>
            <a:ext cx="54864" cy="1115568"/>
          </a:xfrm>
          <a:prstGeom prst="rect">
            <a:avLst/>
          </a:prstGeom>
          <a:solidFill>
            <a:srgbClr val="00B4D8"/>
          </a:solidFill>
          <a:ln/>
        </p:spPr>
      </p:sp>
      <p:sp>
        <p:nvSpPr>
          <p:cNvPr id="7" name="Text 5"/>
          <p:cNvSpPr/>
          <p:nvPr/>
        </p:nvSpPr>
        <p:spPr>
          <a:xfrm>
            <a:off x="640080" y="1417320"/>
            <a:ext cx="2286000" cy="384048"/>
          </a:xfrm>
          <a:prstGeom prst="rect">
            <a:avLst/>
          </a:prstGeom>
          <a:noFill/>
          <a:ln/>
        </p:spPr>
        <p:txBody>
          <a:bodyPr wrap="square" lIns="0" tIns="0" rIns="0" bIns="0" rtlCol="0" anchor="ctr"/>
          <a:lstStyle/>
          <a:p>
            <a:pPr marL="0" indent="0">
              <a:buNone/>
            </a:pPr>
            <a:r>
              <a:rPr lang="en-US" sz="1500" b="1" dirty="0">
                <a:solidFill>
                  <a:srgbClr val="00B4D8"/>
                </a:solidFill>
              </a:rPr>
              <a:t>AutoGPT</a:t>
            </a:r>
            <a:endParaRPr lang="en-US" sz="1500" dirty="0"/>
          </a:p>
        </p:txBody>
      </p:sp>
      <p:sp>
        <p:nvSpPr>
          <p:cNvPr id="8" name="Text 6"/>
          <p:cNvSpPr/>
          <p:nvPr/>
        </p:nvSpPr>
        <p:spPr>
          <a:xfrm>
            <a:off x="640080" y="1801368"/>
            <a:ext cx="2286000" cy="292608"/>
          </a:xfrm>
          <a:prstGeom prst="rect">
            <a:avLst/>
          </a:prstGeom>
          <a:noFill/>
          <a:ln/>
        </p:spPr>
        <p:txBody>
          <a:bodyPr wrap="square" lIns="0" tIns="0" rIns="0" bIns="0" rtlCol="0" anchor="ctr"/>
          <a:lstStyle/>
          <a:p>
            <a:pPr marL="0" indent="0">
              <a:buNone/>
            </a:pPr>
            <a:r>
              <a:rPr lang="en-US" sz="1000" dirty="0">
                <a:solidFill>
                  <a:srgbClr val="546E7A"/>
                </a:solidFill>
              </a:rPr>
              <a:t>Toran Bruce Richards</a:t>
            </a:r>
            <a:endParaRPr lang="en-US" sz="1000" dirty="0"/>
          </a:p>
        </p:txBody>
      </p:sp>
      <p:sp>
        <p:nvSpPr>
          <p:cNvPr id="9" name="Text 7"/>
          <p:cNvSpPr/>
          <p:nvPr/>
        </p:nvSpPr>
        <p:spPr>
          <a:xfrm>
            <a:off x="640080" y="2075688"/>
            <a:ext cx="3840480" cy="347472"/>
          </a:xfrm>
          <a:prstGeom prst="rect">
            <a:avLst/>
          </a:prstGeom>
          <a:noFill/>
          <a:ln/>
        </p:spPr>
        <p:txBody>
          <a:bodyPr wrap="square" lIns="0" tIns="0" rIns="0" bIns="0" rtlCol="0" anchor="t"/>
          <a:lstStyle/>
          <a:p>
            <a:pPr marL="0" indent="0">
              <a:buNone/>
            </a:pPr>
            <a:r>
              <a:rPr lang="en-US" sz="1000" dirty="0">
                <a:solidFill>
                  <a:srgbClr val="B0BEC5"/>
                </a:solidFill>
              </a:rPr>
              <a:t>First popular autonomous agent. Sets goals and completes them step by step on its own.</a:t>
            </a:r>
            <a:endParaRPr lang="en-US" sz="1000" dirty="0"/>
          </a:p>
        </p:txBody>
      </p:sp>
      <p:sp>
        <p:nvSpPr>
          <p:cNvPr id="10" name="Shape 8"/>
          <p:cNvSpPr/>
          <p:nvPr/>
        </p:nvSpPr>
        <p:spPr>
          <a:xfrm>
            <a:off x="4846320" y="1325880"/>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1" name="Shape 9"/>
          <p:cNvSpPr/>
          <p:nvPr/>
        </p:nvSpPr>
        <p:spPr>
          <a:xfrm>
            <a:off x="4846320" y="1325880"/>
            <a:ext cx="54864" cy="1115568"/>
          </a:xfrm>
          <a:prstGeom prst="rect">
            <a:avLst/>
          </a:prstGeom>
          <a:solidFill>
            <a:srgbClr val="7C3AED"/>
          </a:solidFill>
          <a:ln/>
        </p:spPr>
      </p:sp>
      <p:sp>
        <p:nvSpPr>
          <p:cNvPr id="12" name="Text 10"/>
          <p:cNvSpPr/>
          <p:nvPr/>
        </p:nvSpPr>
        <p:spPr>
          <a:xfrm>
            <a:off x="5029200" y="1417320"/>
            <a:ext cx="2286000" cy="384048"/>
          </a:xfrm>
          <a:prstGeom prst="rect">
            <a:avLst/>
          </a:prstGeom>
          <a:noFill/>
          <a:ln/>
        </p:spPr>
        <p:txBody>
          <a:bodyPr wrap="square" lIns="0" tIns="0" rIns="0" bIns="0" rtlCol="0" anchor="ctr"/>
          <a:lstStyle/>
          <a:p>
            <a:pPr marL="0" indent="0">
              <a:buNone/>
            </a:pPr>
            <a:r>
              <a:rPr lang="en-US" sz="1500" b="1" dirty="0">
                <a:solidFill>
                  <a:srgbClr val="7C3AED"/>
                </a:solidFill>
              </a:rPr>
              <a:t>Devin</a:t>
            </a:r>
            <a:endParaRPr lang="en-US" sz="1500" dirty="0"/>
          </a:p>
        </p:txBody>
      </p:sp>
      <p:sp>
        <p:nvSpPr>
          <p:cNvPr id="13" name="Text 11"/>
          <p:cNvSpPr/>
          <p:nvPr/>
        </p:nvSpPr>
        <p:spPr>
          <a:xfrm>
            <a:off x="5029200" y="1801368"/>
            <a:ext cx="2286000" cy="292608"/>
          </a:xfrm>
          <a:prstGeom prst="rect">
            <a:avLst/>
          </a:prstGeom>
          <a:noFill/>
          <a:ln/>
        </p:spPr>
        <p:txBody>
          <a:bodyPr wrap="square" lIns="0" tIns="0" rIns="0" bIns="0" rtlCol="0" anchor="ctr"/>
          <a:lstStyle/>
          <a:p>
            <a:pPr marL="0" indent="0">
              <a:buNone/>
            </a:pPr>
            <a:r>
              <a:rPr lang="en-US" sz="1000" dirty="0">
                <a:solidFill>
                  <a:srgbClr val="546E7A"/>
                </a:solidFill>
              </a:rPr>
              <a:t>Cognition AI</a:t>
            </a:r>
            <a:endParaRPr lang="en-US" sz="1000" dirty="0"/>
          </a:p>
        </p:txBody>
      </p:sp>
      <p:sp>
        <p:nvSpPr>
          <p:cNvPr id="14" name="Text 12"/>
          <p:cNvSpPr/>
          <p:nvPr/>
        </p:nvSpPr>
        <p:spPr>
          <a:xfrm>
            <a:off x="5029200" y="2075688"/>
            <a:ext cx="3840480" cy="347472"/>
          </a:xfrm>
          <a:prstGeom prst="rect">
            <a:avLst/>
          </a:prstGeom>
          <a:noFill/>
          <a:ln/>
        </p:spPr>
        <p:txBody>
          <a:bodyPr wrap="square" lIns="0" tIns="0" rIns="0" bIns="0" rtlCol="0" anchor="t"/>
          <a:lstStyle/>
          <a:p>
            <a:pPr marL="0" indent="0">
              <a:buNone/>
            </a:pPr>
            <a:r>
              <a:rPr lang="en-US" sz="1000" dirty="0">
                <a:solidFill>
                  <a:srgbClr val="B0BEC5"/>
                </a:solidFill>
              </a:rPr>
              <a:t>The world's first AI software engineer. Can build entire apps from a single prompt.</a:t>
            </a:r>
            <a:endParaRPr lang="en-US" sz="1000" dirty="0"/>
          </a:p>
        </p:txBody>
      </p:sp>
      <p:sp>
        <p:nvSpPr>
          <p:cNvPr id="15" name="Shape 13"/>
          <p:cNvSpPr/>
          <p:nvPr/>
        </p:nvSpPr>
        <p:spPr>
          <a:xfrm>
            <a:off x="457200" y="2587752"/>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6" name="Shape 14"/>
          <p:cNvSpPr/>
          <p:nvPr/>
        </p:nvSpPr>
        <p:spPr>
          <a:xfrm>
            <a:off x="457200" y="2587752"/>
            <a:ext cx="54864" cy="1115568"/>
          </a:xfrm>
          <a:prstGeom prst="rect">
            <a:avLst/>
          </a:prstGeom>
          <a:solidFill>
            <a:srgbClr val="FF6B35"/>
          </a:solidFill>
          <a:ln/>
        </p:spPr>
      </p:sp>
      <p:sp>
        <p:nvSpPr>
          <p:cNvPr id="17" name="Text 15"/>
          <p:cNvSpPr/>
          <p:nvPr/>
        </p:nvSpPr>
        <p:spPr>
          <a:xfrm>
            <a:off x="640080" y="2679192"/>
            <a:ext cx="2286000" cy="384048"/>
          </a:xfrm>
          <a:prstGeom prst="rect">
            <a:avLst/>
          </a:prstGeom>
          <a:noFill/>
          <a:ln/>
        </p:spPr>
        <p:txBody>
          <a:bodyPr wrap="square" lIns="0" tIns="0" rIns="0" bIns="0" rtlCol="0" anchor="ctr"/>
          <a:lstStyle/>
          <a:p>
            <a:pPr marL="0" indent="0">
              <a:buNone/>
            </a:pPr>
            <a:r>
              <a:rPr lang="en-US" sz="1500" b="1" dirty="0">
                <a:solidFill>
                  <a:srgbClr val="FF6B35"/>
                </a:solidFill>
              </a:rPr>
              <a:t>Claude Agents</a:t>
            </a:r>
            <a:endParaRPr lang="en-US" sz="1500" dirty="0"/>
          </a:p>
        </p:txBody>
      </p:sp>
      <p:sp>
        <p:nvSpPr>
          <p:cNvPr id="18" name="Text 16"/>
          <p:cNvSpPr/>
          <p:nvPr/>
        </p:nvSpPr>
        <p:spPr>
          <a:xfrm>
            <a:off x="640080" y="3063240"/>
            <a:ext cx="2286000" cy="292608"/>
          </a:xfrm>
          <a:prstGeom prst="rect">
            <a:avLst/>
          </a:prstGeom>
          <a:noFill/>
          <a:ln/>
        </p:spPr>
        <p:txBody>
          <a:bodyPr wrap="square" lIns="0" tIns="0" rIns="0" bIns="0" rtlCol="0" anchor="ctr"/>
          <a:lstStyle/>
          <a:p>
            <a:pPr marL="0" indent="0">
              <a:buNone/>
            </a:pPr>
            <a:r>
              <a:rPr lang="en-US" sz="1000" dirty="0">
                <a:solidFill>
                  <a:srgbClr val="546E7A"/>
                </a:solidFill>
              </a:rPr>
              <a:t>Anthropic</a:t>
            </a:r>
            <a:endParaRPr lang="en-US" sz="1000" dirty="0"/>
          </a:p>
        </p:txBody>
      </p:sp>
      <p:sp>
        <p:nvSpPr>
          <p:cNvPr id="19" name="Text 17"/>
          <p:cNvSpPr/>
          <p:nvPr/>
        </p:nvSpPr>
        <p:spPr>
          <a:xfrm>
            <a:off x="640080" y="3337560"/>
            <a:ext cx="3840480" cy="347472"/>
          </a:xfrm>
          <a:prstGeom prst="rect">
            <a:avLst/>
          </a:prstGeom>
          <a:noFill/>
          <a:ln/>
        </p:spPr>
        <p:txBody>
          <a:bodyPr wrap="square" lIns="0" tIns="0" rIns="0" bIns="0" rtlCol="0" anchor="t"/>
          <a:lstStyle/>
          <a:p>
            <a:pPr marL="0" indent="0">
              <a:buNone/>
            </a:pPr>
            <a:r>
              <a:rPr lang="en-US" sz="1000" dirty="0">
                <a:solidFill>
                  <a:srgbClr val="B0BEC5"/>
                </a:solidFill>
              </a:rPr>
              <a:t>Multi-step reasoning, tool use, long-context planning for complex tasks.</a:t>
            </a:r>
            <a:endParaRPr lang="en-US" sz="1000" dirty="0"/>
          </a:p>
        </p:txBody>
      </p:sp>
      <p:sp>
        <p:nvSpPr>
          <p:cNvPr id="20" name="Shape 18"/>
          <p:cNvSpPr/>
          <p:nvPr/>
        </p:nvSpPr>
        <p:spPr>
          <a:xfrm>
            <a:off x="4846320" y="2587752"/>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1" name="Shape 19"/>
          <p:cNvSpPr/>
          <p:nvPr/>
        </p:nvSpPr>
        <p:spPr>
          <a:xfrm>
            <a:off x="4846320" y="2587752"/>
            <a:ext cx="54864" cy="1115568"/>
          </a:xfrm>
          <a:prstGeom prst="rect">
            <a:avLst/>
          </a:prstGeom>
          <a:solidFill>
            <a:srgbClr val="00C896"/>
          </a:solidFill>
          <a:ln/>
        </p:spPr>
      </p:sp>
      <p:sp>
        <p:nvSpPr>
          <p:cNvPr id="22" name="Text 20"/>
          <p:cNvSpPr/>
          <p:nvPr/>
        </p:nvSpPr>
        <p:spPr>
          <a:xfrm>
            <a:off x="5029200" y="2679192"/>
            <a:ext cx="2286000" cy="384048"/>
          </a:xfrm>
          <a:prstGeom prst="rect">
            <a:avLst/>
          </a:prstGeom>
          <a:noFill/>
          <a:ln/>
        </p:spPr>
        <p:txBody>
          <a:bodyPr wrap="square" lIns="0" tIns="0" rIns="0" bIns="0" rtlCol="0" anchor="ctr"/>
          <a:lstStyle/>
          <a:p>
            <a:pPr marL="0" indent="0">
              <a:buNone/>
            </a:pPr>
            <a:r>
              <a:rPr lang="en-US" sz="1500" b="1" dirty="0">
                <a:solidFill>
                  <a:srgbClr val="00C896"/>
                </a:solidFill>
              </a:rPr>
              <a:t>GPT Actions</a:t>
            </a:r>
            <a:endParaRPr lang="en-US" sz="1500" dirty="0"/>
          </a:p>
        </p:txBody>
      </p:sp>
      <p:sp>
        <p:nvSpPr>
          <p:cNvPr id="23" name="Text 21"/>
          <p:cNvSpPr/>
          <p:nvPr/>
        </p:nvSpPr>
        <p:spPr>
          <a:xfrm>
            <a:off x="5029200" y="3063240"/>
            <a:ext cx="2286000" cy="292608"/>
          </a:xfrm>
          <a:prstGeom prst="rect">
            <a:avLst/>
          </a:prstGeom>
          <a:noFill/>
          <a:ln/>
        </p:spPr>
        <p:txBody>
          <a:bodyPr wrap="square" lIns="0" tIns="0" rIns="0" bIns="0" rtlCol="0" anchor="ctr"/>
          <a:lstStyle/>
          <a:p>
            <a:pPr marL="0" indent="0">
              <a:buNone/>
            </a:pPr>
            <a:r>
              <a:rPr lang="en-US" sz="1000" dirty="0">
                <a:solidFill>
                  <a:srgbClr val="546E7A"/>
                </a:solidFill>
              </a:rPr>
              <a:t>OpenAI</a:t>
            </a:r>
            <a:endParaRPr lang="en-US" sz="1000" dirty="0"/>
          </a:p>
        </p:txBody>
      </p:sp>
      <p:sp>
        <p:nvSpPr>
          <p:cNvPr id="24" name="Text 22"/>
          <p:cNvSpPr/>
          <p:nvPr/>
        </p:nvSpPr>
        <p:spPr>
          <a:xfrm>
            <a:off x="5029200" y="3337560"/>
            <a:ext cx="3840480" cy="347472"/>
          </a:xfrm>
          <a:prstGeom prst="rect">
            <a:avLst/>
          </a:prstGeom>
          <a:noFill/>
          <a:ln/>
        </p:spPr>
        <p:txBody>
          <a:bodyPr wrap="square" lIns="0" tIns="0" rIns="0" bIns="0" rtlCol="0" anchor="t"/>
          <a:lstStyle/>
          <a:p>
            <a:pPr marL="0" indent="0">
              <a:buNone/>
            </a:pPr>
            <a:r>
              <a:rPr lang="en-US" sz="1000" dirty="0">
                <a:solidFill>
                  <a:srgbClr val="B0BEC5"/>
                </a:solidFill>
              </a:rPr>
              <a:t>Connects ChatGPT to apps like Gmail, Slack, and databases for automated workflows.</a:t>
            </a:r>
            <a:endParaRPr lang="en-US" sz="1000" dirty="0"/>
          </a:p>
        </p:txBody>
      </p:sp>
      <p:sp>
        <p:nvSpPr>
          <p:cNvPr id="25" name="Shape 23"/>
          <p:cNvSpPr/>
          <p:nvPr/>
        </p:nvSpPr>
        <p:spPr>
          <a:xfrm>
            <a:off x="457200" y="3849624"/>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6" name="Shape 24"/>
          <p:cNvSpPr/>
          <p:nvPr/>
        </p:nvSpPr>
        <p:spPr>
          <a:xfrm>
            <a:off x="457200" y="3849624"/>
            <a:ext cx="54864" cy="1115568"/>
          </a:xfrm>
          <a:prstGeom prst="rect">
            <a:avLst/>
          </a:prstGeom>
          <a:solidFill>
            <a:srgbClr val="0096C7"/>
          </a:solidFill>
          <a:ln/>
        </p:spPr>
      </p:sp>
      <p:sp>
        <p:nvSpPr>
          <p:cNvPr id="27" name="Text 25"/>
          <p:cNvSpPr/>
          <p:nvPr/>
        </p:nvSpPr>
        <p:spPr>
          <a:xfrm>
            <a:off x="640080" y="3941064"/>
            <a:ext cx="2286000" cy="384048"/>
          </a:xfrm>
          <a:prstGeom prst="rect">
            <a:avLst/>
          </a:prstGeom>
          <a:noFill/>
          <a:ln/>
        </p:spPr>
        <p:txBody>
          <a:bodyPr wrap="square" lIns="0" tIns="0" rIns="0" bIns="0" rtlCol="0" anchor="ctr"/>
          <a:lstStyle/>
          <a:p>
            <a:pPr marL="0" indent="0">
              <a:buNone/>
            </a:pPr>
            <a:r>
              <a:rPr lang="en-US" sz="1500" b="1" dirty="0">
                <a:solidFill>
                  <a:srgbClr val="0096C7"/>
                </a:solidFill>
              </a:rPr>
              <a:t>Copilot</a:t>
            </a:r>
            <a:endParaRPr lang="en-US" sz="1500" dirty="0"/>
          </a:p>
        </p:txBody>
      </p:sp>
      <p:sp>
        <p:nvSpPr>
          <p:cNvPr id="28" name="Text 26"/>
          <p:cNvSpPr/>
          <p:nvPr/>
        </p:nvSpPr>
        <p:spPr>
          <a:xfrm>
            <a:off x="640080" y="4325112"/>
            <a:ext cx="2286000" cy="292608"/>
          </a:xfrm>
          <a:prstGeom prst="rect">
            <a:avLst/>
          </a:prstGeom>
          <a:noFill/>
          <a:ln/>
        </p:spPr>
        <p:txBody>
          <a:bodyPr wrap="square" lIns="0" tIns="0" rIns="0" bIns="0" rtlCol="0" anchor="ctr"/>
          <a:lstStyle/>
          <a:p>
            <a:pPr marL="0" indent="0">
              <a:buNone/>
            </a:pPr>
            <a:r>
              <a:rPr lang="en-US" sz="1000" dirty="0">
                <a:solidFill>
                  <a:srgbClr val="546E7A"/>
                </a:solidFill>
              </a:rPr>
              <a:t>Microsoft</a:t>
            </a:r>
            <a:endParaRPr lang="en-US" sz="1000" dirty="0"/>
          </a:p>
        </p:txBody>
      </p:sp>
      <p:sp>
        <p:nvSpPr>
          <p:cNvPr id="29" name="Text 27"/>
          <p:cNvSpPr/>
          <p:nvPr/>
        </p:nvSpPr>
        <p:spPr>
          <a:xfrm>
            <a:off x="640080" y="4599432"/>
            <a:ext cx="3840480" cy="347472"/>
          </a:xfrm>
          <a:prstGeom prst="rect">
            <a:avLst/>
          </a:prstGeom>
          <a:noFill/>
          <a:ln/>
        </p:spPr>
        <p:txBody>
          <a:bodyPr wrap="square" lIns="0" tIns="0" rIns="0" bIns="0" rtlCol="0" anchor="t"/>
          <a:lstStyle/>
          <a:p>
            <a:pPr marL="0" indent="0">
              <a:buNone/>
            </a:pPr>
            <a:r>
              <a:rPr lang="en-US" sz="1000" dirty="0">
                <a:solidFill>
                  <a:srgbClr val="B0BEC5"/>
                </a:solidFill>
              </a:rPr>
              <a:t>AI agent inside Office 365. Drafts emails, creates slides, analyses Excel data.</a:t>
            </a:r>
            <a:endParaRPr lang="en-US" sz="1000" dirty="0"/>
          </a:p>
        </p:txBody>
      </p:sp>
      <p:sp>
        <p:nvSpPr>
          <p:cNvPr id="30" name="Shape 28"/>
          <p:cNvSpPr/>
          <p:nvPr/>
        </p:nvSpPr>
        <p:spPr>
          <a:xfrm>
            <a:off x="4846320" y="3849624"/>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31" name="Shape 29"/>
          <p:cNvSpPr/>
          <p:nvPr/>
        </p:nvSpPr>
        <p:spPr>
          <a:xfrm>
            <a:off x="4846320" y="3849624"/>
            <a:ext cx="54864" cy="1115568"/>
          </a:xfrm>
          <a:prstGeom prst="rect">
            <a:avLst/>
          </a:prstGeom>
          <a:solidFill>
            <a:srgbClr val="FFD166"/>
          </a:solidFill>
          <a:ln/>
        </p:spPr>
      </p:sp>
      <p:sp>
        <p:nvSpPr>
          <p:cNvPr id="32" name="Text 30"/>
          <p:cNvSpPr/>
          <p:nvPr/>
        </p:nvSpPr>
        <p:spPr>
          <a:xfrm>
            <a:off x="5029200" y="3941064"/>
            <a:ext cx="2286000" cy="384048"/>
          </a:xfrm>
          <a:prstGeom prst="rect">
            <a:avLst/>
          </a:prstGeom>
          <a:noFill/>
          <a:ln/>
        </p:spPr>
        <p:txBody>
          <a:bodyPr wrap="square" lIns="0" tIns="0" rIns="0" bIns="0" rtlCol="0" anchor="ctr"/>
          <a:lstStyle/>
          <a:p>
            <a:pPr marL="0" indent="0">
              <a:buNone/>
            </a:pPr>
            <a:r>
              <a:rPr lang="en-US" sz="1500" b="1" dirty="0">
                <a:solidFill>
                  <a:srgbClr val="FFD166"/>
                </a:solidFill>
              </a:rPr>
              <a:t>AgentGPT</a:t>
            </a:r>
            <a:endParaRPr lang="en-US" sz="1500" dirty="0"/>
          </a:p>
        </p:txBody>
      </p:sp>
      <p:sp>
        <p:nvSpPr>
          <p:cNvPr id="33" name="Text 31"/>
          <p:cNvSpPr/>
          <p:nvPr/>
        </p:nvSpPr>
        <p:spPr>
          <a:xfrm>
            <a:off x="5029200" y="4325112"/>
            <a:ext cx="2286000" cy="292608"/>
          </a:xfrm>
          <a:prstGeom prst="rect">
            <a:avLst/>
          </a:prstGeom>
          <a:noFill/>
          <a:ln/>
        </p:spPr>
        <p:txBody>
          <a:bodyPr wrap="square" lIns="0" tIns="0" rIns="0" bIns="0" rtlCol="0" anchor="ctr"/>
          <a:lstStyle/>
          <a:p>
            <a:pPr marL="0" indent="0">
              <a:buNone/>
            </a:pPr>
            <a:r>
              <a:rPr lang="en-US" sz="1000" dirty="0">
                <a:solidFill>
                  <a:srgbClr val="546E7A"/>
                </a:solidFill>
              </a:rPr>
              <a:t>Open Source</a:t>
            </a:r>
            <a:endParaRPr lang="en-US" sz="1000" dirty="0"/>
          </a:p>
        </p:txBody>
      </p:sp>
      <p:sp>
        <p:nvSpPr>
          <p:cNvPr id="34" name="Text 32"/>
          <p:cNvSpPr/>
          <p:nvPr/>
        </p:nvSpPr>
        <p:spPr>
          <a:xfrm>
            <a:off x="5029200" y="4599432"/>
            <a:ext cx="3840480" cy="347472"/>
          </a:xfrm>
          <a:prstGeom prst="rect">
            <a:avLst/>
          </a:prstGeom>
          <a:noFill/>
          <a:ln/>
        </p:spPr>
        <p:txBody>
          <a:bodyPr wrap="square" lIns="0" tIns="0" rIns="0" bIns="0" rtlCol="0" anchor="t"/>
          <a:lstStyle/>
          <a:p>
            <a:pPr marL="0" indent="0">
              <a:buNone/>
            </a:pPr>
            <a:r>
              <a:rPr lang="en-US" sz="1000" dirty="0">
                <a:solidFill>
                  <a:srgbClr val="B0BEC5"/>
                </a:solidFill>
              </a:rPr>
              <a:t>Browser-based agent that autonomously researches, writes, and delivers results.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96C7"/>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ADVANCED</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Multi-Agent Systems: Teamwork!</a:t>
            </a:r>
            <a:endParaRPr lang="en-US" sz="3200" dirty="0"/>
          </a:p>
        </p:txBody>
      </p:sp>
      <p:sp>
        <p:nvSpPr>
          <p:cNvPr id="5" name="Text 3"/>
          <p:cNvSpPr/>
          <p:nvPr/>
        </p:nvSpPr>
        <p:spPr>
          <a:xfrm>
            <a:off x="457200" y="1261872"/>
            <a:ext cx="8229600" cy="365760"/>
          </a:xfrm>
          <a:prstGeom prst="rect">
            <a:avLst/>
          </a:prstGeom>
          <a:noFill/>
          <a:ln/>
        </p:spPr>
        <p:txBody>
          <a:bodyPr wrap="square" rtlCol="0" anchor="ctr"/>
          <a:lstStyle/>
          <a:p>
            <a:pPr marL="0" indent="0">
              <a:buNone/>
            </a:pPr>
            <a:r>
              <a:rPr lang="en-US" sz="1400" dirty="0">
                <a:solidFill>
                  <a:srgbClr val="B0BEC5"/>
                </a:solidFill>
                <a:latin typeface="Calibri" pitchFamily="34" charset="0"/>
                <a:ea typeface="Calibri" pitchFamily="34" charset="-122"/>
                <a:cs typeface="Calibri" pitchFamily="34" charset="-120"/>
              </a:rPr>
              <a:t>Multiple AI Agents collaborate — each specialising in one job, together solving complex problems.</a:t>
            </a:r>
            <a:endParaRPr lang="en-US" sz="1400" dirty="0"/>
          </a:p>
        </p:txBody>
      </p:sp>
      <p:sp>
        <p:nvSpPr>
          <p:cNvPr id="6" name="Shape 4"/>
          <p:cNvSpPr/>
          <p:nvPr/>
        </p:nvSpPr>
        <p:spPr>
          <a:xfrm>
            <a:off x="3474720" y="1737360"/>
            <a:ext cx="2103120" cy="2103120"/>
          </a:xfrm>
          <a:prstGeom prst="ellipse">
            <a:avLst/>
          </a:prstGeom>
          <a:solidFill>
            <a:srgbClr val="1565C0">
              <a:alpha val="22000"/>
            </a:srgbClr>
          </a:solidFill>
          <a:ln/>
        </p:spPr>
      </p:sp>
      <p:pic>
        <p:nvPicPr>
          <p:cNvPr id="7" name="Image 0" descr="preencoded.png"/>
          <p:cNvPicPr>
            <a:picLocks noChangeAspect="1"/>
          </p:cNvPicPr>
          <p:nvPr/>
        </p:nvPicPr>
        <p:blipFill>
          <a:blip r:embed="rId3"/>
          <a:stretch>
            <a:fillRect/>
          </a:stretch>
        </p:blipFill>
        <p:spPr>
          <a:xfrm>
            <a:off x="3886200" y="1938528"/>
            <a:ext cx="1280160" cy="1280160"/>
          </a:xfrm>
          <a:prstGeom prst="rect">
            <a:avLst/>
          </a:prstGeom>
        </p:spPr>
      </p:pic>
      <p:sp>
        <p:nvSpPr>
          <p:cNvPr id="8" name="Text 5"/>
          <p:cNvSpPr/>
          <p:nvPr/>
        </p:nvSpPr>
        <p:spPr>
          <a:xfrm>
            <a:off x="3474720" y="3337560"/>
            <a:ext cx="2103120" cy="475488"/>
          </a:xfrm>
          <a:prstGeom prst="rect">
            <a:avLst/>
          </a:prstGeom>
          <a:noFill/>
          <a:ln/>
        </p:spPr>
        <p:txBody>
          <a:bodyPr wrap="square" rtlCol="0" anchor="ctr"/>
          <a:lstStyle/>
          <a:p>
            <a:pPr marL="0" indent="0" algn="ctr">
              <a:buNone/>
            </a:pPr>
            <a:r>
              <a:rPr lang="en-US" sz="1100" b="1" kern="0" spc="100" dirty="0">
                <a:solidFill>
                  <a:srgbClr val="00B4D8"/>
                </a:solidFill>
              </a:rPr>
              <a:t>MANAGER</a:t>
            </a:r>
            <a:endParaRPr lang="en-US" sz="1100" dirty="0"/>
          </a:p>
          <a:p>
            <a:pPr marL="0" indent="0" algn="ctr">
              <a:buNone/>
            </a:pPr>
            <a:r>
              <a:rPr lang="en-US" sz="1100" b="1" kern="0" spc="100" dirty="0">
                <a:solidFill>
                  <a:srgbClr val="00B4D8"/>
                </a:solidFill>
              </a:rPr>
              <a:t>AGENT</a:t>
            </a:r>
            <a:endParaRPr lang="en-US" sz="1100" dirty="0"/>
          </a:p>
        </p:txBody>
      </p:sp>
      <p:sp>
        <p:nvSpPr>
          <p:cNvPr id="9" name="Shape 6"/>
          <p:cNvSpPr/>
          <p:nvPr/>
        </p:nvSpPr>
        <p:spPr>
          <a:xfrm>
            <a:off x="365760" y="1645920"/>
            <a:ext cx="1828800" cy="6858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0" name="Shape 7"/>
          <p:cNvSpPr/>
          <p:nvPr/>
        </p:nvSpPr>
        <p:spPr>
          <a:xfrm>
            <a:off x="365760" y="1645920"/>
            <a:ext cx="1828800" cy="36576"/>
          </a:xfrm>
          <a:prstGeom prst="rect">
            <a:avLst/>
          </a:prstGeom>
          <a:solidFill>
            <a:srgbClr val="00B4D8"/>
          </a:solidFill>
          <a:ln/>
        </p:spPr>
      </p:sp>
      <p:sp>
        <p:nvSpPr>
          <p:cNvPr id="11" name="Text 8"/>
          <p:cNvSpPr/>
          <p:nvPr/>
        </p:nvSpPr>
        <p:spPr>
          <a:xfrm>
            <a:off x="457200" y="1645920"/>
            <a:ext cx="1645920" cy="685800"/>
          </a:xfrm>
          <a:prstGeom prst="rect">
            <a:avLst/>
          </a:prstGeom>
          <a:noFill/>
          <a:ln/>
        </p:spPr>
        <p:txBody>
          <a:bodyPr wrap="square" lIns="0" tIns="0" rIns="0" bIns="0" rtlCol="0" anchor="ctr"/>
          <a:lstStyle/>
          <a:p>
            <a:pPr marL="0" indent="0">
              <a:buNone/>
            </a:pPr>
            <a:r>
              <a:rPr lang="en-US" sz="1200" b="1" dirty="0">
                <a:solidFill>
                  <a:srgbClr val="00B4D8"/>
                </a:solidFill>
              </a:rPr>
              <a:t>Research Agent</a:t>
            </a:r>
            <a:endParaRPr lang="en-US" sz="1200" dirty="0"/>
          </a:p>
        </p:txBody>
      </p:sp>
      <p:sp>
        <p:nvSpPr>
          <p:cNvPr id="12" name="Shape 9"/>
          <p:cNvSpPr/>
          <p:nvPr/>
        </p:nvSpPr>
        <p:spPr>
          <a:xfrm>
            <a:off x="2139696" y="1933956"/>
            <a:ext cx="109728" cy="109728"/>
          </a:xfrm>
          <a:prstGeom prst="ellipse">
            <a:avLst/>
          </a:prstGeom>
          <a:solidFill>
            <a:srgbClr val="00B4D8"/>
          </a:solidFill>
          <a:ln/>
        </p:spPr>
      </p:sp>
      <p:sp>
        <p:nvSpPr>
          <p:cNvPr id="13" name="Shape 10"/>
          <p:cNvSpPr/>
          <p:nvPr/>
        </p:nvSpPr>
        <p:spPr>
          <a:xfrm>
            <a:off x="365760" y="3200400"/>
            <a:ext cx="1828800" cy="6858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4" name="Shape 11"/>
          <p:cNvSpPr/>
          <p:nvPr/>
        </p:nvSpPr>
        <p:spPr>
          <a:xfrm>
            <a:off x="365760" y="3200400"/>
            <a:ext cx="1828800" cy="36576"/>
          </a:xfrm>
          <a:prstGeom prst="rect">
            <a:avLst/>
          </a:prstGeom>
          <a:solidFill>
            <a:srgbClr val="7C3AED"/>
          </a:solidFill>
          <a:ln/>
        </p:spPr>
      </p:sp>
      <p:sp>
        <p:nvSpPr>
          <p:cNvPr id="15" name="Text 12"/>
          <p:cNvSpPr/>
          <p:nvPr/>
        </p:nvSpPr>
        <p:spPr>
          <a:xfrm>
            <a:off x="457200" y="3200400"/>
            <a:ext cx="1645920" cy="685800"/>
          </a:xfrm>
          <a:prstGeom prst="rect">
            <a:avLst/>
          </a:prstGeom>
          <a:noFill/>
          <a:ln/>
        </p:spPr>
        <p:txBody>
          <a:bodyPr wrap="square" lIns="0" tIns="0" rIns="0" bIns="0" rtlCol="0" anchor="ctr"/>
          <a:lstStyle/>
          <a:p>
            <a:pPr marL="0" indent="0">
              <a:buNone/>
            </a:pPr>
            <a:r>
              <a:rPr lang="en-US" sz="1200" b="1" dirty="0">
                <a:solidFill>
                  <a:srgbClr val="7C3AED"/>
                </a:solidFill>
              </a:rPr>
              <a:t>Writing Agent</a:t>
            </a:r>
            <a:endParaRPr lang="en-US" sz="1200" dirty="0"/>
          </a:p>
        </p:txBody>
      </p:sp>
      <p:sp>
        <p:nvSpPr>
          <p:cNvPr id="16" name="Shape 13"/>
          <p:cNvSpPr/>
          <p:nvPr/>
        </p:nvSpPr>
        <p:spPr>
          <a:xfrm>
            <a:off x="2139696" y="3488436"/>
            <a:ext cx="109728" cy="109728"/>
          </a:xfrm>
          <a:prstGeom prst="ellipse">
            <a:avLst/>
          </a:prstGeom>
          <a:solidFill>
            <a:srgbClr val="7C3AED"/>
          </a:solidFill>
          <a:ln/>
        </p:spPr>
      </p:sp>
      <p:sp>
        <p:nvSpPr>
          <p:cNvPr id="17" name="Shape 14"/>
          <p:cNvSpPr/>
          <p:nvPr/>
        </p:nvSpPr>
        <p:spPr>
          <a:xfrm>
            <a:off x="7132320" y="1645920"/>
            <a:ext cx="1828800" cy="6858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8" name="Shape 15"/>
          <p:cNvSpPr/>
          <p:nvPr/>
        </p:nvSpPr>
        <p:spPr>
          <a:xfrm>
            <a:off x="7132320" y="1645920"/>
            <a:ext cx="1828800" cy="36576"/>
          </a:xfrm>
          <a:prstGeom prst="rect">
            <a:avLst/>
          </a:prstGeom>
          <a:solidFill>
            <a:srgbClr val="00C896"/>
          </a:solidFill>
          <a:ln/>
        </p:spPr>
      </p:sp>
      <p:sp>
        <p:nvSpPr>
          <p:cNvPr id="19" name="Text 16"/>
          <p:cNvSpPr/>
          <p:nvPr/>
        </p:nvSpPr>
        <p:spPr>
          <a:xfrm>
            <a:off x="7223760" y="1645920"/>
            <a:ext cx="1645920" cy="685800"/>
          </a:xfrm>
          <a:prstGeom prst="rect">
            <a:avLst/>
          </a:prstGeom>
          <a:noFill/>
          <a:ln/>
        </p:spPr>
        <p:txBody>
          <a:bodyPr wrap="square" lIns="0" tIns="0" rIns="0" bIns="0" rtlCol="0" anchor="ctr"/>
          <a:lstStyle/>
          <a:p>
            <a:pPr marL="0" indent="0">
              <a:buNone/>
            </a:pPr>
            <a:r>
              <a:rPr lang="en-US" sz="1200" b="1" dirty="0">
                <a:solidFill>
                  <a:srgbClr val="00C896"/>
                </a:solidFill>
              </a:rPr>
              <a:t>Coder Agent</a:t>
            </a:r>
            <a:endParaRPr lang="en-US" sz="1200" dirty="0"/>
          </a:p>
        </p:txBody>
      </p:sp>
      <p:sp>
        <p:nvSpPr>
          <p:cNvPr id="20" name="Shape 17"/>
          <p:cNvSpPr/>
          <p:nvPr/>
        </p:nvSpPr>
        <p:spPr>
          <a:xfrm>
            <a:off x="7077456" y="1933956"/>
            <a:ext cx="109728" cy="109728"/>
          </a:xfrm>
          <a:prstGeom prst="ellipse">
            <a:avLst/>
          </a:prstGeom>
          <a:solidFill>
            <a:srgbClr val="00C896"/>
          </a:solidFill>
          <a:ln/>
        </p:spPr>
      </p:sp>
      <p:sp>
        <p:nvSpPr>
          <p:cNvPr id="21" name="Shape 18"/>
          <p:cNvSpPr/>
          <p:nvPr/>
        </p:nvSpPr>
        <p:spPr>
          <a:xfrm>
            <a:off x="7132320" y="3200400"/>
            <a:ext cx="1828800" cy="6858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2" name="Shape 19"/>
          <p:cNvSpPr/>
          <p:nvPr/>
        </p:nvSpPr>
        <p:spPr>
          <a:xfrm>
            <a:off x="7132320" y="3200400"/>
            <a:ext cx="1828800" cy="36576"/>
          </a:xfrm>
          <a:prstGeom prst="rect">
            <a:avLst/>
          </a:prstGeom>
          <a:solidFill>
            <a:srgbClr val="FF6B35"/>
          </a:solidFill>
          <a:ln/>
        </p:spPr>
      </p:sp>
      <p:sp>
        <p:nvSpPr>
          <p:cNvPr id="23" name="Text 20"/>
          <p:cNvSpPr/>
          <p:nvPr/>
        </p:nvSpPr>
        <p:spPr>
          <a:xfrm>
            <a:off x="7223760" y="3200400"/>
            <a:ext cx="1645920" cy="685800"/>
          </a:xfrm>
          <a:prstGeom prst="rect">
            <a:avLst/>
          </a:prstGeom>
          <a:noFill/>
          <a:ln/>
        </p:spPr>
        <p:txBody>
          <a:bodyPr wrap="square" lIns="0" tIns="0" rIns="0" bIns="0" rtlCol="0" anchor="ctr"/>
          <a:lstStyle/>
          <a:p>
            <a:pPr marL="0" indent="0">
              <a:buNone/>
            </a:pPr>
            <a:r>
              <a:rPr lang="en-US" sz="1200" b="1" dirty="0">
                <a:solidFill>
                  <a:srgbClr val="FF6B35"/>
                </a:solidFill>
              </a:rPr>
              <a:t>Email Agent</a:t>
            </a:r>
            <a:endParaRPr lang="en-US" sz="1200" dirty="0"/>
          </a:p>
        </p:txBody>
      </p:sp>
      <p:sp>
        <p:nvSpPr>
          <p:cNvPr id="24" name="Shape 21"/>
          <p:cNvSpPr/>
          <p:nvPr/>
        </p:nvSpPr>
        <p:spPr>
          <a:xfrm>
            <a:off x="7077456" y="3488436"/>
            <a:ext cx="109728" cy="109728"/>
          </a:xfrm>
          <a:prstGeom prst="ellipse">
            <a:avLst/>
          </a:prstGeom>
          <a:solidFill>
            <a:srgbClr val="FF6B35"/>
          </a:solidFill>
          <a:ln/>
        </p:spPr>
      </p:sp>
      <p:sp>
        <p:nvSpPr>
          <p:cNvPr id="25" name="Shape 22"/>
          <p:cNvSpPr/>
          <p:nvPr/>
        </p:nvSpPr>
        <p:spPr>
          <a:xfrm>
            <a:off x="457200" y="4389120"/>
            <a:ext cx="8229600" cy="594360"/>
          </a:xfrm>
          <a:prstGeom prst="rect">
            <a:avLst/>
          </a:prstGeom>
          <a:solidFill>
            <a:srgbClr val="1A3A6B"/>
          </a:solidFill>
          <a:ln w="6350">
            <a:solidFill>
              <a:srgbClr val="1565C0"/>
            </a:solidFill>
            <a:prstDash val="solid"/>
          </a:ln>
          <a:effectLst>
            <a:outerShdw blurRad="152400" dist="50800" dir="8100000" algn="bl" rotWithShape="0">
              <a:srgbClr val="000000">
                <a:alpha val="35000"/>
              </a:srgbClr>
            </a:outerShdw>
          </a:effectLst>
        </p:spPr>
      </p:sp>
      <p:sp>
        <p:nvSpPr>
          <p:cNvPr id="26" name="Text 23"/>
          <p:cNvSpPr/>
          <p:nvPr/>
        </p:nvSpPr>
        <p:spPr>
          <a:xfrm>
            <a:off x="640080" y="4434840"/>
            <a:ext cx="7863840" cy="5029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  Example: A 'marketing campaign' task → Manager delegates research to Research Agent, writing to Writing Agent, and delivery to Email Agent — all running in parallel!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BENEFITS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Why AI Agents Are Powerful</a:t>
            </a:r>
            <a:endParaRPr lang="en-US" sz="3200" dirty="0"/>
          </a:p>
        </p:txBody>
      </p:sp>
      <p:sp>
        <p:nvSpPr>
          <p:cNvPr id="5" name="Shape 3"/>
          <p:cNvSpPr/>
          <p:nvPr/>
        </p:nvSpPr>
        <p:spPr>
          <a:xfrm>
            <a:off x="365760" y="132588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6" name="Image 0" descr="preencoded.png"/>
          <p:cNvPicPr>
            <a:picLocks noChangeAspect="1"/>
          </p:cNvPicPr>
          <p:nvPr/>
        </p:nvPicPr>
        <p:blipFill>
          <a:blip r:embed="rId3"/>
          <a:stretch>
            <a:fillRect/>
          </a:stretch>
        </p:blipFill>
        <p:spPr>
          <a:xfrm>
            <a:off x="502920" y="1463040"/>
            <a:ext cx="502920" cy="502920"/>
          </a:xfrm>
          <a:prstGeom prst="rect">
            <a:avLst/>
          </a:prstGeom>
        </p:spPr>
      </p:pic>
      <p:sp>
        <p:nvSpPr>
          <p:cNvPr id="7" name="Text 4"/>
          <p:cNvSpPr/>
          <p:nvPr/>
        </p:nvSpPr>
        <p:spPr>
          <a:xfrm>
            <a:off x="1078992" y="1399032"/>
            <a:ext cx="914400" cy="502920"/>
          </a:xfrm>
          <a:prstGeom prst="rect">
            <a:avLst/>
          </a:prstGeom>
          <a:noFill/>
          <a:ln/>
        </p:spPr>
        <p:txBody>
          <a:bodyPr wrap="square" lIns="0" tIns="0" rIns="0" bIns="0" rtlCol="0" anchor="ctr"/>
          <a:lstStyle/>
          <a:p>
            <a:pPr marL="0" indent="0">
              <a:buNone/>
            </a:pPr>
            <a:r>
              <a:rPr lang="en-US" sz="2200" b="1" dirty="0">
                <a:solidFill>
                  <a:srgbClr val="00B4D8"/>
                </a:solidFill>
              </a:rPr>
              <a:t>100x</a:t>
            </a:r>
            <a:endParaRPr lang="en-US" sz="2200" dirty="0"/>
          </a:p>
        </p:txBody>
      </p:sp>
      <p:sp>
        <p:nvSpPr>
          <p:cNvPr id="8" name="Text 5"/>
          <p:cNvSpPr/>
          <p:nvPr/>
        </p:nvSpPr>
        <p:spPr>
          <a:xfrm>
            <a:off x="1993392" y="1527048"/>
            <a:ext cx="1005840" cy="274320"/>
          </a:xfrm>
          <a:prstGeom prst="rect">
            <a:avLst/>
          </a:prstGeom>
          <a:noFill/>
          <a:ln/>
        </p:spPr>
        <p:txBody>
          <a:bodyPr wrap="square" lIns="0" tIns="0" rIns="0" bIns="0" rtlCol="0" anchor="ctr"/>
          <a:lstStyle/>
          <a:p>
            <a:pPr marL="0" indent="0">
              <a:buNone/>
            </a:pPr>
            <a:r>
              <a:rPr lang="en-US" sz="1000" dirty="0">
                <a:solidFill>
                  <a:srgbClr val="546E7A"/>
                </a:solidFill>
              </a:rPr>
              <a:t>faster</a:t>
            </a:r>
            <a:endParaRPr lang="en-US" sz="1000" dirty="0"/>
          </a:p>
        </p:txBody>
      </p:sp>
      <p:sp>
        <p:nvSpPr>
          <p:cNvPr id="9" name="Text 6"/>
          <p:cNvSpPr/>
          <p:nvPr/>
        </p:nvSpPr>
        <p:spPr>
          <a:xfrm>
            <a:off x="502920" y="2011680"/>
            <a:ext cx="2514600" cy="347472"/>
          </a:xfrm>
          <a:prstGeom prst="rect">
            <a:avLst/>
          </a:prstGeom>
          <a:noFill/>
          <a:ln/>
        </p:spPr>
        <p:txBody>
          <a:bodyPr wrap="square" lIns="0" tIns="0" rIns="0" bIns="0" rtlCol="0" anchor="ctr"/>
          <a:lstStyle/>
          <a:p>
            <a:pPr marL="0" indent="0">
              <a:buNone/>
            </a:pPr>
            <a:r>
              <a:rPr lang="en-US" sz="1300" b="1" dirty="0">
                <a:solidFill>
                  <a:srgbClr val="00B4D8"/>
                </a:solidFill>
              </a:rPr>
              <a:t>Speed</a:t>
            </a:r>
            <a:endParaRPr lang="en-US" sz="1300" dirty="0"/>
          </a:p>
        </p:txBody>
      </p:sp>
      <p:sp>
        <p:nvSpPr>
          <p:cNvPr id="10" name="Text 7"/>
          <p:cNvSpPr/>
          <p:nvPr/>
        </p:nvSpPr>
        <p:spPr>
          <a:xfrm>
            <a:off x="502920" y="2331720"/>
            <a:ext cx="2514600" cy="530352"/>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Complete in seconds what takes humans hours.</a:t>
            </a:r>
            <a:endParaRPr lang="en-US" sz="1100" dirty="0"/>
          </a:p>
        </p:txBody>
      </p:sp>
      <p:sp>
        <p:nvSpPr>
          <p:cNvPr id="11" name="Shape 8"/>
          <p:cNvSpPr/>
          <p:nvPr/>
        </p:nvSpPr>
        <p:spPr>
          <a:xfrm>
            <a:off x="3291840" y="132588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12" name="Image 1" descr="preencoded.png"/>
          <p:cNvPicPr>
            <a:picLocks noChangeAspect="1"/>
          </p:cNvPicPr>
          <p:nvPr/>
        </p:nvPicPr>
        <p:blipFill>
          <a:blip r:embed="rId4"/>
          <a:stretch>
            <a:fillRect/>
          </a:stretch>
        </p:blipFill>
        <p:spPr>
          <a:xfrm>
            <a:off x="3429000" y="1463040"/>
            <a:ext cx="502920" cy="502920"/>
          </a:xfrm>
          <a:prstGeom prst="rect">
            <a:avLst/>
          </a:prstGeom>
        </p:spPr>
      </p:pic>
      <p:sp>
        <p:nvSpPr>
          <p:cNvPr id="13" name="Text 9"/>
          <p:cNvSpPr/>
          <p:nvPr/>
        </p:nvSpPr>
        <p:spPr>
          <a:xfrm>
            <a:off x="4005072" y="1399032"/>
            <a:ext cx="914400" cy="502920"/>
          </a:xfrm>
          <a:prstGeom prst="rect">
            <a:avLst/>
          </a:prstGeom>
          <a:noFill/>
          <a:ln/>
        </p:spPr>
        <p:txBody>
          <a:bodyPr wrap="square" lIns="0" tIns="0" rIns="0" bIns="0" rtlCol="0" anchor="ctr"/>
          <a:lstStyle/>
          <a:p>
            <a:pPr marL="0" indent="0">
              <a:buNone/>
            </a:pPr>
            <a:r>
              <a:rPr lang="en-US" sz="2200" b="1" dirty="0">
                <a:solidFill>
                  <a:srgbClr val="00C896"/>
                </a:solidFill>
              </a:rPr>
              <a:t>99.9%</a:t>
            </a:r>
            <a:endParaRPr lang="en-US" sz="2200" dirty="0"/>
          </a:p>
        </p:txBody>
      </p:sp>
      <p:sp>
        <p:nvSpPr>
          <p:cNvPr id="14" name="Text 10"/>
          <p:cNvSpPr/>
          <p:nvPr/>
        </p:nvSpPr>
        <p:spPr>
          <a:xfrm>
            <a:off x="4919472" y="1527048"/>
            <a:ext cx="1005840" cy="274320"/>
          </a:xfrm>
          <a:prstGeom prst="rect">
            <a:avLst/>
          </a:prstGeom>
          <a:noFill/>
          <a:ln/>
        </p:spPr>
        <p:txBody>
          <a:bodyPr wrap="square" lIns="0" tIns="0" rIns="0" bIns="0" rtlCol="0" anchor="ctr"/>
          <a:lstStyle/>
          <a:p>
            <a:pPr marL="0" indent="0">
              <a:buNone/>
            </a:pPr>
            <a:r>
              <a:rPr lang="en-US" sz="1000" dirty="0">
                <a:solidFill>
                  <a:srgbClr val="546E7A"/>
                </a:solidFill>
              </a:rPr>
              <a:t>accuracy</a:t>
            </a:r>
            <a:endParaRPr lang="en-US" sz="1000" dirty="0"/>
          </a:p>
        </p:txBody>
      </p:sp>
      <p:sp>
        <p:nvSpPr>
          <p:cNvPr id="15" name="Text 11"/>
          <p:cNvSpPr/>
          <p:nvPr/>
        </p:nvSpPr>
        <p:spPr>
          <a:xfrm>
            <a:off x="3429000" y="2011680"/>
            <a:ext cx="2514600" cy="347472"/>
          </a:xfrm>
          <a:prstGeom prst="rect">
            <a:avLst/>
          </a:prstGeom>
          <a:noFill/>
          <a:ln/>
        </p:spPr>
        <p:txBody>
          <a:bodyPr wrap="square" lIns="0" tIns="0" rIns="0" bIns="0" rtlCol="0" anchor="ctr"/>
          <a:lstStyle/>
          <a:p>
            <a:pPr marL="0" indent="0">
              <a:buNone/>
            </a:pPr>
            <a:r>
              <a:rPr lang="en-US" sz="1300" b="1" dirty="0">
                <a:solidFill>
                  <a:srgbClr val="00C896"/>
                </a:solidFill>
              </a:rPr>
              <a:t>Accuracy</a:t>
            </a:r>
            <a:endParaRPr lang="en-US" sz="1300" dirty="0"/>
          </a:p>
        </p:txBody>
      </p:sp>
      <p:sp>
        <p:nvSpPr>
          <p:cNvPr id="16" name="Text 12"/>
          <p:cNvSpPr/>
          <p:nvPr/>
        </p:nvSpPr>
        <p:spPr>
          <a:xfrm>
            <a:off x="3429000" y="2331720"/>
            <a:ext cx="2514600" cy="530352"/>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No tired mistakes. Consistent, high-quality output.</a:t>
            </a:r>
            <a:endParaRPr lang="en-US" sz="1100" dirty="0"/>
          </a:p>
        </p:txBody>
      </p:sp>
      <p:sp>
        <p:nvSpPr>
          <p:cNvPr id="17" name="Shape 13"/>
          <p:cNvSpPr/>
          <p:nvPr/>
        </p:nvSpPr>
        <p:spPr>
          <a:xfrm>
            <a:off x="6217920" y="132588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18" name="Image 2" descr="preencoded.png"/>
          <p:cNvPicPr>
            <a:picLocks noChangeAspect="1"/>
          </p:cNvPicPr>
          <p:nvPr/>
        </p:nvPicPr>
        <p:blipFill>
          <a:blip r:embed="rId5"/>
          <a:stretch>
            <a:fillRect/>
          </a:stretch>
        </p:blipFill>
        <p:spPr>
          <a:xfrm>
            <a:off x="6355080" y="1463040"/>
            <a:ext cx="502920" cy="502920"/>
          </a:xfrm>
          <a:prstGeom prst="rect">
            <a:avLst/>
          </a:prstGeom>
        </p:spPr>
      </p:pic>
      <p:sp>
        <p:nvSpPr>
          <p:cNvPr id="19" name="Text 14"/>
          <p:cNvSpPr/>
          <p:nvPr/>
        </p:nvSpPr>
        <p:spPr>
          <a:xfrm>
            <a:off x="6931152" y="1399032"/>
            <a:ext cx="914400" cy="502920"/>
          </a:xfrm>
          <a:prstGeom prst="rect">
            <a:avLst/>
          </a:prstGeom>
          <a:noFill/>
          <a:ln/>
        </p:spPr>
        <p:txBody>
          <a:bodyPr wrap="square" lIns="0" tIns="0" rIns="0" bIns="0" rtlCol="0" anchor="ctr"/>
          <a:lstStyle/>
          <a:p>
            <a:pPr marL="0" indent="0">
              <a:buNone/>
            </a:pPr>
            <a:r>
              <a:rPr lang="en-US" sz="2200" b="1" dirty="0">
                <a:solidFill>
                  <a:srgbClr val="7C3AED"/>
                </a:solidFill>
              </a:rPr>
              <a:t>∞</a:t>
            </a:r>
            <a:endParaRPr lang="en-US" sz="2200" dirty="0"/>
          </a:p>
        </p:txBody>
      </p:sp>
      <p:sp>
        <p:nvSpPr>
          <p:cNvPr id="20" name="Text 15"/>
          <p:cNvSpPr/>
          <p:nvPr/>
        </p:nvSpPr>
        <p:spPr>
          <a:xfrm>
            <a:off x="7845552" y="1527048"/>
            <a:ext cx="1005840" cy="274320"/>
          </a:xfrm>
          <a:prstGeom prst="rect">
            <a:avLst/>
          </a:prstGeom>
          <a:noFill/>
          <a:ln/>
        </p:spPr>
        <p:txBody>
          <a:bodyPr wrap="square" lIns="0" tIns="0" rIns="0" bIns="0" rtlCol="0" anchor="ctr"/>
          <a:lstStyle/>
          <a:p>
            <a:pPr marL="0" indent="0">
              <a:buNone/>
            </a:pPr>
            <a:r>
              <a:rPr lang="en-US" sz="1000" dirty="0">
                <a:solidFill>
                  <a:srgbClr val="546E7A"/>
                </a:solidFill>
              </a:rPr>
              <a:t>scale</a:t>
            </a:r>
            <a:endParaRPr lang="en-US" sz="1000" dirty="0"/>
          </a:p>
        </p:txBody>
      </p:sp>
      <p:sp>
        <p:nvSpPr>
          <p:cNvPr id="21" name="Text 16"/>
          <p:cNvSpPr/>
          <p:nvPr/>
        </p:nvSpPr>
        <p:spPr>
          <a:xfrm>
            <a:off x="6355080" y="2011680"/>
            <a:ext cx="2514600" cy="347472"/>
          </a:xfrm>
          <a:prstGeom prst="rect">
            <a:avLst/>
          </a:prstGeom>
          <a:noFill/>
          <a:ln/>
        </p:spPr>
        <p:txBody>
          <a:bodyPr wrap="square" lIns="0" tIns="0" rIns="0" bIns="0" rtlCol="0" anchor="ctr"/>
          <a:lstStyle/>
          <a:p>
            <a:pPr marL="0" indent="0">
              <a:buNone/>
            </a:pPr>
            <a:r>
              <a:rPr lang="en-US" sz="1300" b="1" dirty="0">
                <a:solidFill>
                  <a:srgbClr val="7C3AED"/>
                </a:solidFill>
              </a:rPr>
              <a:t>Scalability</a:t>
            </a:r>
            <a:endParaRPr lang="en-US" sz="1300" dirty="0"/>
          </a:p>
        </p:txBody>
      </p:sp>
      <p:sp>
        <p:nvSpPr>
          <p:cNvPr id="22" name="Text 17"/>
          <p:cNvSpPr/>
          <p:nvPr/>
        </p:nvSpPr>
        <p:spPr>
          <a:xfrm>
            <a:off x="6355080" y="2331720"/>
            <a:ext cx="2514600" cy="530352"/>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One agent can handle 1,000 tasks simultaneously.</a:t>
            </a:r>
            <a:endParaRPr lang="en-US" sz="1100" dirty="0"/>
          </a:p>
        </p:txBody>
      </p:sp>
      <p:sp>
        <p:nvSpPr>
          <p:cNvPr id="23" name="Shape 18"/>
          <p:cNvSpPr/>
          <p:nvPr/>
        </p:nvSpPr>
        <p:spPr>
          <a:xfrm>
            <a:off x="365760" y="310896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24" name="Image 3" descr="preencoded.png"/>
          <p:cNvPicPr>
            <a:picLocks noChangeAspect="1"/>
          </p:cNvPicPr>
          <p:nvPr/>
        </p:nvPicPr>
        <p:blipFill>
          <a:blip r:embed="rId6"/>
          <a:stretch>
            <a:fillRect/>
          </a:stretch>
        </p:blipFill>
        <p:spPr>
          <a:xfrm>
            <a:off x="502920" y="3246120"/>
            <a:ext cx="502920" cy="502920"/>
          </a:xfrm>
          <a:prstGeom prst="rect">
            <a:avLst/>
          </a:prstGeom>
        </p:spPr>
      </p:pic>
      <p:sp>
        <p:nvSpPr>
          <p:cNvPr id="25" name="Text 19"/>
          <p:cNvSpPr/>
          <p:nvPr/>
        </p:nvSpPr>
        <p:spPr>
          <a:xfrm>
            <a:off x="1078992" y="3182112"/>
            <a:ext cx="914400" cy="502920"/>
          </a:xfrm>
          <a:prstGeom prst="rect">
            <a:avLst/>
          </a:prstGeom>
          <a:noFill/>
          <a:ln/>
        </p:spPr>
        <p:txBody>
          <a:bodyPr wrap="square" lIns="0" tIns="0" rIns="0" bIns="0" rtlCol="0" anchor="ctr"/>
          <a:lstStyle/>
          <a:p>
            <a:pPr marL="0" indent="0">
              <a:buNone/>
            </a:pPr>
            <a:r>
              <a:rPr lang="en-US" sz="2200" b="1" dirty="0">
                <a:solidFill>
                  <a:srgbClr val="FFD166"/>
                </a:solidFill>
              </a:rPr>
              <a:t>60%</a:t>
            </a:r>
            <a:endParaRPr lang="en-US" sz="2200" dirty="0"/>
          </a:p>
        </p:txBody>
      </p:sp>
      <p:sp>
        <p:nvSpPr>
          <p:cNvPr id="26" name="Text 20"/>
          <p:cNvSpPr/>
          <p:nvPr/>
        </p:nvSpPr>
        <p:spPr>
          <a:xfrm>
            <a:off x="1993392" y="3310128"/>
            <a:ext cx="1005840" cy="274320"/>
          </a:xfrm>
          <a:prstGeom prst="rect">
            <a:avLst/>
          </a:prstGeom>
          <a:noFill/>
          <a:ln/>
        </p:spPr>
        <p:txBody>
          <a:bodyPr wrap="square" lIns="0" tIns="0" rIns="0" bIns="0" rtlCol="0" anchor="ctr"/>
          <a:lstStyle/>
          <a:p>
            <a:pPr marL="0" indent="0">
              <a:buNone/>
            </a:pPr>
            <a:r>
              <a:rPr lang="en-US" sz="1000" dirty="0">
                <a:solidFill>
                  <a:srgbClr val="546E7A"/>
                </a:solidFill>
              </a:rPr>
              <a:t>cost cut</a:t>
            </a:r>
            <a:endParaRPr lang="en-US" sz="1000" dirty="0"/>
          </a:p>
        </p:txBody>
      </p:sp>
      <p:sp>
        <p:nvSpPr>
          <p:cNvPr id="27" name="Text 21"/>
          <p:cNvSpPr/>
          <p:nvPr/>
        </p:nvSpPr>
        <p:spPr>
          <a:xfrm>
            <a:off x="502920" y="3794760"/>
            <a:ext cx="2514600" cy="347472"/>
          </a:xfrm>
          <a:prstGeom prst="rect">
            <a:avLst/>
          </a:prstGeom>
          <a:noFill/>
          <a:ln/>
        </p:spPr>
        <p:txBody>
          <a:bodyPr wrap="square" lIns="0" tIns="0" rIns="0" bIns="0" rtlCol="0" anchor="ctr"/>
          <a:lstStyle/>
          <a:p>
            <a:pPr marL="0" indent="0">
              <a:buNone/>
            </a:pPr>
            <a:r>
              <a:rPr lang="en-US" sz="1300" b="1" dirty="0">
                <a:solidFill>
                  <a:srgbClr val="FFD166"/>
                </a:solidFill>
              </a:rPr>
              <a:t>Cost Saving</a:t>
            </a:r>
            <a:endParaRPr lang="en-US" sz="1300" dirty="0"/>
          </a:p>
        </p:txBody>
      </p:sp>
      <p:sp>
        <p:nvSpPr>
          <p:cNvPr id="28" name="Text 22"/>
          <p:cNvSpPr/>
          <p:nvPr/>
        </p:nvSpPr>
        <p:spPr>
          <a:xfrm>
            <a:off x="502920" y="4114800"/>
            <a:ext cx="2514600" cy="530352"/>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Reduces operational costs significantly over time.</a:t>
            </a:r>
            <a:endParaRPr lang="en-US" sz="1100" dirty="0"/>
          </a:p>
        </p:txBody>
      </p:sp>
      <p:sp>
        <p:nvSpPr>
          <p:cNvPr id="29" name="Shape 23"/>
          <p:cNvSpPr/>
          <p:nvPr/>
        </p:nvSpPr>
        <p:spPr>
          <a:xfrm>
            <a:off x="3291840" y="310896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30" name="Image 4" descr="preencoded.png"/>
          <p:cNvPicPr>
            <a:picLocks noChangeAspect="1"/>
          </p:cNvPicPr>
          <p:nvPr/>
        </p:nvPicPr>
        <p:blipFill>
          <a:blip r:embed="rId7"/>
          <a:stretch>
            <a:fillRect/>
          </a:stretch>
        </p:blipFill>
        <p:spPr>
          <a:xfrm>
            <a:off x="3429000" y="3246120"/>
            <a:ext cx="502920" cy="502920"/>
          </a:xfrm>
          <a:prstGeom prst="rect">
            <a:avLst/>
          </a:prstGeom>
        </p:spPr>
      </p:pic>
      <p:sp>
        <p:nvSpPr>
          <p:cNvPr id="31" name="Text 24"/>
          <p:cNvSpPr/>
          <p:nvPr/>
        </p:nvSpPr>
        <p:spPr>
          <a:xfrm>
            <a:off x="4005072" y="3182112"/>
            <a:ext cx="914400" cy="502920"/>
          </a:xfrm>
          <a:prstGeom prst="rect">
            <a:avLst/>
          </a:prstGeom>
          <a:noFill/>
          <a:ln/>
        </p:spPr>
        <p:txBody>
          <a:bodyPr wrap="square" lIns="0" tIns="0" rIns="0" bIns="0" rtlCol="0" anchor="ctr"/>
          <a:lstStyle/>
          <a:p>
            <a:pPr marL="0" indent="0">
              <a:buNone/>
            </a:pPr>
            <a:r>
              <a:rPr lang="en-US" sz="2200" b="1" dirty="0">
                <a:solidFill>
                  <a:srgbClr val="0096C7"/>
                </a:solidFill>
              </a:rPr>
              <a:t>24/7</a:t>
            </a:r>
            <a:endParaRPr lang="en-US" sz="2200" dirty="0"/>
          </a:p>
        </p:txBody>
      </p:sp>
      <p:sp>
        <p:nvSpPr>
          <p:cNvPr id="32" name="Text 25"/>
          <p:cNvSpPr/>
          <p:nvPr/>
        </p:nvSpPr>
        <p:spPr>
          <a:xfrm>
            <a:off x="4919472" y="3310128"/>
            <a:ext cx="1005840" cy="274320"/>
          </a:xfrm>
          <a:prstGeom prst="rect">
            <a:avLst/>
          </a:prstGeom>
          <a:noFill/>
          <a:ln/>
        </p:spPr>
        <p:txBody>
          <a:bodyPr wrap="square" lIns="0" tIns="0" rIns="0" bIns="0" rtlCol="0" anchor="ctr"/>
          <a:lstStyle/>
          <a:p>
            <a:pPr marL="0" indent="0">
              <a:buNone/>
            </a:pPr>
            <a:r>
              <a:rPr lang="en-US" sz="1000" dirty="0">
                <a:solidFill>
                  <a:srgbClr val="546E7A"/>
                </a:solidFill>
              </a:rPr>
              <a:t>uptime</a:t>
            </a:r>
            <a:endParaRPr lang="en-US" sz="1000" dirty="0"/>
          </a:p>
        </p:txBody>
      </p:sp>
      <p:sp>
        <p:nvSpPr>
          <p:cNvPr id="33" name="Text 26"/>
          <p:cNvSpPr/>
          <p:nvPr/>
        </p:nvSpPr>
        <p:spPr>
          <a:xfrm>
            <a:off x="3429000" y="3794760"/>
            <a:ext cx="2514600" cy="347472"/>
          </a:xfrm>
          <a:prstGeom prst="rect">
            <a:avLst/>
          </a:prstGeom>
          <a:noFill/>
          <a:ln/>
        </p:spPr>
        <p:txBody>
          <a:bodyPr wrap="square" lIns="0" tIns="0" rIns="0" bIns="0" rtlCol="0" anchor="ctr"/>
          <a:lstStyle/>
          <a:p>
            <a:pPr marL="0" indent="0">
              <a:buNone/>
            </a:pPr>
            <a:r>
              <a:rPr lang="en-US" sz="1300" b="1" dirty="0">
                <a:solidFill>
                  <a:srgbClr val="0096C7"/>
                </a:solidFill>
              </a:rPr>
              <a:t>Always On</a:t>
            </a:r>
            <a:endParaRPr lang="en-US" sz="1300" dirty="0"/>
          </a:p>
        </p:txBody>
      </p:sp>
      <p:sp>
        <p:nvSpPr>
          <p:cNvPr id="34" name="Text 27"/>
          <p:cNvSpPr/>
          <p:nvPr/>
        </p:nvSpPr>
        <p:spPr>
          <a:xfrm>
            <a:off x="3429000" y="4114800"/>
            <a:ext cx="2514600" cy="530352"/>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Works 24/7/365. No breaks, no vacations, no sick days.</a:t>
            </a:r>
            <a:endParaRPr lang="en-US" sz="1100" dirty="0"/>
          </a:p>
        </p:txBody>
      </p:sp>
      <p:sp>
        <p:nvSpPr>
          <p:cNvPr id="35" name="Shape 28"/>
          <p:cNvSpPr/>
          <p:nvPr/>
        </p:nvSpPr>
        <p:spPr>
          <a:xfrm>
            <a:off x="6217920" y="3108960"/>
            <a:ext cx="2743200" cy="160020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pic>
        <p:nvPicPr>
          <p:cNvPr id="36" name="Image 5" descr="preencoded.png"/>
          <p:cNvPicPr>
            <a:picLocks noChangeAspect="1"/>
          </p:cNvPicPr>
          <p:nvPr/>
        </p:nvPicPr>
        <p:blipFill>
          <a:blip r:embed="rId8"/>
          <a:stretch>
            <a:fillRect/>
          </a:stretch>
        </p:blipFill>
        <p:spPr>
          <a:xfrm>
            <a:off x="6355080" y="3246120"/>
            <a:ext cx="502920" cy="502920"/>
          </a:xfrm>
          <a:prstGeom prst="rect">
            <a:avLst/>
          </a:prstGeom>
        </p:spPr>
      </p:pic>
      <p:sp>
        <p:nvSpPr>
          <p:cNvPr id="37" name="Text 29"/>
          <p:cNvSpPr/>
          <p:nvPr/>
        </p:nvSpPr>
        <p:spPr>
          <a:xfrm>
            <a:off x="6931152" y="3182112"/>
            <a:ext cx="914400" cy="502920"/>
          </a:xfrm>
          <a:prstGeom prst="rect">
            <a:avLst/>
          </a:prstGeom>
          <a:noFill/>
          <a:ln/>
        </p:spPr>
        <p:txBody>
          <a:bodyPr wrap="square" lIns="0" tIns="0" rIns="0" bIns="0" rtlCol="0" anchor="ctr"/>
          <a:lstStyle/>
          <a:p>
            <a:pPr marL="0" indent="0">
              <a:buNone/>
            </a:pPr>
            <a:r>
              <a:rPr lang="en-US" sz="2200" b="1" dirty="0">
                <a:solidFill>
                  <a:srgbClr val="FF6B35"/>
                </a:solidFill>
              </a:rPr>
              <a:t>↑↑↑</a:t>
            </a:r>
            <a:endParaRPr lang="en-US" sz="2200" dirty="0"/>
          </a:p>
        </p:txBody>
      </p:sp>
      <p:sp>
        <p:nvSpPr>
          <p:cNvPr id="38" name="Text 30"/>
          <p:cNvSpPr/>
          <p:nvPr/>
        </p:nvSpPr>
        <p:spPr>
          <a:xfrm>
            <a:off x="7845552" y="3310128"/>
            <a:ext cx="1005840" cy="274320"/>
          </a:xfrm>
          <a:prstGeom prst="rect">
            <a:avLst/>
          </a:prstGeom>
          <a:noFill/>
          <a:ln/>
        </p:spPr>
        <p:txBody>
          <a:bodyPr wrap="square" lIns="0" tIns="0" rIns="0" bIns="0" rtlCol="0" anchor="ctr"/>
          <a:lstStyle/>
          <a:p>
            <a:pPr marL="0" indent="0">
              <a:buNone/>
            </a:pPr>
            <a:r>
              <a:rPr lang="en-US" sz="1000" dirty="0">
                <a:solidFill>
                  <a:srgbClr val="546E7A"/>
                </a:solidFill>
              </a:rPr>
              <a:t>grows</a:t>
            </a:r>
            <a:endParaRPr lang="en-US" sz="1000" dirty="0"/>
          </a:p>
        </p:txBody>
      </p:sp>
      <p:sp>
        <p:nvSpPr>
          <p:cNvPr id="39" name="Text 31"/>
          <p:cNvSpPr/>
          <p:nvPr/>
        </p:nvSpPr>
        <p:spPr>
          <a:xfrm>
            <a:off x="6355080" y="3794760"/>
            <a:ext cx="2514600" cy="347472"/>
          </a:xfrm>
          <a:prstGeom prst="rect">
            <a:avLst/>
          </a:prstGeom>
          <a:noFill/>
          <a:ln/>
        </p:spPr>
        <p:txBody>
          <a:bodyPr wrap="square" lIns="0" tIns="0" rIns="0" bIns="0" rtlCol="0" anchor="ctr"/>
          <a:lstStyle/>
          <a:p>
            <a:pPr marL="0" indent="0">
              <a:buNone/>
            </a:pPr>
            <a:r>
              <a:rPr lang="en-US" sz="1300" b="1" dirty="0">
                <a:solidFill>
                  <a:srgbClr val="FF6B35"/>
                </a:solidFill>
              </a:rPr>
              <a:t>Adaptability</a:t>
            </a:r>
            <a:endParaRPr lang="en-US" sz="1300" dirty="0"/>
          </a:p>
        </p:txBody>
      </p:sp>
      <p:sp>
        <p:nvSpPr>
          <p:cNvPr id="40" name="Text 32"/>
          <p:cNvSpPr/>
          <p:nvPr/>
        </p:nvSpPr>
        <p:spPr>
          <a:xfrm>
            <a:off x="6355080" y="4114800"/>
            <a:ext cx="2514600" cy="530352"/>
          </a:xfrm>
          <a:prstGeom prst="rect">
            <a:avLst/>
          </a:prstGeom>
          <a:noFill/>
          <a:ln/>
        </p:spPr>
        <p:txBody>
          <a:bodyPr wrap="square" rtlCol="0" anchor="t"/>
          <a:lstStyle/>
          <a:p>
            <a:pPr marL="0" indent="0">
              <a:buNone/>
            </a:pPr>
            <a:r>
              <a:rPr lang="en-US" sz="1100" dirty="0">
                <a:solidFill>
                  <a:srgbClr val="B0BEC5"/>
                </a:solidFill>
                <a:latin typeface="Calibri" pitchFamily="34" charset="0"/>
                <a:ea typeface="Calibri" pitchFamily="34" charset="-122"/>
                <a:cs typeface="Calibri" pitchFamily="34" charset="-120"/>
              </a:rPr>
              <a:t>Learns from new data and continuously improves.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FF6B35"/>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CHALLENGES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Challenges &amp; Limitations</a:t>
            </a:r>
            <a:endParaRPr lang="en-US" sz="3200" dirty="0"/>
          </a:p>
        </p:txBody>
      </p:sp>
      <p:sp>
        <p:nvSpPr>
          <p:cNvPr id="5" name="Shape 3"/>
          <p:cNvSpPr/>
          <p:nvPr/>
        </p:nvSpPr>
        <p:spPr>
          <a:xfrm>
            <a:off x="457200" y="1371600"/>
            <a:ext cx="8229600" cy="53035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6" name="Text 4"/>
          <p:cNvSpPr/>
          <p:nvPr/>
        </p:nvSpPr>
        <p:spPr>
          <a:xfrm>
            <a:off x="548640" y="1371600"/>
            <a:ext cx="822960" cy="530352"/>
          </a:xfrm>
          <a:prstGeom prst="rect">
            <a:avLst/>
          </a:prstGeom>
          <a:noFill/>
          <a:ln/>
        </p:spPr>
        <p:txBody>
          <a:bodyPr wrap="square" lIns="0" tIns="0" rIns="0" bIns="0" rtlCol="0" anchor="ctr"/>
          <a:lstStyle/>
          <a:p>
            <a:pPr marL="0" indent="0">
              <a:buNone/>
            </a:pPr>
            <a:r>
              <a:rPr lang="en-US" sz="1400" b="1" dirty="0">
                <a:solidFill>
                  <a:srgbClr val="FF6B35"/>
                </a:solidFill>
              </a:rPr>
              <a:t>⚠️ 01</a:t>
            </a:r>
            <a:endParaRPr lang="en-US" sz="1400" dirty="0"/>
          </a:p>
        </p:txBody>
      </p:sp>
      <p:sp>
        <p:nvSpPr>
          <p:cNvPr id="7" name="Text 5"/>
          <p:cNvSpPr/>
          <p:nvPr/>
        </p:nvSpPr>
        <p:spPr>
          <a:xfrm>
            <a:off x="1417320" y="1371600"/>
            <a:ext cx="2286000" cy="530352"/>
          </a:xfrm>
          <a:prstGeom prst="rect">
            <a:avLst/>
          </a:prstGeom>
          <a:noFill/>
          <a:ln/>
        </p:spPr>
        <p:txBody>
          <a:bodyPr wrap="square" lIns="0" tIns="0" rIns="0" bIns="0" rtlCol="0" anchor="ctr"/>
          <a:lstStyle/>
          <a:p>
            <a:pPr marL="0" indent="0">
              <a:buNone/>
            </a:pPr>
            <a:r>
              <a:rPr lang="en-US" sz="1300" b="1" dirty="0">
                <a:solidFill>
                  <a:srgbClr val="FFFFFF"/>
                </a:solidFill>
              </a:rPr>
              <a:t>Hallucinations</a:t>
            </a:r>
            <a:endParaRPr lang="en-US" sz="1300" dirty="0"/>
          </a:p>
        </p:txBody>
      </p:sp>
      <p:sp>
        <p:nvSpPr>
          <p:cNvPr id="8" name="Text 6"/>
          <p:cNvSpPr/>
          <p:nvPr/>
        </p:nvSpPr>
        <p:spPr>
          <a:xfrm>
            <a:off x="3749040" y="1371600"/>
            <a:ext cx="4754880" cy="530352"/>
          </a:xfrm>
          <a:prstGeom prst="rect">
            <a:avLst/>
          </a:prstGeom>
          <a:noFill/>
          <a:ln/>
        </p:spPr>
        <p:txBody>
          <a:bodyPr wrap="square" lIns="0" tIns="0" rIns="0" bIns="0" rtlCol="0" anchor="ctr"/>
          <a:lstStyle/>
          <a:p>
            <a:pPr marL="0" indent="0">
              <a:buNone/>
            </a:pPr>
            <a:r>
              <a:rPr lang="en-US" sz="1100" dirty="0">
                <a:solidFill>
                  <a:srgbClr val="B0BEC5"/>
                </a:solidFill>
                <a:latin typeface="Calibri" pitchFamily="34" charset="0"/>
                <a:ea typeface="Calibri" pitchFamily="34" charset="-122"/>
                <a:cs typeface="Calibri" pitchFamily="34" charset="-120"/>
              </a:rPr>
              <a:t>AI agents can sometimes make up incorrect information or take wrong actions confidently.</a:t>
            </a:r>
            <a:endParaRPr lang="en-US" sz="1100" dirty="0"/>
          </a:p>
        </p:txBody>
      </p:sp>
      <p:sp>
        <p:nvSpPr>
          <p:cNvPr id="9" name="Shape 7"/>
          <p:cNvSpPr/>
          <p:nvPr/>
        </p:nvSpPr>
        <p:spPr>
          <a:xfrm>
            <a:off x="457200" y="1975104"/>
            <a:ext cx="8229600" cy="53035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0" name="Text 8"/>
          <p:cNvSpPr/>
          <p:nvPr/>
        </p:nvSpPr>
        <p:spPr>
          <a:xfrm>
            <a:off x="548640" y="1975104"/>
            <a:ext cx="822960" cy="530352"/>
          </a:xfrm>
          <a:prstGeom prst="rect">
            <a:avLst/>
          </a:prstGeom>
          <a:noFill/>
          <a:ln/>
        </p:spPr>
        <p:txBody>
          <a:bodyPr wrap="square" lIns="0" tIns="0" rIns="0" bIns="0" rtlCol="0" anchor="ctr"/>
          <a:lstStyle/>
          <a:p>
            <a:pPr marL="0" indent="0">
              <a:buNone/>
            </a:pPr>
            <a:r>
              <a:rPr lang="en-US" sz="1400" b="1" dirty="0">
                <a:solidFill>
                  <a:srgbClr val="FF6B35"/>
                </a:solidFill>
              </a:rPr>
              <a:t>🔒 02</a:t>
            </a:r>
            <a:endParaRPr lang="en-US" sz="1400" dirty="0"/>
          </a:p>
        </p:txBody>
      </p:sp>
      <p:sp>
        <p:nvSpPr>
          <p:cNvPr id="11" name="Text 9"/>
          <p:cNvSpPr/>
          <p:nvPr/>
        </p:nvSpPr>
        <p:spPr>
          <a:xfrm>
            <a:off x="1417320" y="1975104"/>
            <a:ext cx="2286000" cy="530352"/>
          </a:xfrm>
          <a:prstGeom prst="rect">
            <a:avLst/>
          </a:prstGeom>
          <a:noFill/>
          <a:ln/>
        </p:spPr>
        <p:txBody>
          <a:bodyPr wrap="square" lIns="0" tIns="0" rIns="0" bIns="0" rtlCol="0" anchor="ctr"/>
          <a:lstStyle/>
          <a:p>
            <a:pPr marL="0" indent="0">
              <a:buNone/>
            </a:pPr>
            <a:r>
              <a:rPr lang="en-US" sz="1300" b="1" dirty="0">
                <a:solidFill>
                  <a:srgbClr val="FFFFFF"/>
                </a:solidFill>
              </a:rPr>
              <a:t>Security Risks</a:t>
            </a:r>
            <a:endParaRPr lang="en-US" sz="1300" dirty="0"/>
          </a:p>
        </p:txBody>
      </p:sp>
      <p:sp>
        <p:nvSpPr>
          <p:cNvPr id="12" name="Text 10"/>
          <p:cNvSpPr/>
          <p:nvPr/>
        </p:nvSpPr>
        <p:spPr>
          <a:xfrm>
            <a:off x="3749040" y="1975104"/>
            <a:ext cx="4754880" cy="530352"/>
          </a:xfrm>
          <a:prstGeom prst="rect">
            <a:avLst/>
          </a:prstGeom>
          <a:noFill/>
          <a:ln/>
        </p:spPr>
        <p:txBody>
          <a:bodyPr wrap="square" lIns="0" tIns="0" rIns="0" bIns="0" rtlCol="0" anchor="ctr"/>
          <a:lstStyle/>
          <a:p>
            <a:pPr marL="0" indent="0">
              <a:buNone/>
            </a:pPr>
            <a:r>
              <a:rPr lang="en-US" sz="1100" dirty="0">
                <a:solidFill>
                  <a:srgbClr val="B0BEC5"/>
                </a:solidFill>
                <a:latin typeface="Calibri" pitchFamily="34" charset="0"/>
                <a:ea typeface="Calibri" pitchFamily="34" charset="-122"/>
                <a:cs typeface="Calibri" pitchFamily="34" charset="-120"/>
              </a:rPr>
              <a:t>Agents with tool access can be manipulated by bad actors (prompt injection attacks).</a:t>
            </a:r>
            <a:endParaRPr lang="en-US" sz="1100" dirty="0"/>
          </a:p>
        </p:txBody>
      </p:sp>
      <p:sp>
        <p:nvSpPr>
          <p:cNvPr id="13" name="Shape 11"/>
          <p:cNvSpPr/>
          <p:nvPr/>
        </p:nvSpPr>
        <p:spPr>
          <a:xfrm>
            <a:off x="457200" y="2578608"/>
            <a:ext cx="8229600" cy="53035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4" name="Text 12"/>
          <p:cNvSpPr/>
          <p:nvPr/>
        </p:nvSpPr>
        <p:spPr>
          <a:xfrm>
            <a:off x="548640" y="2578608"/>
            <a:ext cx="822960" cy="530352"/>
          </a:xfrm>
          <a:prstGeom prst="rect">
            <a:avLst/>
          </a:prstGeom>
          <a:noFill/>
          <a:ln/>
        </p:spPr>
        <p:txBody>
          <a:bodyPr wrap="square" lIns="0" tIns="0" rIns="0" bIns="0" rtlCol="0" anchor="ctr"/>
          <a:lstStyle/>
          <a:p>
            <a:pPr marL="0" indent="0">
              <a:buNone/>
            </a:pPr>
            <a:r>
              <a:rPr lang="en-US" sz="1400" b="1" dirty="0">
                <a:solidFill>
                  <a:srgbClr val="FF6B35"/>
                </a:solidFill>
              </a:rPr>
              <a:t>💸 03</a:t>
            </a:r>
            <a:endParaRPr lang="en-US" sz="1400" dirty="0"/>
          </a:p>
        </p:txBody>
      </p:sp>
      <p:sp>
        <p:nvSpPr>
          <p:cNvPr id="15" name="Text 13"/>
          <p:cNvSpPr/>
          <p:nvPr/>
        </p:nvSpPr>
        <p:spPr>
          <a:xfrm>
            <a:off x="1417320" y="2578608"/>
            <a:ext cx="2286000" cy="530352"/>
          </a:xfrm>
          <a:prstGeom prst="rect">
            <a:avLst/>
          </a:prstGeom>
          <a:noFill/>
          <a:ln/>
        </p:spPr>
        <p:txBody>
          <a:bodyPr wrap="square" lIns="0" tIns="0" rIns="0" bIns="0" rtlCol="0" anchor="ctr"/>
          <a:lstStyle/>
          <a:p>
            <a:pPr marL="0" indent="0">
              <a:buNone/>
            </a:pPr>
            <a:r>
              <a:rPr lang="en-US" sz="1300" b="1" dirty="0">
                <a:solidFill>
                  <a:srgbClr val="FFFFFF"/>
                </a:solidFill>
              </a:rPr>
              <a:t>Cost</a:t>
            </a:r>
            <a:endParaRPr lang="en-US" sz="1300" dirty="0"/>
          </a:p>
        </p:txBody>
      </p:sp>
      <p:sp>
        <p:nvSpPr>
          <p:cNvPr id="16" name="Text 14"/>
          <p:cNvSpPr/>
          <p:nvPr/>
        </p:nvSpPr>
        <p:spPr>
          <a:xfrm>
            <a:off x="3749040" y="2578608"/>
            <a:ext cx="4754880" cy="530352"/>
          </a:xfrm>
          <a:prstGeom prst="rect">
            <a:avLst/>
          </a:prstGeom>
          <a:noFill/>
          <a:ln/>
        </p:spPr>
        <p:txBody>
          <a:bodyPr wrap="square" lIns="0" tIns="0" rIns="0" bIns="0" rtlCol="0" anchor="ctr"/>
          <a:lstStyle/>
          <a:p>
            <a:pPr marL="0" indent="0">
              <a:buNone/>
            </a:pPr>
            <a:r>
              <a:rPr lang="en-US" sz="1100" dirty="0">
                <a:solidFill>
                  <a:srgbClr val="B0BEC5"/>
                </a:solidFill>
                <a:latin typeface="Calibri" pitchFamily="34" charset="0"/>
                <a:ea typeface="Calibri" pitchFamily="34" charset="-122"/>
                <a:cs typeface="Calibri" pitchFamily="34" charset="-120"/>
              </a:rPr>
              <a:t>Running multiple LLM calls per task can be expensive at scale.</a:t>
            </a:r>
            <a:endParaRPr lang="en-US" sz="1100" dirty="0"/>
          </a:p>
        </p:txBody>
      </p:sp>
      <p:sp>
        <p:nvSpPr>
          <p:cNvPr id="17" name="Shape 15"/>
          <p:cNvSpPr/>
          <p:nvPr/>
        </p:nvSpPr>
        <p:spPr>
          <a:xfrm>
            <a:off x="457200" y="3182112"/>
            <a:ext cx="8229600" cy="53035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8" name="Text 16"/>
          <p:cNvSpPr/>
          <p:nvPr/>
        </p:nvSpPr>
        <p:spPr>
          <a:xfrm>
            <a:off x="548640" y="3182112"/>
            <a:ext cx="822960" cy="530352"/>
          </a:xfrm>
          <a:prstGeom prst="rect">
            <a:avLst/>
          </a:prstGeom>
          <a:noFill/>
          <a:ln/>
        </p:spPr>
        <p:txBody>
          <a:bodyPr wrap="square" lIns="0" tIns="0" rIns="0" bIns="0" rtlCol="0" anchor="ctr"/>
          <a:lstStyle/>
          <a:p>
            <a:pPr marL="0" indent="0">
              <a:buNone/>
            </a:pPr>
            <a:r>
              <a:rPr lang="en-US" sz="1400" b="1" dirty="0">
                <a:solidFill>
                  <a:srgbClr val="FF6B35"/>
                </a:solidFill>
              </a:rPr>
              <a:t>🤖 04</a:t>
            </a:r>
            <a:endParaRPr lang="en-US" sz="1400" dirty="0"/>
          </a:p>
        </p:txBody>
      </p:sp>
      <p:sp>
        <p:nvSpPr>
          <p:cNvPr id="19" name="Text 17"/>
          <p:cNvSpPr/>
          <p:nvPr/>
        </p:nvSpPr>
        <p:spPr>
          <a:xfrm>
            <a:off x="1417320" y="3182112"/>
            <a:ext cx="2286000" cy="530352"/>
          </a:xfrm>
          <a:prstGeom prst="rect">
            <a:avLst/>
          </a:prstGeom>
          <a:noFill/>
          <a:ln/>
        </p:spPr>
        <p:txBody>
          <a:bodyPr wrap="square" lIns="0" tIns="0" rIns="0" bIns="0" rtlCol="0" anchor="ctr"/>
          <a:lstStyle/>
          <a:p>
            <a:pPr marL="0" indent="0">
              <a:buNone/>
            </a:pPr>
            <a:r>
              <a:rPr lang="en-US" sz="1300" b="1" dirty="0">
                <a:solidFill>
                  <a:srgbClr val="FFFFFF"/>
                </a:solidFill>
              </a:rPr>
              <a:t>Over-Automation</a:t>
            </a:r>
            <a:endParaRPr lang="en-US" sz="1300" dirty="0"/>
          </a:p>
        </p:txBody>
      </p:sp>
      <p:sp>
        <p:nvSpPr>
          <p:cNvPr id="20" name="Text 18"/>
          <p:cNvSpPr/>
          <p:nvPr/>
        </p:nvSpPr>
        <p:spPr>
          <a:xfrm>
            <a:off x="3749040" y="3182112"/>
            <a:ext cx="4754880" cy="530352"/>
          </a:xfrm>
          <a:prstGeom prst="rect">
            <a:avLst/>
          </a:prstGeom>
          <a:noFill/>
          <a:ln/>
        </p:spPr>
        <p:txBody>
          <a:bodyPr wrap="square" lIns="0" tIns="0" rIns="0" bIns="0" rtlCol="0" anchor="ctr"/>
          <a:lstStyle/>
          <a:p>
            <a:pPr marL="0" indent="0">
              <a:buNone/>
            </a:pPr>
            <a:r>
              <a:rPr lang="en-US" sz="1100" dirty="0">
                <a:solidFill>
                  <a:srgbClr val="B0BEC5"/>
                </a:solidFill>
                <a:latin typeface="Calibri" pitchFamily="34" charset="0"/>
                <a:ea typeface="Calibri" pitchFamily="34" charset="-122"/>
                <a:cs typeface="Calibri" pitchFamily="34" charset="-120"/>
              </a:rPr>
              <a:t>Too much automation without oversight can lead to errors going unnoticed for too long.</a:t>
            </a:r>
            <a:endParaRPr lang="en-US" sz="1100" dirty="0"/>
          </a:p>
        </p:txBody>
      </p:sp>
      <p:sp>
        <p:nvSpPr>
          <p:cNvPr id="21" name="Shape 19"/>
          <p:cNvSpPr/>
          <p:nvPr/>
        </p:nvSpPr>
        <p:spPr>
          <a:xfrm>
            <a:off x="457200" y="3785616"/>
            <a:ext cx="8229600" cy="53035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2" name="Text 20"/>
          <p:cNvSpPr/>
          <p:nvPr/>
        </p:nvSpPr>
        <p:spPr>
          <a:xfrm>
            <a:off x="548640" y="3785616"/>
            <a:ext cx="822960" cy="530352"/>
          </a:xfrm>
          <a:prstGeom prst="rect">
            <a:avLst/>
          </a:prstGeom>
          <a:noFill/>
          <a:ln/>
        </p:spPr>
        <p:txBody>
          <a:bodyPr wrap="square" lIns="0" tIns="0" rIns="0" bIns="0" rtlCol="0" anchor="ctr"/>
          <a:lstStyle/>
          <a:p>
            <a:pPr marL="0" indent="0">
              <a:buNone/>
            </a:pPr>
            <a:r>
              <a:rPr lang="en-US" sz="1400" b="1" dirty="0">
                <a:solidFill>
                  <a:srgbClr val="FF6B35"/>
                </a:solidFill>
              </a:rPr>
              <a:t>🧩 05</a:t>
            </a:r>
            <a:endParaRPr lang="en-US" sz="1400" dirty="0"/>
          </a:p>
        </p:txBody>
      </p:sp>
      <p:sp>
        <p:nvSpPr>
          <p:cNvPr id="23" name="Text 21"/>
          <p:cNvSpPr/>
          <p:nvPr/>
        </p:nvSpPr>
        <p:spPr>
          <a:xfrm>
            <a:off x="1417320" y="3785616"/>
            <a:ext cx="2286000" cy="530352"/>
          </a:xfrm>
          <a:prstGeom prst="rect">
            <a:avLst/>
          </a:prstGeom>
          <a:noFill/>
          <a:ln/>
        </p:spPr>
        <p:txBody>
          <a:bodyPr wrap="square" lIns="0" tIns="0" rIns="0" bIns="0" rtlCol="0" anchor="ctr"/>
          <a:lstStyle/>
          <a:p>
            <a:pPr marL="0" indent="0">
              <a:buNone/>
            </a:pPr>
            <a:r>
              <a:rPr lang="en-US" sz="1300" b="1" dirty="0">
                <a:solidFill>
                  <a:srgbClr val="FFFFFF"/>
                </a:solidFill>
              </a:rPr>
              <a:t>Lack of Common Sense</a:t>
            </a:r>
            <a:endParaRPr lang="en-US" sz="1300" dirty="0"/>
          </a:p>
        </p:txBody>
      </p:sp>
      <p:sp>
        <p:nvSpPr>
          <p:cNvPr id="24" name="Text 22"/>
          <p:cNvSpPr/>
          <p:nvPr/>
        </p:nvSpPr>
        <p:spPr>
          <a:xfrm>
            <a:off x="3749040" y="3785616"/>
            <a:ext cx="4754880" cy="530352"/>
          </a:xfrm>
          <a:prstGeom prst="rect">
            <a:avLst/>
          </a:prstGeom>
          <a:noFill/>
          <a:ln/>
        </p:spPr>
        <p:txBody>
          <a:bodyPr wrap="square" lIns="0" tIns="0" rIns="0" bIns="0" rtlCol="0" anchor="ctr"/>
          <a:lstStyle/>
          <a:p>
            <a:pPr marL="0" indent="0">
              <a:buNone/>
            </a:pPr>
            <a:r>
              <a:rPr lang="en-US" sz="1100" dirty="0">
                <a:solidFill>
                  <a:srgbClr val="B0BEC5"/>
                </a:solidFill>
                <a:latin typeface="Calibri" pitchFamily="34" charset="0"/>
                <a:ea typeface="Calibri" pitchFamily="34" charset="-122"/>
                <a:cs typeface="Calibri" pitchFamily="34" charset="-120"/>
              </a:rPr>
              <a:t>AI agents lack human intuition and may fail at tasks requiring real-world understanding.</a:t>
            </a:r>
            <a:endParaRPr lang="en-US" sz="1100" dirty="0"/>
          </a:p>
        </p:txBody>
      </p:sp>
      <p:sp>
        <p:nvSpPr>
          <p:cNvPr id="25" name="Shape 23"/>
          <p:cNvSpPr/>
          <p:nvPr/>
        </p:nvSpPr>
        <p:spPr>
          <a:xfrm>
            <a:off x="457200" y="4389120"/>
            <a:ext cx="8229600" cy="530352"/>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6" name="Text 24"/>
          <p:cNvSpPr/>
          <p:nvPr/>
        </p:nvSpPr>
        <p:spPr>
          <a:xfrm>
            <a:off x="548640" y="4389120"/>
            <a:ext cx="822960" cy="530352"/>
          </a:xfrm>
          <a:prstGeom prst="rect">
            <a:avLst/>
          </a:prstGeom>
          <a:noFill/>
          <a:ln/>
        </p:spPr>
        <p:txBody>
          <a:bodyPr wrap="square" lIns="0" tIns="0" rIns="0" bIns="0" rtlCol="0" anchor="ctr"/>
          <a:lstStyle/>
          <a:p>
            <a:pPr marL="0" indent="0">
              <a:buNone/>
            </a:pPr>
            <a:r>
              <a:rPr lang="en-US" sz="1400" b="1" dirty="0">
                <a:solidFill>
                  <a:srgbClr val="FF6B35"/>
                </a:solidFill>
              </a:rPr>
              <a:t>🛡️ 06</a:t>
            </a:r>
            <a:endParaRPr lang="en-US" sz="1400" dirty="0"/>
          </a:p>
        </p:txBody>
      </p:sp>
      <p:sp>
        <p:nvSpPr>
          <p:cNvPr id="27" name="Text 25"/>
          <p:cNvSpPr/>
          <p:nvPr/>
        </p:nvSpPr>
        <p:spPr>
          <a:xfrm>
            <a:off x="1417320" y="4389120"/>
            <a:ext cx="2286000" cy="530352"/>
          </a:xfrm>
          <a:prstGeom prst="rect">
            <a:avLst/>
          </a:prstGeom>
          <a:noFill/>
          <a:ln/>
        </p:spPr>
        <p:txBody>
          <a:bodyPr wrap="square" lIns="0" tIns="0" rIns="0" bIns="0" rtlCol="0" anchor="ctr"/>
          <a:lstStyle/>
          <a:p>
            <a:pPr marL="0" indent="0">
              <a:buNone/>
            </a:pPr>
            <a:r>
              <a:rPr lang="en-US" sz="1300" b="1" dirty="0">
                <a:solidFill>
                  <a:srgbClr val="FFFFFF"/>
                </a:solidFill>
              </a:rPr>
              <a:t>Privacy Concerns</a:t>
            </a:r>
            <a:endParaRPr lang="en-US" sz="1300" dirty="0"/>
          </a:p>
        </p:txBody>
      </p:sp>
      <p:sp>
        <p:nvSpPr>
          <p:cNvPr id="28" name="Text 26"/>
          <p:cNvSpPr/>
          <p:nvPr/>
        </p:nvSpPr>
        <p:spPr>
          <a:xfrm>
            <a:off x="3749040" y="4389120"/>
            <a:ext cx="4754880" cy="530352"/>
          </a:xfrm>
          <a:prstGeom prst="rect">
            <a:avLst/>
          </a:prstGeom>
          <a:noFill/>
          <a:ln/>
        </p:spPr>
        <p:txBody>
          <a:bodyPr wrap="square" lIns="0" tIns="0" rIns="0" bIns="0" rtlCol="0" anchor="ctr"/>
          <a:lstStyle/>
          <a:p>
            <a:pPr marL="0" indent="0">
              <a:buNone/>
            </a:pPr>
            <a:r>
              <a:rPr lang="en-US" sz="1100" dirty="0">
                <a:solidFill>
                  <a:srgbClr val="B0BEC5"/>
                </a:solidFill>
                <a:latin typeface="Calibri" pitchFamily="34" charset="0"/>
                <a:ea typeface="Calibri" pitchFamily="34" charset="-122"/>
                <a:cs typeface="Calibri" pitchFamily="34" charset="-120"/>
              </a:rPr>
              <a:t>Agents with access to personal data raise serious data privacy and compliance questions.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MARKET DATA</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The AI Agent Market is Exploding</a:t>
            </a:r>
            <a:endParaRPr lang="en-US" sz="3200" dirty="0"/>
          </a:p>
        </p:txBody>
      </p:sp>
      <p:graphicFrame>
        <p:nvGraphicFramePr>
          <p:cNvPr id="5" name="Chart 0"/>
          <p:cNvGraphicFramePr/>
          <p:nvPr/>
        </p:nvGraphicFramePr>
        <p:xfrm>
          <a:off x="457200" y="1188720"/>
          <a:ext cx="82296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4572000"/>
            <a:ext cx="8229600" cy="320040"/>
          </a:xfrm>
          <a:prstGeom prst="rect">
            <a:avLst/>
          </a:prstGeom>
          <a:noFill/>
          <a:ln/>
        </p:spPr>
        <p:txBody>
          <a:bodyPr wrap="square" rtlCol="0" anchor="ctr"/>
          <a:lstStyle/>
          <a:p>
            <a:pPr marL="0" indent="0" algn="ctr">
              <a:buNone/>
            </a:pPr>
            <a:r>
              <a:rPr lang="en-US" sz="1300" b="1" dirty="0">
                <a:solidFill>
                  <a:srgbClr val="00B4D8"/>
                </a:solidFill>
              </a:rPr>
              <a:t>Projected to reach $102 Billion by 2028 — growing at 45% annually.</a:t>
            </a:r>
            <a:endParaRPr lang="en-US" sz="1300" dirty="0"/>
          </a:p>
        </p:txBody>
      </p:sp>
      <p:sp>
        <p:nvSpPr>
          <p:cNvPr id="7" name="Text 4"/>
          <p:cNvSpPr/>
          <p:nvPr/>
        </p:nvSpPr>
        <p:spPr>
          <a:xfrm>
            <a:off x="457200" y="4892040"/>
            <a:ext cx="8229600" cy="228600"/>
          </a:xfrm>
          <a:prstGeom prst="rect">
            <a:avLst/>
          </a:prstGeom>
          <a:noFill/>
          <a:ln/>
        </p:spPr>
        <p:txBody>
          <a:bodyPr wrap="square" rtlCol="0" anchor="ctr"/>
          <a:lstStyle/>
          <a:p>
            <a:pPr marL="0" indent="0" algn="ctr">
              <a:buNone/>
            </a:pPr>
            <a:r>
              <a:rPr lang="en-US" sz="900" i="1" dirty="0">
                <a:solidFill>
                  <a:srgbClr val="546E7A"/>
                </a:solidFill>
              </a:rPr>
              <a:t>Source: MarketsandMarkets AI Agent Report 2024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BUILD</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How to Build a Simple AI Agent</a:t>
            </a:r>
            <a:endParaRPr lang="en-US" sz="3200" dirty="0"/>
          </a:p>
        </p:txBody>
      </p:sp>
      <p:sp>
        <p:nvSpPr>
          <p:cNvPr id="5" name="Shape 3"/>
          <p:cNvSpPr/>
          <p:nvPr/>
        </p:nvSpPr>
        <p:spPr>
          <a:xfrm>
            <a:off x="457200" y="1325880"/>
            <a:ext cx="2743200" cy="164592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6" name="Shape 4"/>
          <p:cNvSpPr/>
          <p:nvPr/>
        </p:nvSpPr>
        <p:spPr>
          <a:xfrm>
            <a:off x="566928" y="1435608"/>
            <a:ext cx="566928" cy="566928"/>
          </a:xfrm>
          <a:prstGeom prst="ellipse">
            <a:avLst/>
          </a:prstGeom>
          <a:solidFill>
            <a:srgbClr val="00B4D8"/>
          </a:solidFill>
          <a:ln/>
        </p:spPr>
      </p:sp>
      <p:sp>
        <p:nvSpPr>
          <p:cNvPr id="7" name="Text 5"/>
          <p:cNvSpPr/>
          <p:nvPr/>
        </p:nvSpPr>
        <p:spPr>
          <a:xfrm>
            <a:off x="566928" y="1435608"/>
            <a:ext cx="566928" cy="566928"/>
          </a:xfrm>
          <a:prstGeom prst="rect">
            <a:avLst/>
          </a:prstGeom>
          <a:noFill/>
          <a:ln/>
        </p:spPr>
        <p:txBody>
          <a:bodyPr wrap="square" lIns="0" tIns="0" rIns="0" bIns="0" rtlCol="0" anchor="ctr"/>
          <a:lstStyle/>
          <a:p>
            <a:pPr marL="0" indent="0" algn="ctr">
              <a:buNone/>
            </a:pPr>
            <a:r>
              <a:rPr lang="en-US" sz="1800" b="1" dirty="0">
                <a:solidFill>
                  <a:srgbClr val="0A1628"/>
                </a:solidFill>
              </a:rPr>
              <a:t>1</a:t>
            </a:r>
            <a:endParaRPr lang="en-US" sz="1800" dirty="0"/>
          </a:p>
        </p:txBody>
      </p:sp>
      <p:sp>
        <p:nvSpPr>
          <p:cNvPr id="8" name="Text 6"/>
          <p:cNvSpPr/>
          <p:nvPr/>
        </p:nvSpPr>
        <p:spPr>
          <a:xfrm>
            <a:off x="1234440" y="1435608"/>
            <a:ext cx="1874520" cy="457200"/>
          </a:xfrm>
          <a:prstGeom prst="rect">
            <a:avLst/>
          </a:prstGeom>
          <a:noFill/>
          <a:ln/>
        </p:spPr>
        <p:txBody>
          <a:bodyPr wrap="square" lIns="0" tIns="0" rIns="0" bIns="0" rtlCol="0" anchor="ctr"/>
          <a:lstStyle/>
          <a:p>
            <a:pPr marL="0" indent="0">
              <a:buNone/>
            </a:pPr>
            <a:r>
              <a:rPr lang="en-US" sz="1300" b="1" dirty="0">
                <a:solidFill>
                  <a:srgbClr val="00B4D8"/>
                </a:solidFill>
              </a:rPr>
              <a:t>Define the Goal</a:t>
            </a:r>
            <a:endParaRPr lang="en-US" sz="1300" dirty="0"/>
          </a:p>
        </p:txBody>
      </p:sp>
      <p:sp>
        <p:nvSpPr>
          <p:cNvPr id="9" name="Text 7"/>
          <p:cNvSpPr/>
          <p:nvPr/>
        </p:nvSpPr>
        <p:spPr>
          <a:xfrm>
            <a:off x="566928" y="2039112"/>
            <a:ext cx="2542032" cy="82296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What should the agent do? Be specific.</a:t>
            </a:r>
            <a:endParaRPr lang="en-US" sz="1050" dirty="0"/>
          </a:p>
          <a:p>
            <a:pPr marL="0" indent="0">
              <a:buNone/>
            </a:pPr>
            <a:r>
              <a:rPr lang="en-US" sz="1050" dirty="0">
                <a:solidFill>
                  <a:srgbClr val="B0BEC5"/>
                </a:solidFill>
                <a:latin typeface="Calibri" pitchFamily="34" charset="0"/>
                <a:ea typeface="Calibri" pitchFamily="34" charset="-122"/>
                <a:cs typeface="Calibri" pitchFamily="34" charset="-120"/>
              </a:rPr>
              <a:t>Example: 'Answer customer emails automatically.'</a:t>
            </a:r>
            <a:endParaRPr lang="en-US" sz="1050" dirty="0"/>
          </a:p>
        </p:txBody>
      </p:sp>
      <p:sp>
        <p:nvSpPr>
          <p:cNvPr id="10" name="Shape 8"/>
          <p:cNvSpPr/>
          <p:nvPr/>
        </p:nvSpPr>
        <p:spPr>
          <a:xfrm>
            <a:off x="3364992" y="1325880"/>
            <a:ext cx="2743200" cy="164592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1" name="Shape 9"/>
          <p:cNvSpPr/>
          <p:nvPr/>
        </p:nvSpPr>
        <p:spPr>
          <a:xfrm>
            <a:off x="3474720" y="1435608"/>
            <a:ext cx="566928" cy="566928"/>
          </a:xfrm>
          <a:prstGeom prst="ellipse">
            <a:avLst/>
          </a:prstGeom>
          <a:solidFill>
            <a:srgbClr val="7C3AED"/>
          </a:solidFill>
          <a:ln/>
        </p:spPr>
      </p:sp>
      <p:sp>
        <p:nvSpPr>
          <p:cNvPr id="12" name="Text 10"/>
          <p:cNvSpPr/>
          <p:nvPr/>
        </p:nvSpPr>
        <p:spPr>
          <a:xfrm>
            <a:off x="3474720" y="1435608"/>
            <a:ext cx="566928" cy="566928"/>
          </a:xfrm>
          <a:prstGeom prst="rect">
            <a:avLst/>
          </a:prstGeom>
          <a:noFill/>
          <a:ln/>
        </p:spPr>
        <p:txBody>
          <a:bodyPr wrap="square" lIns="0" tIns="0" rIns="0" bIns="0" rtlCol="0" anchor="ctr"/>
          <a:lstStyle/>
          <a:p>
            <a:pPr marL="0" indent="0" algn="ctr">
              <a:buNone/>
            </a:pPr>
            <a:r>
              <a:rPr lang="en-US" sz="1800" b="1" dirty="0">
                <a:solidFill>
                  <a:srgbClr val="0A1628"/>
                </a:solidFill>
              </a:rPr>
              <a:t>2</a:t>
            </a:r>
            <a:endParaRPr lang="en-US" sz="1800" dirty="0"/>
          </a:p>
        </p:txBody>
      </p:sp>
      <p:sp>
        <p:nvSpPr>
          <p:cNvPr id="13" name="Text 11"/>
          <p:cNvSpPr/>
          <p:nvPr/>
        </p:nvSpPr>
        <p:spPr>
          <a:xfrm>
            <a:off x="4142232" y="1435608"/>
            <a:ext cx="1874520" cy="457200"/>
          </a:xfrm>
          <a:prstGeom prst="rect">
            <a:avLst/>
          </a:prstGeom>
          <a:noFill/>
          <a:ln/>
        </p:spPr>
        <p:txBody>
          <a:bodyPr wrap="square" lIns="0" tIns="0" rIns="0" bIns="0" rtlCol="0" anchor="ctr"/>
          <a:lstStyle/>
          <a:p>
            <a:pPr marL="0" indent="0">
              <a:buNone/>
            </a:pPr>
            <a:r>
              <a:rPr lang="en-US" sz="1300" b="1" dirty="0">
                <a:solidFill>
                  <a:srgbClr val="7C3AED"/>
                </a:solidFill>
              </a:rPr>
              <a:t>Choose the LLM Brain</a:t>
            </a:r>
            <a:endParaRPr lang="en-US" sz="1300" dirty="0"/>
          </a:p>
        </p:txBody>
      </p:sp>
      <p:sp>
        <p:nvSpPr>
          <p:cNvPr id="14" name="Text 12"/>
          <p:cNvSpPr/>
          <p:nvPr/>
        </p:nvSpPr>
        <p:spPr>
          <a:xfrm>
            <a:off x="3474720" y="2039112"/>
            <a:ext cx="2542032" cy="82296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Pick a model: GPT-4, Claude, Gemini.</a:t>
            </a:r>
            <a:endParaRPr lang="en-US" sz="1050" dirty="0"/>
          </a:p>
          <a:p>
            <a:pPr marL="0" indent="0">
              <a:buNone/>
            </a:pPr>
            <a:r>
              <a:rPr lang="en-US" sz="1050" dirty="0">
                <a:solidFill>
                  <a:srgbClr val="B0BEC5"/>
                </a:solidFill>
                <a:latin typeface="Calibri" pitchFamily="34" charset="0"/>
                <a:ea typeface="Calibri" pitchFamily="34" charset="-122"/>
                <a:cs typeface="Calibri" pitchFamily="34" charset="-120"/>
              </a:rPr>
              <a:t>This is the agent's thinking engine.</a:t>
            </a:r>
            <a:endParaRPr lang="en-US" sz="1050" dirty="0"/>
          </a:p>
        </p:txBody>
      </p:sp>
      <p:sp>
        <p:nvSpPr>
          <p:cNvPr id="15" name="Shape 13"/>
          <p:cNvSpPr/>
          <p:nvPr/>
        </p:nvSpPr>
        <p:spPr>
          <a:xfrm>
            <a:off x="6272784" y="1325880"/>
            <a:ext cx="2743200" cy="164592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6" name="Shape 14"/>
          <p:cNvSpPr/>
          <p:nvPr/>
        </p:nvSpPr>
        <p:spPr>
          <a:xfrm>
            <a:off x="6382512" y="1435608"/>
            <a:ext cx="566928" cy="566928"/>
          </a:xfrm>
          <a:prstGeom prst="ellipse">
            <a:avLst/>
          </a:prstGeom>
          <a:solidFill>
            <a:srgbClr val="00C896"/>
          </a:solidFill>
          <a:ln/>
        </p:spPr>
      </p:sp>
      <p:sp>
        <p:nvSpPr>
          <p:cNvPr id="17" name="Text 15"/>
          <p:cNvSpPr/>
          <p:nvPr/>
        </p:nvSpPr>
        <p:spPr>
          <a:xfrm>
            <a:off x="6382512" y="1435608"/>
            <a:ext cx="566928" cy="566928"/>
          </a:xfrm>
          <a:prstGeom prst="rect">
            <a:avLst/>
          </a:prstGeom>
          <a:noFill/>
          <a:ln/>
        </p:spPr>
        <p:txBody>
          <a:bodyPr wrap="square" lIns="0" tIns="0" rIns="0" bIns="0" rtlCol="0" anchor="ctr"/>
          <a:lstStyle/>
          <a:p>
            <a:pPr marL="0" indent="0" algn="ctr">
              <a:buNone/>
            </a:pPr>
            <a:r>
              <a:rPr lang="en-US" sz="1800" b="1" dirty="0">
                <a:solidFill>
                  <a:srgbClr val="0A1628"/>
                </a:solidFill>
              </a:rPr>
              <a:t>3</a:t>
            </a:r>
            <a:endParaRPr lang="en-US" sz="1800" dirty="0"/>
          </a:p>
        </p:txBody>
      </p:sp>
      <p:sp>
        <p:nvSpPr>
          <p:cNvPr id="18" name="Text 16"/>
          <p:cNvSpPr/>
          <p:nvPr/>
        </p:nvSpPr>
        <p:spPr>
          <a:xfrm>
            <a:off x="7050024" y="1435608"/>
            <a:ext cx="1874520" cy="457200"/>
          </a:xfrm>
          <a:prstGeom prst="rect">
            <a:avLst/>
          </a:prstGeom>
          <a:noFill/>
          <a:ln/>
        </p:spPr>
        <p:txBody>
          <a:bodyPr wrap="square" lIns="0" tIns="0" rIns="0" bIns="0" rtlCol="0" anchor="ctr"/>
          <a:lstStyle/>
          <a:p>
            <a:pPr marL="0" indent="0">
              <a:buNone/>
            </a:pPr>
            <a:r>
              <a:rPr lang="en-US" sz="1300" b="1" dirty="0">
                <a:solidFill>
                  <a:srgbClr val="00C896"/>
                </a:solidFill>
              </a:rPr>
              <a:t>Give It Tools</a:t>
            </a:r>
            <a:endParaRPr lang="en-US" sz="1300" dirty="0"/>
          </a:p>
        </p:txBody>
      </p:sp>
      <p:sp>
        <p:nvSpPr>
          <p:cNvPr id="19" name="Text 17"/>
          <p:cNvSpPr/>
          <p:nvPr/>
        </p:nvSpPr>
        <p:spPr>
          <a:xfrm>
            <a:off x="6382512" y="2039112"/>
            <a:ext cx="2542032" cy="82296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Connect tools: web search, database, email.</a:t>
            </a:r>
            <a:endParaRPr lang="en-US" sz="1050" dirty="0"/>
          </a:p>
          <a:p>
            <a:pPr marL="0" indent="0">
              <a:buNone/>
            </a:pPr>
            <a:r>
              <a:rPr lang="en-US" sz="1050" dirty="0">
                <a:solidFill>
                  <a:srgbClr val="B0BEC5"/>
                </a:solidFill>
                <a:latin typeface="Calibri" pitchFamily="34" charset="0"/>
                <a:ea typeface="Calibri" pitchFamily="34" charset="-122"/>
                <a:cs typeface="Calibri" pitchFamily="34" charset="-120"/>
              </a:rPr>
              <a:t>Each tool expands what the agent can DO.</a:t>
            </a:r>
            <a:endParaRPr lang="en-US" sz="1050" dirty="0"/>
          </a:p>
        </p:txBody>
      </p:sp>
      <p:sp>
        <p:nvSpPr>
          <p:cNvPr id="20" name="Shape 18"/>
          <p:cNvSpPr/>
          <p:nvPr/>
        </p:nvSpPr>
        <p:spPr>
          <a:xfrm>
            <a:off x="457200" y="3136392"/>
            <a:ext cx="2743200" cy="164592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1" name="Shape 19"/>
          <p:cNvSpPr/>
          <p:nvPr/>
        </p:nvSpPr>
        <p:spPr>
          <a:xfrm>
            <a:off x="566928" y="3246120"/>
            <a:ext cx="566928" cy="566928"/>
          </a:xfrm>
          <a:prstGeom prst="ellipse">
            <a:avLst/>
          </a:prstGeom>
          <a:solidFill>
            <a:srgbClr val="FFD166"/>
          </a:solidFill>
          <a:ln/>
        </p:spPr>
      </p:sp>
      <p:sp>
        <p:nvSpPr>
          <p:cNvPr id="22" name="Text 20"/>
          <p:cNvSpPr/>
          <p:nvPr/>
        </p:nvSpPr>
        <p:spPr>
          <a:xfrm>
            <a:off x="566928" y="3246120"/>
            <a:ext cx="566928" cy="566928"/>
          </a:xfrm>
          <a:prstGeom prst="rect">
            <a:avLst/>
          </a:prstGeom>
          <a:noFill/>
          <a:ln/>
        </p:spPr>
        <p:txBody>
          <a:bodyPr wrap="square" lIns="0" tIns="0" rIns="0" bIns="0" rtlCol="0" anchor="ctr"/>
          <a:lstStyle/>
          <a:p>
            <a:pPr marL="0" indent="0" algn="ctr">
              <a:buNone/>
            </a:pPr>
            <a:r>
              <a:rPr lang="en-US" sz="1800" b="1" dirty="0">
                <a:solidFill>
                  <a:srgbClr val="0A1628"/>
                </a:solidFill>
              </a:rPr>
              <a:t>4</a:t>
            </a:r>
            <a:endParaRPr lang="en-US" sz="1800" dirty="0"/>
          </a:p>
        </p:txBody>
      </p:sp>
      <p:sp>
        <p:nvSpPr>
          <p:cNvPr id="23" name="Text 21"/>
          <p:cNvSpPr/>
          <p:nvPr/>
        </p:nvSpPr>
        <p:spPr>
          <a:xfrm>
            <a:off x="1234440" y="3246120"/>
            <a:ext cx="1874520" cy="457200"/>
          </a:xfrm>
          <a:prstGeom prst="rect">
            <a:avLst/>
          </a:prstGeom>
          <a:noFill/>
          <a:ln/>
        </p:spPr>
        <p:txBody>
          <a:bodyPr wrap="square" lIns="0" tIns="0" rIns="0" bIns="0" rtlCol="0" anchor="ctr"/>
          <a:lstStyle/>
          <a:p>
            <a:pPr marL="0" indent="0">
              <a:buNone/>
            </a:pPr>
            <a:r>
              <a:rPr lang="en-US" sz="1300" b="1" dirty="0">
                <a:solidFill>
                  <a:srgbClr val="FFD166"/>
                </a:solidFill>
              </a:rPr>
              <a:t>Add Memory</a:t>
            </a:r>
            <a:endParaRPr lang="en-US" sz="1300" dirty="0"/>
          </a:p>
        </p:txBody>
      </p:sp>
      <p:sp>
        <p:nvSpPr>
          <p:cNvPr id="24" name="Text 22"/>
          <p:cNvSpPr/>
          <p:nvPr/>
        </p:nvSpPr>
        <p:spPr>
          <a:xfrm>
            <a:off x="566928" y="3849624"/>
            <a:ext cx="2542032" cy="82296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Let it remember past conversations.</a:t>
            </a:r>
            <a:endParaRPr lang="en-US" sz="1050" dirty="0"/>
          </a:p>
          <a:p>
            <a:pPr marL="0" indent="0">
              <a:buNone/>
            </a:pPr>
            <a:r>
              <a:rPr lang="en-US" sz="1050" dirty="0">
                <a:solidFill>
                  <a:srgbClr val="B0BEC5"/>
                </a:solidFill>
                <a:latin typeface="Calibri" pitchFamily="34" charset="0"/>
                <a:ea typeface="Calibri" pitchFamily="34" charset="-122"/>
                <a:cs typeface="Calibri" pitchFamily="34" charset="-120"/>
              </a:rPr>
              <a:t>Use vector databases (Pinecone, ChromaDB).</a:t>
            </a:r>
            <a:endParaRPr lang="en-US" sz="1050" dirty="0"/>
          </a:p>
        </p:txBody>
      </p:sp>
      <p:sp>
        <p:nvSpPr>
          <p:cNvPr id="25" name="Shape 23"/>
          <p:cNvSpPr/>
          <p:nvPr/>
        </p:nvSpPr>
        <p:spPr>
          <a:xfrm>
            <a:off x="3364992" y="3136392"/>
            <a:ext cx="2743200" cy="164592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6" name="Shape 24"/>
          <p:cNvSpPr/>
          <p:nvPr/>
        </p:nvSpPr>
        <p:spPr>
          <a:xfrm>
            <a:off x="3474720" y="3246120"/>
            <a:ext cx="566928" cy="566928"/>
          </a:xfrm>
          <a:prstGeom prst="ellipse">
            <a:avLst/>
          </a:prstGeom>
          <a:solidFill>
            <a:srgbClr val="FF6B35"/>
          </a:solidFill>
          <a:ln/>
        </p:spPr>
      </p:sp>
      <p:sp>
        <p:nvSpPr>
          <p:cNvPr id="27" name="Text 25"/>
          <p:cNvSpPr/>
          <p:nvPr/>
        </p:nvSpPr>
        <p:spPr>
          <a:xfrm>
            <a:off x="3474720" y="3246120"/>
            <a:ext cx="566928" cy="566928"/>
          </a:xfrm>
          <a:prstGeom prst="rect">
            <a:avLst/>
          </a:prstGeom>
          <a:noFill/>
          <a:ln/>
        </p:spPr>
        <p:txBody>
          <a:bodyPr wrap="square" lIns="0" tIns="0" rIns="0" bIns="0" rtlCol="0" anchor="ctr"/>
          <a:lstStyle/>
          <a:p>
            <a:pPr marL="0" indent="0" algn="ctr">
              <a:buNone/>
            </a:pPr>
            <a:r>
              <a:rPr lang="en-US" sz="1800" b="1" dirty="0">
                <a:solidFill>
                  <a:srgbClr val="0A1628"/>
                </a:solidFill>
              </a:rPr>
              <a:t>5</a:t>
            </a:r>
            <a:endParaRPr lang="en-US" sz="1800" dirty="0"/>
          </a:p>
        </p:txBody>
      </p:sp>
      <p:sp>
        <p:nvSpPr>
          <p:cNvPr id="28" name="Text 26"/>
          <p:cNvSpPr/>
          <p:nvPr/>
        </p:nvSpPr>
        <p:spPr>
          <a:xfrm>
            <a:off x="4142232" y="3246120"/>
            <a:ext cx="1874520" cy="457200"/>
          </a:xfrm>
          <a:prstGeom prst="rect">
            <a:avLst/>
          </a:prstGeom>
          <a:noFill/>
          <a:ln/>
        </p:spPr>
        <p:txBody>
          <a:bodyPr wrap="square" lIns="0" tIns="0" rIns="0" bIns="0" rtlCol="0" anchor="ctr"/>
          <a:lstStyle/>
          <a:p>
            <a:pPr marL="0" indent="0">
              <a:buNone/>
            </a:pPr>
            <a:r>
              <a:rPr lang="en-US" sz="1300" b="1" dirty="0">
                <a:solidFill>
                  <a:srgbClr val="FF6B35"/>
                </a:solidFill>
              </a:rPr>
              <a:t>Set Safety Rules</a:t>
            </a:r>
            <a:endParaRPr lang="en-US" sz="1300" dirty="0"/>
          </a:p>
        </p:txBody>
      </p:sp>
      <p:sp>
        <p:nvSpPr>
          <p:cNvPr id="29" name="Text 27"/>
          <p:cNvSpPr/>
          <p:nvPr/>
        </p:nvSpPr>
        <p:spPr>
          <a:xfrm>
            <a:off x="3474720" y="3849624"/>
            <a:ext cx="2542032" cy="82296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Define boundaries. What should it NOT do?</a:t>
            </a:r>
            <a:endParaRPr lang="en-US" sz="1050" dirty="0"/>
          </a:p>
          <a:p>
            <a:pPr marL="0" indent="0">
              <a:buNone/>
            </a:pPr>
            <a:r>
              <a:rPr lang="en-US" sz="1050" dirty="0">
                <a:solidFill>
                  <a:srgbClr val="B0BEC5"/>
                </a:solidFill>
                <a:latin typeface="Calibri" pitchFamily="34" charset="0"/>
                <a:ea typeface="Calibri" pitchFamily="34" charset="-122"/>
                <a:cs typeface="Calibri" pitchFamily="34" charset="-120"/>
              </a:rPr>
              <a:t>Always have a human review loop for risky tasks.</a:t>
            </a:r>
            <a:endParaRPr lang="en-US" sz="1050" dirty="0"/>
          </a:p>
        </p:txBody>
      </p:sp>
      <p:sp>
        <p:nvSpPr>
          <p:cNvPr id="30" name="Shape 28"/>
          <p:cNvSpPr/>
          <p:nvPr/>
        </p:nvSpPr>
        <p:spPr>
          <a:xfrm>
            <a:off x="6272784" y="3136392"/>
            <a:ext cx="2743200" cy="164592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31" name="Shape 29"/>
          <p:cNvSpPr/>
          <p:nvPr/>
        </p:nvSpPr>
        <p:spPr>
          <a:xfrm>
            <a:off x="6382512" y="3246120"/>
            <a:ext cx="566928" cy="566928"/>
          </a:xfrm>
          <a:prstGeom prst="ellipse">
            <a:avLst/>
          </a:prstGeom>
          <a:solidFill>
            <a:srgbClr val="0096C7"/>
          </a:solidFill>
          <a:ln/>
        </p:spPr>
      </p:sp>
      <p:sp>
        <p:nvSpPr>
          <p:cNvPr id="32" name="Text 30"/>
          <p:cNvSpPr/>
          <p:nvPr/>
        </p:nvSpPr>
        <p:spPr>
          <a:xfrm>
            <a:off x="6382512" y="3246120"/>
            <a:ext cx="566928" cy="566928"/>
          </a:xfrm>
          <a:prstGeom prst="rect">
            <a:avLst/>
          </a:prstGeom>
          <a:noFill/>
          <a:ln/>
        </p:spPr>
        <p:txBody>
          <a:bodyPr wrap="square" lIns="0" tIns="0" rIns="0" bIns="0" rtlCol="0" anchor="ctr"/>
          <a:lstStyle/>
          <a:p>
            <a:pPr marL="0" indent="0" algn="ctr">
              <a:buNone/>
            </a:pPr>
            <a:r>
              <a:rPr lang="en-US" sz="1800" b="1" dirty="0">
                <a:solidFill>
                  <a:srgbClr val="0A1628"/>
                </a:solidFill>
              </a:rPr>
              <a:t>6</a:t>
            </a:r>
            <a:endParaRPr lang="en-US" sz="1800" dirty="0"/>
          </a:p>
        </p:txBody>
      </p:sp>
      <p:sp>
        <p:nvSpPr>
          <p:cNvPr id="33" name="Text 31"/>
          <p:cNvSpPr/>
          <p:nvPr/>
        </p:nvSpPr>
        <p:spPr>
          <a:xfrm>
            <a:off x="7050024" y="3246120"/>
            <a:ext cx="1874520" cy="457200"/>
          </a:xfrm>
          <a:prstGeom prst="rect">
            <a:avLst/>
          </a:prstGeom>
          <a:noFill/>
          <a:ln/>
        </p:spPr>
        <p:txBody>
          <a:bodyPr wrap="square" lIns="0" tIns="0" rIns="0" bIns="0" rtlCol="0" anchor="ctr"/>
          <a:lstStyle/>
          <a:p>
            <a:pPr marL="0" indent="0">
              <a:buNone/>
            </a:pPr>
            <a:r>
              <a:rPr lang="en-US" sz="1300" b="1" dirty="0">
                <a:solidFill>
                  <a:srgbClr val="0096C7"/>
                </a:solidFill>
              </a:rPr>
              <a:t>Test &amp; Improve</a:t>
            </a:r>
            <a:endParaRPr lang="en-US" sz="1300" dirty="0"/>
          </a:p>
        </p:txBody>
      </p:sp>
      <p:sp>
        <p:nvSpPr>
          <p:cNvPr id="34" name="Text 32"/>
          <p:cNvSpPr/>
          <p:nvPr/>
        </p:nvSpPr>
        <p:spPr>
          <a:xfrm>
            <a:off x="6382512" y="3849624"/>
            <a:ext cx="2542032" cy="822960"/>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Run real scenarios. Catch mistakes early.</a:t>
            </a:r>
            <a:endParaRPr lang="en-US" sz="1050" dirty="0"/>
          </a:p>
          <a:p>
            <a:pPr marL="0" indent="0">
              <a:buNone/>
            </a:pPr>
            <a:r>
              <a:rPr lang="en-US" sz="1050" dirty="0">
                <a:solidFill>
                  <a:srgbClr val="B0BEC5"/>
                </a:solidFill>
                <a:latin typeface="Calibri" pitchFamily="34" charset="0"/>
                <a:ea typeface="Calibri" pitchFamily="34" charset="-122"/>
                <a:cs typeface="Calibri" pitchFamily="34" charset="-120"/>
              </a:rPr>
              <a:t>Iterate based on real-world performance.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7C3AED"/>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FRAMEWORKS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Popular AI Agent Frameworks</a:t>
            </a:r>
            <a:endParaRPr lang="en-US" sz="3200" dirty="0"/>
          </a:p>
        </p:txBody>
      </p:sp>
      <p:sp>
        <p:nvSpPr>
          <p:cNvPr id="5" name="Shape 3"/>
          <p:cNvSpPr/>
          <p:nvPr/>
        </p:nvSpPr>
        <p:spPr>
          <a:xfrm>
            <a:off x="457200" y="1325880"/>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6" name="Text 4"/>
          <p:cNvSpPr/>
          <p:nvPr/>
        </p:nvSpPr>
        <p:spPr>
          <a:xfrm>
            <a:off x="566928" y="1508760"/>
            <a:ext cx="640080"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1280160" y="1417320"/>
            <a:ext cx="2011680" cy="411480"/>
          </a:xfrm>
          <a:prstGeom prst="rect">
            <a:avLst/>
          </a:prstGeom>
          <a:noFill/>
          <a:ln/>
        </p:spPr>
        <p:txBody>
          <a:bodyPr wrap="square" lIns="0" tIns="0" rIns="0" bIns="0" rtlCol="0" anchor="ctr"/>
          <a:lstStyle/>
          <a:p>
            <a:pPr marL="0" indent="0">
              <a:buNone/>
            </a:pPr>
            <a:r>
              <a:rPr lang="en-US" sz="1500" b="1" dirty="0">
                <a:solidFill>
                  <a:srgbClr val="00B4D8"/>
                </a:solidFill>
              </a:rPr>
              <a:t>LangChain</a:t>
            </a:r>
            <a:endParaRPr lang="en-US" sz="1500" dirty="0"/>
          </a:p>
        </p:txBody>
      </p:sp>
      <p:sp>
        <p:nvSpPr>
          <p:cNvPr id="8" name="Shape 6"/>
          <p:cNvSpPr/>
          <p:nvPr/>
        </p:nvSpPr>
        <p:spPr>
          <a:xfrm>
            <a:off x="3291840" y="1490472"/>
            <a:ext cx="1115568" cy="256032"/>
          </a:xfrm>
          <a:prstGeom prst="roundRect">
            <a:avLst>
              <a:gd name="adj" fmla="val 21429"/>
            </a:avLst>
          </a:prstGeom>
          <a:solidFill>
            <a:srgbClr val="00C896">
              <a:alpha val="70000"/>
            </a:srgbClr>
          </a:solidFill>
          <a:ln/>
        </p:spPr>
      </p:sp>
      <p:sp>
        <p:nvSpPr>
          <p:cNvPr id="9" name="Text 7"/>
          <p:cNvSpPr/>
          <p:nvPr/>
        </p:nvSpPr>
        <p:spPr>
          <a:xfrm>
            <a:off x="3291840" y="1490472"/>
            <a:ext cx="1115568" cy="256032"/>
          </a:xfrm>
          <a:prstGeom prst="rect">
            <a:avLst/>
          </a:prstGeom>
          <a:noFill/>
          <a:ln/>
        </p:spPr>
        <p:txBody>
          <a:bodyPr wrap="square" lIns="0" tIns="0" rIns="0" bIns="0" rtlCol="0" anchor="ctr"/>
          <a:lstStyle/>
          <a:p>
            <a:pPr marL="0" indent="0" algn="ctr">
              <a:buNone/>
            </a:pPr>
            <a:r>
              <a:rPr lang="en-US" sz="900" b="1" dirty="0">
                <a:solidFill>
                  <a:srgbClr val="0A1628"/>
                </a:solidFill>
              </a:rPr>
              <a:t>Beginner</a:t>
            </a:r>
            <a:endParaRPr lang="en-US" sz="900" dirty="0"/>
          </a:p>
        </p:txBody>
      </p:sp>
      <p:sp>
        <p:nvSpPr>
          <p:cNvPr id="10" name="Text 8"/>
          <p:cNvSpPr/>
          <p:nvPr/>
        </p:nvSpPr>
        <p:spPr>
          <a:xfrm>
            <a:off x="1280160" y="1856232"/>
            <a:ext cx="3182112" cy="502920"/>
          </a:xfrm>
          <a:prstGeom prst="rect">
            <a:avLst/>
          </a:prstGeom>
          <a:noFill/>
          <a:ln/>
        </p:spPr>
        <p:txBody>
          <a:bodyPr wrap="square" lIns="0" tIns="0" rIns="0" bIns="0" rtlCol="0" anchor="t"/>
          <a:lstStyle/>
          <a:p>
            <a:pPr marL="0" indent="0">
              <a:buNone/>
            </a:pPr>
            <a:r>
              <a:rPr lang="en-US" sz="1050" dirty="0">
                <a:solidFill>
                  <a:srgbClr val="B0BEC5"/>
                </a:solidFill>
                <a:latin typeface="Calibri" pitchFamily="34" charset="0"/>
                <a:ea typeface="Calibri" pitchFamily="34" charset="-122"/>
                <a:cs typeface="Calibri" pitchFamily="34" charset="-120"/>
              </a:rPr>
              <a:t>Most popular framework. Easy to build agents with memory, tools, and chains.</a:t>
            </a:r>
            <a:endParaRPr lang="en-US" sz="1050" dirty="0"/>
          </a:p>
        </p:txBody>
      </p:sp>
      <p:sp>
        <p:nvSpPr>
          <p:cNvPr id="11" name="Shape 9"/>
          <p:cNvSpPr/>
          <p:nvPr/>
        </p:nvSpPr>
        <p:spPr>
          <a:xfrm>
            <a:off x="4828032" y="1325880"/>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2" name="Text 10"/>
          <p:cNvSpPr/>
          <p:nvPr/>
        </p:nvSpPr>
        <p:spPr>
          <a:xfrm>
            <a:off x="4937760" y="1508760"/>
            <a:ext cx="640080"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5650992" y="1417320"/>
            <a:ext cx="2011680" cy="411480"/>
          </a:xfrm>
          <a:prstGeom prst="rect">
            <a:avLst/>
          </a:prstGeom>
          <a:noFill/>
          <a:ln/>
        </p:spPr>
        <p:txBody>
          <a:bodyPr wrap="square" lIns="0" tIns="0" rIns="0" bIns="0" rtlCol="0" anchor="ctr"/>
          <a:lstStyle/>
          <a:p>
            <a:pPr marL="0" indent="0">
              <a:buNone/>
            </a:pPr>
            <a:r>
              <a:rPr lang="en-US" sz="1500" b="1" dirty="0">
                <a:solidFill>
                  <a:srgbClr val="00C896"/>
                </a:solidFill>
              </a:rPr>
              <a:t>LangGraph</a:t>
            </a:r>
            <a:endParaRPr lang="en-US" sz="1500" dirty="0"/>
          </a:p>
        </p:txBody>
      </p:sp>
      <p:sp>
        <p:nvSpPr>
          <p:cNvPr id="14" name="Shape 12"/>
          <p:cNvSpPr/>
          <p:nvPr/>
        </p:nvSpPr>
        <p:spPr>
          <a:xfrm>
            <a:off x="7662672" y="1490472"/>
            <a:ext cx="1115568" cy="256032"/>
          </a:xfrm>
          <a:prstGeom prst="roundRect">
            <a:avLst>
              <a:gd name="adj" fmla="val 21429"/>
            </a:avLst>
          </a:prstGeom>
          <a:solidFill>
            <a:srgbClr val="FFD166">
              <a:alpha val="70000"/>
            </a:srgbClr>
          </a:solidFill>
          <a:ln/>
        </p:spPr>
      </p:sp>
      <p:sp>
        <p:nvSpPr>
          <p:cNvPr id="15" name="Text 13"/>
          <p:cNvSpPr/>
          <p:nvPr/>
        </p:nvSpPr>
        <p:spPr>
          <a:xfrm>
            <a:off x="7662672" y="1490472"/>
            <a:ext cx="1115568" cy="256032"/>
          </a:xfrm>
          <a:prstGeom prst="rect">
            <a:avLst/>
          </a:prstGeom>
          <a:noFill/>
          <a:ln/>
        </p:spPr>
        <p:txBody>
          <a:bodyPr wrap="square" lIns="0" tIns="0" rIns="0" bIns="0" rtlCol="0" anchor="ctr"/>
          <a:lstStyle/>
          <a:p>
            <a:pPr marL="0" indent="0" algn="ctr">
              <a:buNone/>
            </a:pPr>
            <a:r>
              <a:rPr lang="en-US" sz="900" b="1" dirty="0">
                <a:solidFill>
                  <a:srgbClr val="0A1628"/>
                </a:solidFill>
              </a:rPr>
              <a:t>Intermediate</a:t>
            </a:r>
            <a:endParaRPr lang="en-US" sz="900" dirty="0"/>
          </a:p>
        </p:txBody>
      </p:sp>
      <p:sp>
        <p:nvSpPr>
          <p:cNvPr id="16" name="Text 14"/>
          <p:cNvSpPr/>
          <p:nvPr/>
        </p:nvSpPr>
        <p:spPr>
          <a:xfrm>
            <a:off x="5650992" y="1856232"/>
            <a:ext cx="3182112" cy="502920"/>
          </a:xfrm>
          <a:prstGeom prst="rect">
            <a:avLst/>
          </a:prstGeom>
          <a:noFill/>
          <a:ln/>
        </p:spPr>
        <p:txBody>
          <a:bodyPr wrap="square" lIns="0" tIns="0" rIns="0" bIns="0" rtlCol="0" anchor="t"/>
          <a:lstStyle/>
          <a:p>
            <a:pPr marL="0" indent="0">
              <a:buNone/>
            </a:pPr>
            <a:r>
              <a:rPr lang="en-US" sz="1050" dirty="0">
                <a:solidFill>
                  <a:srgbClr val="B0BEC5"/>
                </a:solidFill>
                <a:latin typeface="Calibri" pitchFamily="34" charset="0"/>
                <a:ea typeface="Calibri" pitchFamily="34" charset="-122"/>
                <a:cs typeface="Calibri" pitchFamily="34" charset="-120"/>
              </a:rPr>
              <a:t>Graph-based agent workflows. Great for complex, multi-step agent logic.</a:t>
            </a:r>
            <a:endParaRPr lang="en-US" sz="1050" dirty="0"/>
          </a:p>
        </p:txBody>
      </p:sp>
      <p:sp>
        <p:nvSpPr>
          <p:cNvPr id="17" name="Shape 15"/>
          <p:cNvSpPr/>
          <p:nvPr/>
        </p:nvSpPr>
        <p:spPr>
          <a:xfrm>
            <a:off x="457200" y="2587752"/>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8" name="Text 16"/>
          <p:cNvSpPr/>
          <p:nvPr/>
        </p:nvSpPr>
        <p:spPr>
          <a:xfrm>
            <a:off x="566928" y="2770632"/>
            <a:ext cx="640080"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9" name="Text 17"/>
          <p:cNvSpPr/>
          <p:nvPr/>
        </p:nvSpPr>
        <p:spPr>
          <a:xfrm>
            <a:off x="1280160" y="2679192"/>
            <a:ext cx="2011680" cy="411480"/>
          </a:xfrm>
          <a:prstGeom prst="rect">
            <a:avLst/>
          </a:prstGeom>
          <a:noFill/>
          <a:ln/>
        </p:spPr>
        <p:txBody>
          <a:bodyPr wrap="square" lIns="0" tIns="0" rIns="0" bIns="0" rtlCol="0" anchor="ctr"/>
          <a:lstStyle/>
          <a:p>
            <a:pPr marL="0" indent="0">
              <a:buNone/>
            </a:pPr>
            <a:r>
              <a:rPr lang="en-US" sz="1500" b="1" dirty="0">
                <a:solidFill>
                  <a:srgbClr val="7C3AED"/>
                </a:solidFill>
              </a:rPr>
              <a:t>AutoGen</a:t>
            </a:r>
            <a:endParaRPr lang="en-US" sz="1500" dirty="0"/>
          </a:p>
        </p:txBody>
      </p:sp>
      <p:sp>
        <p:nvSpPr>
          <p:cNvPr id="20" name="Shape 18"/>
          <p:cNvSpPr/>
          <p:nvPr/>
        </p:nvSpPr>
        <p:spPr>
          <a:xfrm>
            <a:off x="3291840" y="2752344"/>
            <a:ext cx="1115568" cy="256032"/>
          </a:xfrm>
          <a:prstGeom prst="roundRect">
            <a:avLst>
              <a:gd name="adj" fmla="val 21429"/>
            </a:avLst>
          </a:prstGeom>
          <a:solidFill>
            <a:srgbClr val="FFD166">
              <a:alpha val="70000"/>
            </a:srgbClr>
          </a:solidFill>
          <a:ln/>
        </p:spPr>
      </p:sp>
      <p:sp>
        <p:nvSpPr>
          <p:cNvPr id="21" name="Text 19"/>
          <p:cNvSpPr/>
          <p:nvPr/>
        </p:nvSpPr>
        <p:spPr>
          <a:xfrm>
            <a:off x="3291840" y="2752344"/>
            <a:ext cx="1115568" cy="256032"/>
          </a:xfrm>
          <a:prstGeom prst="rect">
            <a:avLst/>
          </a:prstGeom>
          <a:noFill/>
          <a:ln/>
        </p:spPr>
        <p:txBody>
          <a:bodyPr wrap="square" lIns="0" tIns="0" rIns="0" bIns="0" rtlCol="0" anchor="ctr"/>
          <a:lstStyle/>
          <a:p>
            <a:pPr marL="0" indent="0" algn="ctr">
              <a:buNone/>
            </a:pPr>
            <a:r>
              <a:rPr lang="en-US" sz="900" b="1" dirty="0">
                <a:solidFill>
                  <a:srgbClr val="0A1628"/>
                </a:solidFill>
              </a:rPr>
              <a:t>Intermediate</a:t>
            </a:r>
            <a:endParaRPr lang="en-US" sz="900" dirty="0"/>
          </a:p>
        </p:txBody>
      </p:sp>
      <p:sp>
        <p:nvSpPr>
          <p:cNvPr id="22" name="Text 20"/>
          <p:cNvSpPr/>
          <p:nvPr/>
        </p:nvSpPr>
        <p:spPr>
          <a:xfrm>
            <a:off x="1280160" y="3118104"/>
            <a:ext cx="3182112" cy="502920"/>
          </a:xfrm>
          <a:prstGeom prst="rect">
            <a:avLst/>
          </a:prstGeom>
          <a:noFill/>
          <a:ln/>
        </p:spPr>
        <p:txBody>
          <a:bodyPr wrap="square" lIns="0" tIns="0" rIns="0" bIns="0" rtlCol="0" anchor="t"/>
          <a:lstStyle/>
          <a:p>
            <a:pPr marL="0" indent="0">
              <a:buNone/>
            </a:pPr>
            <a:r>
              <a:rPr lang="en-US" sz="1050" dirty="0">
                <a:solidFill>
                  <a:srgbClr val="B0BEC5"/>
                </a:solidFill>
                <a:latin typeface="Calibri" pitchFamily="34" charset="0"/>
                <a:ea typeface="Calibri" pitchFamily="34" charset="-122"/>
                <a:cs typeface="Calibri" pitchFamily="34" charset="-120"/>
              </a:rPr>
              <a:t>Microsoft's multi-agent framework. Agents converse with each other to solve problems.</a:t>
            </a:r>
            <a:endParaRPr lang="en-US" sz="1050" dirty="0"/>
          </a:p>
        </p:txBody>
      </p:sp>
      <p:sp>
        <p:nvSpPr>
          <p:cNvPr id="23" name="Shape 21"/>
          <p:cNvSpPr/>
          <p:nvPr/>
        </p:nvSpPr>
        <p:spPr>
          <a:xfrm>
            <a:off x="4828032" y="2587752"/>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4" name="Text 22"/>
          <p:cNvSpPr/>
          <p:nvPr/>
        </p:nvSpPr>
        <p:spPr>
          <a:xfrm>
            <a:off x="4937760" y="2770632"/>
            <a:ext cx="640080"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5" name="Text 23"/>
          <p:cNvSpPr/>
          <p:nvPr/>
        </p:nvSpPr>
        <p:spPr>
          <a:xfrm>
            <a:off x="5650992" y="2679192"/>
            <a:ext cx="2011680" cy="411480"/>
          </a:xfrm>
          <a:prstGeom prst="rect">
            <a:avLst/>
          </a:prstGeom>
          <a:noFill/>
          <a:ln/>
        </p:spPr>
        <p:txBody>
          <a:bodyPr wrap="square" lIns="0" tIns="0" rIns="0" bIns="0" rtlCol="0" anchor="ctr"/>
          <a:lstStyle/>
          <a:p>
            <a:pPr marL="0" indent="0">
              <a:buNone/>
            </a:pPr>
            <a:r>
              <a:rPr lang="en-US" sz="1500" b="1" dirty="0">
                <a:solidFill>
                  <a:srgbClr val="FF6B35"/>
                </a:solidFill>
              </a:rPr>
              <a:t>CrewAI</a:t>
            </a:r>
            <a:endParaRPr lang="en-US" sz="1500" dirty="0"/>
          </a:p>
        </p:txBody>
      </p:sp>
      <p:sp>
        <p:nvSpPr>
          <p:cNvPr id="26" name="Shape 24"/>
          <p:cNvSpPr/>
          <p:nvPr/>
        </p:nvSpPr>
        <p:spPr>
          <a:xfrm>
            <a:off x="7662672" y="2752344"/>
            <a:ext cx="1115568" cy="256032"/>
          </a:xfrm>
          <a:prstGeom prst="roundRect">
            <a:avLst>
              <a:gd name="adj" fmla="val 21429"/>
            </a:avLst>
          </a:prstGeom>
          <a:solidFill>
            <a:srgbClr val="FFD166">
              <a:alpha val="70000"/>
            </a:srgbClr>
          </a:solidFill>
          <a:ln/>
        </p:spPr>
      </p:sp>
      <p:sp>
        <p:nvSpPr>
          <p:cNvPr id="27" name="Text 25"/>
          <p:cNvSpPr/>
          <p:nvPr/>
        </p:nvSpPr>
        <p:spPr>
          <a:xfrm>
            <a:off x="7662672" y="2752344"/>
            <a:ext cx="1115568" cy="256032"/>
          </a:xfrm>
          <a:prstGeom prst="rect">
            <a:avLst/>
          </a:prstGeom>
          <a:noFill/>
          <a:ln/>
        </p:spPr>
        <p:txBody>
          <a:bodyPr wrap="square" lIns="0" tIns="0" rIns="0" bIns="0" rtlCol="0" anchor="ctr"/>
          <a:lstStyle/>
          <a:p>
            <a:pPr marL="0" indent="0" algn="ctr">
              <a:buNone/>
            </a:pPr>
            <a:r>
              <a:rPr lang="en-US" sz="900" b="1" dirty="0">
                <a:solidFill>
                  <a:srgbClr val="0A1628"/>
                </a:solidFill>
              </a:rPr>
              <a:t>Intermediate</a:t>
            </a:r>
            <a:endParaRPr lang="en-US" sz="900" dirty="0"/>
          </a:p>
        </p:txBody>
      </p:sp>
      <p:sp>
        <p:nvSpPr>
          <p:cNvPr id="28" name="Text 26"/>
          <p:cNvSpPr/>
          <p:nvPr/>
        </p:nvSpPr>
        <p:spPr>
          <a:xfrm>
            <a:off x="5650992" y="3118104"/>
            <a:ext cx="3182112" cy="502920"/>
          </a:xfrm>
          <a:prstGeom prst="rect">
            <a:avLst/>
          </a:prstGeom>
          <a:noFill/>
          <a:ln/>
        </p:spPr>
        <p:txBody>
          <a:bodyPr wrap="square" lIns="0" tIns="0" rIns="0" bIns="0" rtlCol="0" anchor="t"/>
          <a:lstStyle/>
          <a:p>
            <a:pPr marL="0" indent="0">
              <a:buNone/>
            </a:pPr>
            <a:r>
              <a:rPr lang="en-US" sz="1050" dirty="0">
                <a:solidFill>
                  <a:srgbClr val="B0BEC5"/>
                </a:solidFill>
                <a:latin typeface="Calibri" pitchFamily="34" charset="0"/>
                <a:ea typeface="Calibri" pitchFamily="34" charset="-122"/>
                <a:cs typeface="Calibri" pitchFamily="34" charset="-120"/>
              </a:rPr>
              <a:t>Build teams of AI agents. Each agent has a role, goal, and backstory.</a:t>
            </a:r>
            <a:endParaRPr lang="en-US" sz="1050" dirty="0"/>
          </a:p>
        </p:txBody>
      </p:sp>
      <p:sp>
        <p:nvSpPr>
          <p:cNvPr id="29" name="Shape 27"/>
          <p:cNvSpPr/>
          <p:nvPr/>
        </p:nvSpPr>
        <p:spPr>
          <a:xfrm>
            <a:off x="457200" y="3849624"/>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30" name="Text 28"/>
          <p:cNvSpPr/>
          <p:nvPr/>
        </p:nvSpPr>
        <p:spPr>
          <a:xfrm>
            <a:off x="566928" y="4032504"/>
            <a:ext cx="640080"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1" name="Text 29"/>
          <p:cNvSpPr/>
          <p:nvPr/>
        </p:nvSpPr>
        <p:spPr>
          <a:xfrm>
            <a:off x="1280160" y="3941064"/>
            <a:ext cx="2011680" cy="411480"/>
          </a:xfrm>
          <a:prstGeom prst="rect">
            <a:avLst/>
          </a:prstGeom>
          <a:noFill/>
          <a:ln/>
        </p:spPr>
        <p:txBody>
          <a:bodyPr wrap="square" lIns="0" tIns="0" rIns="0" bIns="0" rtlCol="0" anchor="ctr"/>
          <a:lstStyle/>
          <a:p>
            <a:pPr marL="0" indent="0">
              <a:buNone/>
            </a:pPr>
            <a:r>
              <a:rPr lang="en-US" sz="1500" b="1" dirty="0">
                <a:solidFill>
                  <a:srgbClr val="0096C7"/>
                </a:solidFill>
              </a:rPr>
              <a:t>Semantic Kernel</a:t>
            </a:r>
            <a:endParaRPr lang="en-US" sz="1500" dirty="0"/>
          </a:p>
        </p:txBody>
      </p:sp>
      <p:sp>
        <p:nvSpPr>
          <p:cNvPr id="32" name="Shape 30"/>
          <p:cNvSpPr/>
          <p:nvPr/>
        </p:nvSpPr>
        <p:spPr>
          <a:xfrm>
            <a:off x="3291840" y="4014216"/>
            <a:ext cx="1115568" cy="256032"/>
          </a:xfrm>
          <a:prstGeom prst="roundRect">
            <a:avLst>
              <a:gd name="adj" fmla="val 21429"/>
            </a:avLst>
          </a:prstGeom>
          <a:solidFill>
            <a:srgbClr val="FF6B35">
              <a:alpha val="70000"/>
            </a:srgbClr>
          </a:solidFill>
          <a:ln/>
        </p:spPr>
      </p:sp>
      <p:sp>
        <p:nvSpPr>
          <p:cNvPr id="33" name="Text 31"/>
          <p:cNvSpPr/>
          <p:nvPr/>
        </p:nvSpPr>
        <p:spPr>
          <a:xfrm>
            <a:off x="3291840" y="4014216"/>
            <a:ext cx="1115568" cy="256032"/>
          </a:xfrm>
          <a:prstGeom prst="rect">
            <a:avLst/>
          </a:prstGeom>
          <a:noFill/>
          <a:ln/>
        </p:spPr>
        <p:txBody>
          <a:bodyPr wrap="square" lIns="0" tIns="0" rIns="0" bIns="0" rtlCol="0" anchor="ctr"/>
          <a:lstStyle/>
          <a:p>
            <a:pPr marL="0" indent="0" algn="ctr">
              <a:buNone/>
            </a:pPr>
            <a:r>
              <a:rPr lang="en-US" sz="900" b="1" dirty="0">
                <a:solidFill>
                  <a:srgbClr val="0A1628"/>
                </a:solidFill>
              </a:rPr>
              <a:t>Advanced</a:t>
            </a:r>
            <a:endParaRPr lang="en-US" sz="900" dirty="0"/>
          </a:p>
        </p:txBody>
      </p:sp>
      <p:sp>
        <p:nvSpPr>
          <p:cNvPr id="34" name="Text 32"/>
          <p:cNvSpPr/>
          <p:nvPr/>
        </p:nvSpPr>
        <p:spPr>
          <a:xfrm>
            <a:off x="1280160" y="4379976"/>
            <a:ext cx="3182112" cy="502920"/>
          </a:xfrm>
          <a:prstGeom prst="rect">
            <a:avLst/>
          </a:prstGeom>
          <a:noFill/>
          <a:ln/>
        </p:spPr>
        <p:txBody>
          <a:bodyPr wrap="square" lIns="0" tIns="0" rIns="0" bIns="0" rtlCol="0" anchor="t"/>
          <a:lstStyle/>
          <a:p>
            <a:pPr marL="0" indent="0">
              <a:buNone/>
            </a:pPr>
            <a:r>
              <a:rPr lang="en-US" sz="1050" dirty="0">
                <a:solidFill>
                  <a:srgbClr val="B0BEC5"/>
                </a:solidFill>
                <a:latin typeface="Calibri" pitchFamily="34" charset="0"/>
                <a:ea typeface="Calibri" pitchFamily="34" charset="-122"/>
                <a:cs typeface="Calibri" pitchFamily="34" charset="-120"/>
              </a:rPr>
              <a:t>Microsoft's enterprise-grade SDK for building production AI agent applications.</a:t>
            </a:r>
            <a:endParaRPr lang="en-US" sz="1050" dirty="0"/>
          </a:p>
        </p:txBody>
      </p:sp>
      <p:sp>
        <p:nvSpPr>
          <p:cNvPr id="35" name="Shape 33"/>
          <p:cNvSpPr/>
          <p:nvPr/>
        </p:nvSpPr>
        <p:spPr>
          <a:xfrm>
            <a:off x="4828032" y="3849624"/>
            <a:ext cx="4114800" cy="111556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36" name="Text 34"/>
          <p:cNvSpPr/>
          <p:nvPr/>
        </p:nvSpPr>
        <p:spPr>
          <a:xfrm>
            <a:off x="4937760" y="4032504"/>
            <a:ext cx="640080"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7" name="Text 35"/>
          <p:cNvSpPr/>
          <p:nvPr/>
        </p:nvSpPr>
        <p:spPr>
          <a:xfrm>
            <a:off x="5650992" y="3941064"/>
            <a:ext cx="2011680" cy="411480"/>
          </a:xfrm>
          <a:prstGeom prst="rect">
            <a:avLst/>
          </a:prstGeom>
          <a:noFill/>
          <a:ln/>
        </p:spPr>
        <p:txBody>
          <a:bodyPr wrap="square" lIns="0" tIns="0" rIns="0" bIns="0" rtlCol="0" anchor="ctr"/>
          <a:lstStyle/>
          <a:p>
            <a:pPr marL="0" indent="0">
              <a:buNone/>
            </a:pPr>
            <a:r>
              <a:rPr lang="en-US" sz="1500" b="1" dirty="0">
                <a:solidFill>
                  <a:srgbClr val="FFD166"/>
                </a:solidFill>
              </a:rPr>
              <a:t>AgentKit</a:t>
            </a:r>
            <a:endParaRPr lang="en-US" sz="1500" dirty="0"/>
          </a:p>
        </p:txBody>
      </p:sp>
      <p:sp>
        <p:nvSpPr>
          <p:cNvPr id="38" name="Shape 36"/>
          <p:cNvSpPr/>
          <p:nvPr/>
        </p:nvSpPr>
        <p:spPr>
          <a:xfrm>
            <a:off x="7662672" y="4014216"/>
            <a:ext cx="1115568" cy="256032"/>
          </a:xfrm>
          <a:prstGeom prst="roundRect">
            <a:avLst>
              <a:gd name="adj" fmla="val 21429"/>
            </a:avLst>
          </a:prstGeom>
          <a:solidFill>
            <a:srgbClr val="00C896">
              <a:alpha val="70000"/>
            </a:srgbClr>
          </a:solidFill>
          <a:ln/>
        </p:spPr>
      </p:sp>
      <p:sp>
        <p:nvSpPr>
          <p:cNvPr id="39" name="Text 37"/>
          <p:cNvSpPr/>
          <p:nvPr/>
        </p:nvSpPr>
        <p:spPr>
          <a:xfrm>
            <a:off x="7662672" y="4014216"/>
            <a:ext cx="1115568" cy="256032"/>
          </a:xfrm>
          <a:prstGeom prst="rect">
            <a:avLst/>
          </a:prstGeom>
          <a:noFill/>
          <a:ln/>
        </p:spPr>
        <p:txBody>
          <a:bodyPr wrap="square" lIns="0" tIns="0" rIns="0" bIns="0" rtlCol="0" anchor="ctr"/>
          <a:lstStyle/>
          <a:p>
            <a:pPr marL="0" indent="0" algn="ctr">
              <a:buNone/>
            </a:pPr>
            <a:r>
              <a:rPr lang="en-US" sz="900" b="1" dirty="0">
                <a:solidFill>
                  <a:srgbClr val="0A1628"/>
                </a:solidFill>
              </a:rPr>
              <a:t>Beginner</a:t>
            </a:r>
            <a:endParaRPr lang="en-US" sz="900" dirty="0"/>
          </a:p>
        </p:txBody>
      </p:sp>
      <p:sp>
        <p:nvSpPr>
          <p:cNvPr id="40" name="Text 38"/>
          <p:cNvSpPr/>
          <p:nvPr/>
        </p:nvSpPr>
        <p:spPr>
          <a:xfrm>
            <a:off x="5650992" y="4379976"/>
            <a:ext cx="3182112" cy="502920"/>
          </a:xfrm>
          <a:prstGeom prst="rect">
            <a:avLst/>
          </a:prstGeom>
          <a:noFill/>
          <a:ln/>
        </p:spPr>
        <p:txBody>
          <a:bodyPr wrap="square" lIns="0" tIns="0" rIns="0" bIns="0" rtlCol="0" anchor="t"/>
          <a:lstStyle/>
          <a:p>
            <a:pPr marL="0" indent="0">
              <a:buNone/>
            </a:pPr>
            <a:r>
              <a:rPr lang="en-US" sz="1050" dirty="0">
                <a:solidFill>
                  <a:srgbClr val="B0BEC5"/>
                </a:solidFill>
                <a:latin typeface="Calibri" pitchFamily="34" charset="0"/>
                <a:ea typeface="Calibri" pitchFamily="34" charset="-122"/>
                <a:cs typeface="Calibri" pitchFamily="34" charset="-120"/>
              </a:rPr>
              <a:t>Coinbase's framework for building crypto and web3 AI agents easily.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FFD16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FUTURE</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The Future of AI Agents</a:t>
            </a:r>
            <a:endParaRPr lang="en-US" sz="3200" dirty="0"/>
          </a:p>
        </p:txBody>
      </p:sp>
      <p:sp>
        <p:nvSpPr>
          <p:cNvPr id="5" name="Shape 3"/>
          <p:cNvSpPr/>
          <p:nvPr/>
        </p:nvSpPr>
        <p:spPr>
          <a:xfrm>
            <a:off x="4480560" y="1280160"/>
            <a:ext cx="54864" cy="3474720"/>
          </a:xfrm>
          <a:prstGeom prst="rect">
            <a:avLst/>
          </a:prstGeom>
          <a:solidFill>
            <a:srgbClr val="1565C0"/>
          </a:solidFill>
          <a:ln/>
        </p:spPr>
      </p:sp>
      <p:sp>
        <p:nvSpPr>
          <p:cNvPr id="6" name="Shape 4"/>
          <p:cNvSpPr/>
          <p:nvPr/>
        </p:nvSpPr>
        <p:spPr>
          <a:xfrm>
            <a:off x="4315968" y="1389888"/>
            <a:ext cx="219456" cy="219456"/>
          </a:xfrm>
          <a:prstGeom prst="ellipse">
            <a:avLst/>
          </a:prstGeom>
          <a:solidFill>
            <a:srgbClr val="00B4D8"/>
          </a:solidFill>
          <a:ln/>
        </p:spPr>
      </p:sp>
      <p:sp>
        <p:nvSpPr>
          <p:cNvPr id="7" name="Shape 5"/>
          <p:cNvSpPr/>
          <p:nvPr/>
        </p:nvSpPr>
        <p:spPr>
          <a:xfrm>
            <a:off x="457200" y="1280160"/>
            <a:ext cx="3840480" cy="74980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8" name="Shape 6"/>
          <p:cNvSpPr/>
          <p:nvPr/>
        </p:nvSpPr>
        <p:spPr>
          <a:xfrm>
            <a:off x="457200" y="1280160"/>
            <a:ext cx="3840480" cy="36576"/>
          </a:xfrm>
          <a:prstGeom prst="rect">
            <a:avLst/>
          </a:prstGeom>
          <a:solidFill>
            <a:srgbClr val="00B4D8"/>
          </a:solidFill>
          <a:ln/>
        </p:spPr>
      </p:sp>
      <p:sp>
        <p:nvSpPr>
          <p:cNvPr id="9" name="Text 7"/>
          <p:cNvSpPr/>
          <p:nvPr/>
        </p:nvSpPr>
        <p:spPr>
          <a:xfrm>
            <a:off x="566928" y="1335024"/>
            <a:ext cx="914400" cy="329184"/>
          </a:xfrm>
          <a:prstGeom prst="rect">
            <a:avLst/>
          </a:prstGeom>
          <a:noFill/>
          <a:ln/>
        </p:spPr>
        <p:txBody>
          <a:bodyPr wrap="square" lIns="0" tIns="0" rIns="0" bIns="0" rtlCol="0" anchor="ctr"/>
          <a:lstStyle/>
          <a:p>
            <a:pPr marL="0" indent="0">
              <a:buNone/>
            </a:pPr>
            <a:r>
              <a:rPr lang="en-US" sz="1200" b="1" dirty="0">
                <a:solidFill>
                  <a:srgbClr val="00B4D8"/>
                </a:solidFill>
              </a:rPr>
              <a:t>2024</a:t>
            </a:r>
            <a:endParaRPr lang="en-US" sz="1200" dirty="0"/>
          </a:p>
        </p:txBody>
      </p:sp>
      <p:sp>
        <p:nvSpPr>
          <p:cNvPr id="10" name="Text 8"/>
          <p:cNvSpPr/>
          <p:nvPr/>
        </p:nvSpPr>
        <p:spPr>
          <a:xfrm>
            <a:off x="1508760" y="1335024"/>
            <a:ext cx="2697480" cy="329184"/>
          </a:xfrm>
          <a:prstGeom prst="rect">
            <a:avLst/>
          </a:prstGeom>
          <a:noFill/>
          <a:ln/>
        </p:spPr>
        <p:txBody>
          <a:bodyPr wrap="square" lIns="0" tIns="0" rIns="0" bIns="0" rtlCol="0" anchor="ctr"/>
          <a:lstStyle/>
          <a:p>
            <a:pPr marL="0" indent="0">
              <a:buNone/>
            </a:pPr>
            <a:r>
              <a:rPr lang="en-US" sz="1300" b="1" dirty="0">
                <a:solidFill>
                  <a:srgbClr val="FFFFFF"/>
                </a:solidFill>
              </a:rPr>
              <a:t>Tool-using agents</a:t>
            </a:r>
            <a:endParaRPr lang="en-US" sz="1300" dirty="0"/>
          </a:p>
        </p:txBody>
      </p:sp>
      <p:sp>
        <p:nvSpPr>
          <p:cNvPr id="11" name="Text 9"/>
          <p:cNvSpPr/>
          <p:nvPr/>
        </p:nvSpPr>
        <p:spPr>
          <a:xfrm>
            <a:off x="566928" y="1691640"/>
            <a:ext cx="3657600" cy="274320"/>
          </a:xfrm>
          <a:prstGeom prst="rect">
            <a:avLst/>
          </a:prstGeom>
          <a:noFill/>
          <a:ln/>
        </p:spPr>
        <p:txBody>
          <a:bodyPr wrap="square" lIns="0" tIns="0" rIns="0" bIns="0" rtlCol="0" anchor="ctr"/>
          <a:lstStyle/>
          <a:p>
            <a:pPr marL="0" indent="0">
              <a:buNone/>
            </a:pPr>
            <a:r>
              <a:rPr lang="en-US" sz="1050" dirty="0">
                <a:solidFill>
                  <a:srgbClr val="B0BEC5"/>
                </a:solidFill>
              </a:rPr>
              <a:t>Agents browse web, run code, read files</a:t>
            </a:r>
            <a:endParaRPr lang="en-US" sz="1050" dirty="0"/>
          </a:p>
        </p:txBody>
      </p:sp>
      <p:sp>
        <p:nvSpPr>
          <p:cNvPr id="12" name="Shape 10"/>
          <p:cNvSpPr/>
          <p:nvPr/>
        </p:nvSpPr>
        <p:spPr>
          <a:xfrm>
            <a:off x="4425696" y="2276856"/>
            <a:ext cx="219456" cy="219456"/>
          </a:xfrm>
          <a:prstGeom prst="ellipse">
            <a:avLst/>
          </a:prstGeom>
          <a:solidFill>
            <a:srgbClr val="7C3AED"/>
          </a:solidFill>
          <a:ln/>
        </p:spPr>
      </p:sp>
      <p:sp>
        <p:nvSpPr>
          <p:cNvPr id="13" name="Shape 11"/>
          <p:cNvSpPr/>
          <p:nvPr/>
        </p:nvSpPr>
        <p:spPr>
          <a:xfrm>
            <a:off x="4937760" y="2167128"/>
            <a:ext cx="3840480" cy="74980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4" name="Shape 12"/>
          <p:cNvSpPr/>
          <p:nvPr/>
        </p:nvSpPr>
        <p:spPr>
          <a:xfrm>
            <a:off x="4937760" y="2167128"/>
            <a:ext cx="3840480" cy="36576"/>
          </a:xfrm>
          <a:prstGeom prst="rect">
            <a:avLst/>
          </a:prstGeom>
          <a:solidFill>
            <a:srgbClr val="7C3AED"/>
          </a:solidFill>
          <a:ln/>
        </p:spPr>
      </p:sp>
      <p:sp>
        <p:nvSpPr>
          <p:cNvPr id="15" name="Text 13"/>
          <p:cNvSpPr/>
          <p:nvPr/>
        </p:nvSpPr>
        <p:spPr>
          <a:xfrm>
            <a:off x="5047488" y="2221992"/>
            <a:ext cx="914400" cy="329184"/>
          </a:xfrm>
          <a:prstGeom prst="rect">
            <a:avLst/>
          </a:prstGeom>
          <a:noFill/>
          <a:ln/>
        </p:spPr>
        <p:txBody>
          <a:bodyPr wrap="square" lIns="0" tIns="0" rIns="0" bIns="0" rtlCol="0" anchor="ctr"/>
          <a:lstStyle/>
          <a:p>
            <a:pPr marL="0" indent="0">
              <a:buNone/>
            </a:pPr>
            <a:r>
              <a:rPr lang="en-US" sz="1200" b="1" dirty="0">
                <a:solidFill>
                  <a:srgbClr val="7C3AED"/>
                </a:solidFill>
              </a:rPr>
              <a:t>2025</a:t>
            </a:r>
            <a:endParaRPr lang="en-US" sz="1200" dirty="0"/>
          </a:p>
        </p:txBody>
      </p:sp>
      <p:sp>
        <p:nvSpPr>
          <p:cNvPr id="16" name="Text 14"/>
          <p:cNvSpPr/>
          <p:nvPr/>
        </p:nvSpPr>
        <p:spPr>
          <a:xfrm>
            <a:off x="5989320" y="2221992"/>
            <a:ext cx="2697480" cy="329184"/>
          </a:xfrm>
          <a:prstGeom prst="rect">
            <a:avLst/>
          </a:prstGeom>
          <a:noFill/>
          <a:ln/>
        </p:spPr>
        <p:txBody>
          <a:bodyPr wrap="square" lIns="0" tIns="0" rIns="0" bIns="0" rtlCol="0" anchor="ctr"/>
          <a:lstStyle/>
          <a:p>
            <a:pPr marL="0" indent="0">
              <a:buNone/>
            </a:pPr>
            <a:r>
              <a:rPr lang="en-US" sz="1300" b="1" dirty="0">
                <a:solidFill>
                  <a:srgbClr val="FFFFFF"/>
                </a:solidFill>
              </a:rPr>
              <a:t>Agentic workflows</a:t>
            </a:r>
            <a:endParaRPr lang="en-US" sz="1300" dirty="0"/>
          </a:p>
        </p:txBody>
      </p:sp>
      <p:sp>
        <p:nvSpPr>
          <p:cNvPr id="17" name="Text 15"/>
          <p:cNvSpPr/>
          <p:nvPr/>
        </p:nvSpPr>
        <p:spPr>
          <a:xfrm>
            <a:off x="5047488" y="2578608"/>
            <a:ext cx="3657600" cy="274320"/>
          </a:xfrm>
          <a:prstGeom prst="rect">
            <a:avLst/>
          </a:prstGeom>
          <a:noFill/>
          <a:ln/>
        </p:spPr>
        <p:txBody>
          <a:bodyPr wrap="square" lIns="0" tIns="0" rIns="0" bIns="0" rtlCol="0" anchor="ctr"/>
          <a:lstStyle/>
          <a:p>
            <a:pPr marL="0" indent="0">
              <a:buNone/>
            </a:pPr>
            <a:r>
              <a:rPr lang="en-US" sz="1050" dirty="0">
                <a:solidFill>
                  <a:srgbClr val="B0BEC5"/>
                </a:solidFill>
              </a:rPr>
              <a:t>Long-running multi-step autonomous pipelines</a:t>
            </a:r>
            <a:endParaRPr lang="en-US" sz="1050" dirty="0"/>
          </a:p>
        </p:txBody>
      </p:sp>
      <p:sp>
        <p:nvSpPr>
          <p:cNvPr id="18" name="Shape 16"/>
          <p:cNvSpPr/>
          <p:nvPr/>
        </p:nvSpPr>
        <p:spPr>
          <a:xfrm>
            <a:off x="4315968" y="3163824"/>
            <a:ext cx="219456" cy="219456"/>
          </a:xfrm>
          <a:prstGeom prst="ellipse">
            <a:avLst/>
          </a:prstGeom>
          <a:solidFill>
            <a:srgbClr val="00C896"/>
          </a:solidFill>
          <a:ln/>
        </p:spPr>
      </p:sp>
      <p:sp>
        <p:nvSpPr>
          <p:cNvPr id="19" name="Shape 17"/>
          <p:cNvSpPr/>
          <p:nvPr/>
        </p:nvSpPr>
        <p:spPr>
          <a:xfrm>
            <a:off x="457200" y="3054096"/>
            <a:ext cx="3840480" cy="74980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0" name="Shape 18"/>
          <p:cNvSpPr/>
          <p:nvPr/>
        </p:nvSpPr>
        <p:spPr>
          <a:xfrm>
            <a:off x="457200" y="3054096"/>
            <a:ext cx="3840480" cy="36576"/>
          </a:xfrm>
          <a:prstGeom prst="rect">
            <a:avLst/>
          </a:prstGeom>
          <a:solidFill>
            <a:srgbClr val="00C896"/>
          </a:solidFill>
          <a:ln/>
        </p:spPr>
      </p:sp>
      <p:sp>
        <p:nvSpPr>
          <p:cNvPr id="21" name="Text 19"/>
          <p:cNvSpPr/>
          <p:nvPr/>
        </p:nvSpPr>
        <p:spPr>
          <a:xfrm>
            <a:off x="566928" y="3108960"/>
            <a:ext cx="914400" cy="329184"/>
          </a:xfrm>
          <a:prstGeom prst="rect">
            <a:avLst/>
          </a:prstGeom>
          <a:noFill/>
          <a:ln/>
        </p:spPr>
        <p:txBody>
          <a:bodyPr wrap="square" lIns="0" tIns="0" rIns="0" bIns="0" rtlCol="0" anchor="ctr"/>
          <a:lstStyle/>
          <a:p>
            <a:pPr marL="0" indent="0">
              <a:buNone/>
            </a:pPr>
            <a:r>
              <a:rPr lang="en-US" sz="1200" b="1" dirty="0">
                <a:solidFill>
                  <a:srgbClr val="00C896"/>
                </a:solidFill>
              </a:rPr>
              <a:t>2026–27</a:t>
            </a:r>
            <a:endParaRPr lang="en-US" sz="1200" dirty="0"/>
          </a:p>
        </p:txBody>
      </p:sp>
      <p:sp>
        <p:nvSpPr>
          <p:cNvPr id="22" name="Text 20"/>
          <p:cNvSpPr/>
          <p:nvPr/>
        </p:nvSpPr>
        <p:spPr>
          <a:xfrm>
            <a:off x="1508760" y="3108960"/>
            <a:ext cx="2697480" cy="329184"/>
          </a:xfrm>
          <a:prstGeom prst="rect">
            <a:avLst/>
          </a:prstGeom>
          <a:noFill/>
          <a:ln/>
        </p:spPr>
        <p:txBody>
          <a:bodyPr wrap="square" lIns="0" tIns="0" rIns="0" bIns="0" rtlCol="0" anchor="ctr"/>
          <a:lstStyle/>
          <a:p>
            <a:pPr marL="0" indent="0">
              <a:buNone/>
            </a:pPr>
            <a:r>
              <a:rPr lang="en-US" sz="1300" b="1" dirty="0">
                <a:solidFill>
                  <a:srgbClr val="FFFFFF"/>
                </a:solidFill>
              </a:rPr>
              <a:t>Physical AI Agents</a:t>
            </a:r>
            <a:endParaRPr lang="en-US" sz="1300" dirty="0"/>
          </a:p>
        </p:txBody>
      </p:sp>
      <p:sp>
        <p:nvSpPr>
          <p:cNvPr id="23" name="Text 21"/>
          <p:cNvSpPr/>
          <p:nvPr/>
        </p:nvSpPr>
        <p:spPr>
          <a:xfrm>
            <a:off x="566928" y="3465576"/>
            <a:ext cx="3657600" cy="274320"/>
          </a:xfrm>
          <a:prstGeom prst="rect">
            <a:avLst/>
          </a:prstGeom>
          <a:noFill/>
          <a:ln/>
        </p:spPr>
        <p:txBody>
          <a:bodyPr wrap="square" lIns="0" tIns="0" rIns="0" bIns="0" rtlCol="0" anchor="ctr"/>
          <a:lstStyle/>
          <a:p>
            <a:pPr marL="0" indent="0">
              <a:buNone/>
            </a:pPr>
            <a:r>
              <a:rPr lang="en-US" sz="1050" dirty="0">
                <a:solidFill>
                  <a:srgbClr val="B0BEC5"/>
                </a:solidFill>
              </a:rPr>
              <a:t>Robots controlled by AI agents in the real world</a:t>
            </a:r>
            <a:endParaRPr lang="en-US" sz="1050" dirty="0"/>
          </a:p>
        </p:txBody>
      </p:sp>
      <p:sp>
        <p:nvSpPr>
          <p:cNvPr id="24" name="Shape 22"/>
          <p:cNvSpPr/>
          <p:nvPr/>
        </p:nvSpPr>
        <p:spPr>
          <a:xfrm>
            <a:off x="4425696" y="4050792"/>
            <a:ext cx="219456" cy="219456"/>
          </a:xfrm>
          <a:prstGeom prst="ellipse">
            <a:avLst/>
          </a:prstGeom>
          <a:solidFill>
            <a:srgbClr val="FF6B35"/>
          </a:solidFill>
          <a:ln/>
        </p:spPr>
      </p:sp>
      <p:sp>
        <p:nvSpPr>
          <p:cNvPr id="25" name="Shape 23"/>
          <p:cNvSpPr/>
          <p:nvPr/>
        </p:nvSpPr>
        <p:spPr>
          <a:xfrm>
            <a:off x="4937760" y="3941064"/>
            <a:ext cx="3840480" cy="749808"/>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6" name="Shape 24"/>
          <p:cNvSpPr/>
          <p:nvPr/>
        </p:nvSpPr>
        <p:spPr>
          <a:xfrm>
            <a:off x="4937760" y="3941064"/>
            <a:ext cx="3840480" cy="36576"/>
          </a:xfrm>
          <a:prstGeom prst="rect">
            <a:avLst/>
          </a:prstGeom>
          <a:solidFill>
            <a:srgbClr val="FF6B35"/>
          </a:solidFill>
          <a:ln/>
        </p:spPr>
      </p:sp>
      <p:sp>
        <p:nvSpPr>
          <p:cNvPr id="27" name="Text 25"/>
          <p:cNvSpPr/>
          <p:nvPr/>
        </p:nvSpPr>
        <p:spPr>
          <a:xfrm>
            <a:off x="5047488" y="3995928"/>
            <a:ext cx="914400" cy="329184"/>
          </a:xfrm>
          <a:prstGeom prst="rect">
            <a:avLst/>
          </a:prstGeom>
          <a:noFill/>
          <a:ln/>
        </p:spPr>
        <p:txBody>
          <a:bodyPr wrap="square" lIns="0" tIns="0" rIns="0" bIns="0" rtlCol="0" anchor="ctr"/>
          <a:lstStyle/>
          <a:p>
            <a:pPr marL="0" indent="0">
              <a:buNone/>
            </a:pPr>
            <a:r>
              <a:rPr lang="en-US" sz="1200" b="1" dirty="0">
                <a:solidFill>
                  <a:srgbClr val="FF6B35"/>
                </a:solidFill>
              </a:rPr>
              <a:t>2028–30</a:t>
            </a:r>
            <a:endParaRPr lang="en-US" sz="1200" dirty="0"/>
          </a:p>
        </p:txBody>
      </p:sp>
      <p:sp>
        <p:nvSpPr>
          <p:cNvPr id="28" name="Text 26"/>
          <p:cNvSpPr/>
          <p:nvPr/>
        </p:nvSpPr>
        <p:spPr>
          <a:xfrm>
            <a:off x="5989320" y="3995928"/>
            <a:ext cx="2697480" cy="329184"/>
          </a:xfrm>
          <a:prstGeom prst="rect">
            <a:avLst/>
          </a:prstGeom>
          <a:noFill/>
          <a:ln/>
        </p:spPr>
        <p:txBody>
          <a:bodyPr wrap="square" lIns="0" tIns="0" rIns="0" bIns="0" rtlCol="0" anchor="ctr"/>
          <a:lstStyle/>
          <a:p>
            <a:pPr marL="0" indent="0">
              <a:buNone/>
            </a:pPr>
            <a:r>
              <a:rPr lang="en-US" sz="1300" b="1" dirty="0">
                <a:solidFill>
                  <a:srgbClr val="FFFFFF"/>
                </a:solidFill>
              </a:rPr>
              <a:t>Society-scale Agents</a:t>
            </a:r>
            <a:endParaRPr lang="en-US" sz="1300" dirty="0"/>
          </a:p>
        </p:txBody>
      </p:sp>
      <p:sp>
        <p:nvSpPr>
          <p:cNvPr id="29" name="Text 27"/>
          <p:cNvSpPr/>
          <p:nvPr/>
        </p:nvSpPr>
        <p:spPr>
          <a:xfrm>
            <a:off x="5047488" y="4352544"/>
            <a:ext cx="3657600" cy="274320"/>
          </a:xfrm>
          <a:prstGeom prst="rect">
            <a:avLst/>
          </a:prstGeom>
          <a:noFill/>
          <a:ln/>
        </p:spPr>
        <p:txBody>
          <a:bodyPr wrap="square" lIns="0" tIns="0" rIns="0" bIns="0" rtlCol="0" anchor="ctr"/>
          <a:lstStyle/>
          <a:p>
            <a:pPr marL="0" indent="0">
              <a:buNone/>
            </a:pPr>
            <a:r>
              <a:rPr lang="en-US" sz="1050" dirty="0">
                <a:solidFill>
                  <a:srgbClr val="B0BEC5"/>
                </a:solidFill>
              </a:rPr>
              <a:t>Agents managing cities, supply chains, healthcare</a:t>
            </a:r>
            <a:endParaRPr lang="en-US" sz="1050" dirty="0"/>
          </a:p>
        </p:txBody>
      </p:sp>
      <p:sp>
        <p:nvSpPr>
          <p:cNvPr id="30" name="Shape 28"/>
          <p:cNvSpPr/>
          <p:nvPr/>
        </p:nvSpPr>
        <p:spPr>
          <a:xfrm>
            <a:off x="457200" y="4617720"/>
            <a:ext cx="8229600" cy="475488"/>
          </a:xfrm>
          <a:prstGeom prst="rect">
            <a:avLst/>
          </a:prstGeom>
          <a:solidFill>
            <a:srgbClr val="1A3A6B"/>
          </a:solidFill>
          <a:ln w="6350">
            <a:solidFill>
              <a:srgbClr val="1565C0"/>
            </a:solidFill>
            <a:prstDash val="solid"/>
          </a:ln>
          <a:effectLst>
            <a:outerShdw blurRad="152400" dist="50800" dir="8100000" algn="bl" rotWithShape="0">
              <a:srgbClr val="000000">
                <a:alpha val="35000"/>
              </a:srgbClr>
            </a:outerShdw>
          </a:effectLst>
        </p:spPr>
      </p:sp>
      <p:sp>
        <p:nvSpPr>
          <p:cNvPr id="31" name="Text 29"/>
          <p:cNvSpPr/>
          <p:nvPr/>
        </p:nvSpPr>
        <p:spPr>
          <a:xfrm>
            <a:off x="640080" y="4663440"/>
            <a:ext cx="7863840" cy="384048"/>
          </a:xfrm>
          <a:prstGeom prst="rect">
            <a:avLst/>
          </a:prstGeom>
          <a:noFill/>
          <a:ln/>
        </p:spPr>
        <p:txBody>
          <a:bodyPr wrap="square" rtlCol="0" anchor="ctr"/>
          <a:lstStyle/>
          <a:p>
            <a:pPr marL="0" indent="0">
              <a:buNone/>
            </a:pPr>
            <a:r>
              <a:rPr lang="en-US" sz="1200" i="1" dirty="0">
                <a:solidFill>
                  <a:srgbClr val="E8F4FD"/>
                </a:solidFill>
                <a:latin typeface="Calibri" pitchFamily="34" charset="0"/>
                <a:ea typeface="Calibri" pitchFamily="34" charset="-122"/>
                <a:cs typeface="Calibri" pitchFamily="34" charset="-120"/>
              </a:rPr>
              <a:t>"Agents will do the work of a small company. Humans will manage agents, not tasks." — Sam Altman, CEO of OpenAI</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marL="0" indent="0" algn="ctr">
              <a:buNone/>
            </a:pPr>
            <a:r>
              <a:rPr lang="en-US" sz="800" b="1" dirty="0">
                <a:solidFill>
                  <a:srgbClr val="0A1628"/>
                </a:solidFill>
              </a:rPr>
              <a:t>SUMMARY</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5" name="Shape 3"/>
          <p:cNvSpPr/>
          <p:nvPr/>
        </p:nvSpPr>
        <p:spPr>
          <a:xfrm>
            <a:off x="457200" y="1325880"/>
            <a:ext cx="8229600" cy="5486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6" name="Text 4"/>
          <p:cNvSpPr/>
          <p:nvPr/>
        </p:nvSpPr>
        <p:spPr>
          <a:xfrm>
            <a:off x="548640" y="1325880"/>
            <a:ext cx="548640" cy="5486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7" name="Shape 5"/>
          <p:cNvSpPr/>
          <p:nvPr/>
        </p:nvSpPr>
        <p:spPr>
          <a:xfrm>
            <a:off x="1115568" y="1435608"/>
            <a:ext cx="45720" cy="320040"/>
          </a:xfrm>
          <a:prstGeom prst="rect">
            <a:avLst/>
          </a:prstGeom>
          <a:solidFill>
            <a:srgbClr val="00B4D8"/>
          </a:solidFill>
          <a:ln/>
        </p:spPr>
      </p:sp>
      <p:sp>
        <p:nvSpPr>
          <p:cNvPr id="8" name="Text 6"/>
          <p:cNvSpPr/>
          <p:nvPr/>
        </p:nvSpPr>
        <p:spPr>
          <a:xfrm>
            <a:off x="1261872" y="1325880"/>
            <a:ext cx="7315200" cy="548640"/>
          </a:xfrm>
          <a:prstGeom prst="rect">
            <a:avLst/>
          </a:prstGeom>
          <a:noFill/>
          <a:ln/>
        </p:spPr>
        <p:txBody>
          <a:bodyPr wrap="square" lIns="0" tIns="0" rIns="0" bIns="0" rtlCol="0" anchor="ctr"/>
          <a:lstStyle/>
          <a:p>
            <a:pPr marL="0" indent="0">
              <a:buNone/>
            </a:pPr>
            <a:r>
              <a:rPr lang="en-US" sz="1150" dirty="0">
                <a:solidFill>
                  <a:srgbClr val="B0BEC5"/>
                </a:solidFill>
                <a:latin typeface="Calibri" pitchFamily="34" charset="0"/>
                <a:ea typeface="Calibri" pitchFamily="34" charset="-122"/>
                <a:cs typeface="Calibri" pitchFamily="34" charset="-120"/>
              </a:rPr>
              <a:t>AI Agents are autonomous programs that perceive, think, and act to achieve goals — without step-by-step human instruction.</a:t>
            </a:r>
            <a:endParaRPr lang="en-US" sz="1150" dirty="0"/>
          </a:p>
        </p:txBody>
      </p:sp>
      <p:sp>
        <p:nvSpPr>
          <p:cNvPr id="9" name="Shape 7"/>
          <p:cNvSpPr/>
          <p:nvPr/>
        </p:nvSpPr>
        <p:spPr>
          <a:xfrm>
            <a:off x="457200" y="1947672"/>
            <a:ext cx="8229600" cy="5486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0" name="Text 8"/>
          <p:cNvSpPr/>
          <p:nvPr/>
        </p:nvSpPr>
        <p:spPr>
          <a:xfrm>
            <a:off x="548640" y="1947672"/>
            <a:ext cx="548640" cy="5486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1" name="Shape 9"/>
          <p:cNvSpPr/>
          <p:nvPr/>
        </p:nvSpPr>
        <p:spPr>
          <a:xfrm>
            <a:off x="1115568" y="2057400"/>
            <a:ext cx="45720" cy="320040"/>
          </a:xfrm>
          <a:prstGeom prst="rect">
            <a:avLst/>
          </a:prstGeom>
          <a:solidFill>
            <a:srgbClr val="7C3AED"/>
          </a:solidFill>
          <a:ln/>
        </p:spPr>
      </p:sp>
      <p:sp>
        <p:nvSpPr>
          <p:cNvPr id="12" name="Text 10"/>
          <p:cNvSpPr/>
          <p:nvPr/>
        </p:nvSpPr>
        <p:spPr>
          <a:xfrm>
            <a:off x="1261872" y="1947672"/>
            <a:ext cx="7315200" cy="548640"/>
          </a:xfrm>
          <a:prstGeom prst="rect">
            <a:avLst/>
          </a:prstGeom>
          <a:noFill/>
          <a:ln/>
        </p:spPr>
        <p:txBody>
          <a:bodyPr wrap="square" lIns="0" tIns="0" rIns="0" bIns="0" rtlCol="0" anchor="ctr"/>
          <a:lstStyle/>
          <a:p>
            <a:pPr marL="0" indent="0">
              <a:buNone/>
            </a:pPr>
            <a:r>
              <a:rPr lang="en-US" sz="1150" dirty="0">
                <a:solidFill>
                  <a:srgbClr val="B0BEC5"/>
                </a:solidFill>
                <a:latin typeface="Calibri" pitchFamily="34" charset="0"/>
                <a:ea typeface="Calibri" pitchFamily="34" charset="-122"/>
                <a:cs typeface="Calibri" pitchFamily="34" charset="-120"/>
              </a:rPr>
              <a:t>They use tools like web search, code execution, and APIs — combining them intelligently to solve complex, multi-step problems.</a:t>
            </a:r>
            <a:endParaRPr lang="en-US" sz="1150" dirty="0"/>
          </a:p>
        </p:txBody>
      </p:sp>
      <p:sp>
        <p:nvSpPr>
          <p:cNvPr id="13" name="Shape 11"/>
          <p:cNvSpPr/>
          <p:nvPr/>
        </p:nvSpPr>
        <p:spPr>
          <a:xfrm>
            <a:off x="457200" y="2569464"/>
            <a:ext cx="8229600" cy="5486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4" name="Text 12"/>
          <p:cNvSpPr/>
          <p:nvPr/>
        </p:nvSpPr>
        <p:spPr>
          <a:xfrm>
            <a:off x="548640" y="2569464"/>
            <a:ext cx="548640" cy="5486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Shape 13"/>
          <p:cNvSpPr/>
          <p:nvPr/>
        </p:nvSpPr>
        <p:spPr>
          <a:xfrm>
            <a:off x="1115568" y="2679192"/>
            <a:ext cx="45720" cy="320040"/>
          </a:xfrm>
          <a:prstGeom prst="rect">
            <a:avLst/>
          </a:prstGeom>
          <a:solidFill>
            <a:srgbClr val="00C896"/>
          </a:solidFill>
          <a:ln/>
        </p:spPr>
      </p:sp>
      <p:sp>
        <p:nvSpPr>
          <p:cNvPr id="16" name="Text 14"/>
          <p:cNvSpPr/>
          <p:nvPr/>
        </p:nvSpPr>
        <p:spPr>
          <a:xfrm>
            <a:off x="1261872" y="2569464"/>
            <a:ext cx="7315200" cy="548640"/>
          </a:xfrm>
          <a:prstGeom prst="rect">
            <a:avLst/>
          </a:prstGeom>
          <a:noFill/>
          <a:ln/>
        </p:spPr>
        <p:txBody>
          <a:bodyPr wrap="square" lIns="0" tIns="0" rIns="0" bIns="0" rtlCol="0" anchor="ctr"/>
          <a:lstStyle/>
          <a:p>
            <a:pPr marL="0" indent="0">
              <a:buNone/>
            </a:pPr>
            <a:r>
              <a:rPr lang="en-US" sz="1150" dirty="0">
                <a:solidFill>
                  <a:srgbClr val="B0BEC5"/>
                </a:solidFill>
                <a:latin typeface="Calibri" pitchFamily="34" charset="0"/>
                <a:ea typeface="Calibri" pitchFamily="34" charset="-122"/>
                <a:cs typeface="Calibri" pitchFamily="34" charset="-120"/>
              </a:rPr>
              <a:t>Every major industry is adopting AI Agents — from finance to healthcare, retail to cybersecurity.</a:t>
            </a:r>
            <a:endParaRPr lang="en-US" sz="1150" dirty="0"/>
          </a:p>
        </p:txBody>
      </p:sp>
      <p:sp>
        <p:nvSpPr>
          <p:cNvPr id="17" name="Shape 15"/>
          <p:cNvSpPr/>
          <p:nvPr/>
        </p:nvSpPr>
        <p:spPr>
          <a:xfrm>
            <a:off x="457200" y="3191256"/>
            <a:ext cx="8229600" cy="5486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8" name="Text 16"/>
          <p:cNvSpPr/>
          <p:nvPr/>
        </p:nvSpPr>
        <p:spPr>
          <a:xfrm>
            <a:off x="548640" y="3191256"/>
            <a:ext cx="548640" cy="5486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Shape 17"/>
          <p:cNvSpPr/>
          <p:nvPr/>
        </p:nvSpPr>
        <p:spPr>
          <a:xfrm>
            <a:off x="1115568" y="3300984"/>
            <a:ext cx="45720" cy="320040"/>
          </a:xfrm>
          <a:prstGeom prst="rect">
            <a:avLst/>
          </a:prstGeom>
          <a:solidFill>
            <a:srgbClr val="FFD166"/>
          </a:solidFill>
          <a:ln/>
        </p:spPr>
      </p:sp>
      <p:sp>
        <p:nvSpPr>
          <p:cNvPr id="20" name="Text 18"/>
          <p:cNvSpPr/>
          <p:nvPr/>
        </p:nvSpPr>
        <p:spPr>
          <a:xfrm>
            <a:off x="1261872" y="3191256"/>
            <a:ext cx="7315200" cy="548640"/>
          </a:xfrm>
          <a:prstGeom prst="rect">
            <a:avLst/>
          </a:prstGeom>
          <a:noFill/>
          <a:ln/>
        </p:spPr>
        <p:txBody>
          <a:bodyPr wrap="square" lIns="0" tIns="0" rIns="0" bIns="0" rtlCol="0" anchor="ctr"/>
          <a:lstStyle/>
          <a:p>
            <a:pPr marL="0" indent="0">
              <a:buNone/>
            </a:pPr>
            <a:r>
              <a:rPr lang="en-US" sz="1150" dirty="0">
                <a:solidFill>
                  <a:srgbClr val="B0BEC5"/>
                </a:solidFill>
                <a:latin typeface="Calibri" pitchFamily="34" charset="0"/>
                <a:ea typeface="Calibri" pitchFamily="34" charset="-122"/>
                <a:cs typeface="Calibri" pitchFamily="34" charset="-120"/>
              </a:rPr>
              <a:t>Key benefits: speed, accuracy, scalability, 24/7 availability, and cost savings — at a scale humans simply cannot match.</a:t>
            </a:r>
            <a:endParaRPr lang="en-US" sz="1150" dirty="0"/>
          </a:p>
        </p:txBody>
      </p:sp>
      <p:sp>
        <p:nvSpPr>
          <p:cNvPr id="21" name="Shape 19"/>
          <p:cNvSpPr/>
          <p:nvPr/>
        </p:nvSpPr>
        <p:spPr>
          <a:xfrm>
            <a:off x="457200" y="3813048"/>
            <a:ext cx="8229600" cy="5486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2" name="Text 20"/>
          <p:cNvSpPr/>
          <p:nvPr/>
        </p:nvSpPr>
        <p:spPr>
          <a:xfrm>
            <a:off x="548640" y="3813048"/>
            <a:ext cx="548640" cy="5486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3" name="Shape 21"/>
          <p:cNvSpPr/>
          <p:nvPr/>
        </p:nvSpPr>
        <p:spPr>
          <a:xfrm>
            <a:off x="1115568" y="3922776"/>
            <a:ext cx="45720" cy="320040"/>
          </a:xfrm>
          <a:prstGeom prst="rect">
            <a:avLst/>
          </a:prstGeom>
          <a:solidFill>
            <a:srgbClr val="FF6B35"/>
          </a:solidFill>
          <a:ln/>
        </p:spPr>
      </p:sp>
      <p:sp>
        <p:nvSpPr>
          <p:cNvPr id="24" name="Text 22"/>
          <p:cNvSpPr/>
          <p:nvPr/>
        </p:nvSpPr>
        <p:spPr>
          <a:xfrm>
            <a:off x="1261872" y="3813048"/>
            <a:ext cx="7315200" cy="548640"/>
          </a:xfrm>
          <a:prstGeom prst="rect">
            <a:avLst/>
          </a:prstGeom>
          <a:noFill/>
          <a:ln/>
        </p:spPr>
        <p:txBody>
          <a:bodyPr wrap="square" lIns="0" tIns="0" rIns="0" bIns="0" rtlCol="0" anchor="ctr"/>
          <a:lstStyle/>
          <a:p>
            <a:pPr marL="0" indent="0">
              <a:buNone/>
            </a:pPr>
            <a:r>
              <a:rPr lang="en-US" sz="1150" dirty="0">
                <a:solidFill>
                  <a:srgbClr val="B0BEC5"/>
                </a:solidFill>
                <a:latin typeface="Calibri" pitchFamily="34" charset="0"/>
                <a:ea typeface="Calibri" pitchFamily="34" charset="-122"/>
                <a:cs typeface="Calibri" pitchFamily="34" charset="-120"/>
              </a:rPr>
              <a:t>Challenges remain: hallucinations, security, cost, and the need for human oversight and safety guardrails.</a:t>
            </a:r>
            <a:endParaRPr lang="en-US" sz="1150" dirty="0"/>
          </a:p>
        </p:txBody>
      </p:sp>
      <p:sp>
        <p:nvSpPr>
          <p:cNvPr id="25" name="Shape 23"/>
          <p:cNvSpPr/>
          <p:nvPr/>
        </p:nvSpPr>
        <p:spPr>
          <a:xfrm>
            <a:off x="457200" y="4434840"/>
            <a:ext cx="8229600" cy="5486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26" name="Text 24"/>
          <p:cNvSpPr/>
          <p:nvPr/>
        </p:nvSpPr>
        <p:spPr>
          <a:xfrm>
            <a:off x="548640" y="4434840"/>
            <a:ext cx="548640" cy="5486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7" name="Shape 25"/>
          <p:cNvSpPr/>
          <p:nvPr/>
        </p:nvSpPr>
        <p:spPr>
          <a:xfrm>
            <a:off x="1115568" y="4544568"/>
            <a:ext cx="45720" cy="320040"/>
          </a:xfrm>
          <a:prstGeom prst="rect">
            <a:avLst/>
          </a:prstGeom>
          <a:solidFill>
            <a:srgbClr val="0096C7"/>
          </a:solidFill>
          <a:ln/>
        </p:spPr>
      </p:sp>
      <p:sp>
        <p:nvSpPr>
          <p:cNvPr id="28" name="Text 26"/>
          <p:cNvSpPr/>
          <p:nvPr/>
        </p:nvSpPr>
        <p:spPr>
          <a:xfrm>
            <a:off x="1261872" y="4434840"/>
            <a:ext cx="7315200" cy="548640"/>
          </a:xfrm>
          <a:prstGeom prst="rect">
            <a:avLst/>
          </a:prstGeom>
          <a:noFill/>
          <a:ln/>
        </p:spPr>
        <p:txBody>
          <a:bodyPr wrap="square" lIns="0" tIns="0" rIns="0" bIns="0" rtlCol="0" anchor="ctr"/>
          <a:lstStyle/>
          <a:p>
            <a:pPr marL="0" indent="0">
              <a:buNone/>
            </a:pPr>
            <a:r>
              <a:rPr lang="en-US" sz="1150" dirty="0">
                <a:solidFill>
                  <a:srgbClr val="B0BEC5"/>
                </a:solidFill>
                <a:latin typeface="Calibri" pitchFamily="34" charset="0"/>
                <a:ea typeface="Calibri" pitchFamily="34" charset="-122"/>
                <a:cs typeface="Calibri" pitchFamily="34" charset="-120"/>
              </a:rPr>
              <a:t>The AI Agent market will reach $102B by 2028. Now is the time to learn, build, and leverage this technology.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365760" y="274320"/>
            <a:ext cx="1097280"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74320"/>
            <a:ext cx="8229600" cy="365760"/>
          </a:xfrm>
          <a:prstGeom prst="rect">
            <a:avLst/>
          </a:prstGeom>
          <a:noFill/>
        </p:spPr>
        <p:txBody>
          <a:bodyPr wrap="none">
            <a:spAutoFit/>
          </a:bodyPr>
          <a:lstStyle/>
          <a:p>
            <a:pPr>
              <a:defRPr sz="1800" b="1">
                <a:solidFill>
                  <a:srgbClr val="0A1628"/>
                </a:solidFill>
              </a:defRPr>
            </a:pPr>
            <a:r>
              <a:t>LLM BRAIN</a:t>
            </a:r>
          </a:p>
        </p:txBody>
      </p:sp>
      <p:sp>
        <p:nvSpPr>
          <p:cNvPr id="4" name="TextBox 3"/>
          <p:cNvSpPr txBox="1"/>
          <p:nvPr/>
        </p:nvSpPr>
        <p:spPr>
          <a:xfrm>
            <a:off x="457200" y="822960"/>
            <a:ext cx="8229600" cy="548640"/>
          </a:xfrm>
          <a:prstGeom prst="rect">
            <a:avLst/>
          </a:prstGeom>
          <a:noFill/>
        </p:spPr>
        <p:txBody>
          <a:bodyPr wrap="none">
            <a:spAutoFit/>
          </a:bodyPr>
          <a:lstStyle/>
          <a:p>
            <a:pPr>
              <a:defRPr sz="4000" b="1">
                <a:solidFill>
                  <a:srgbClr val="FFFFFF"/>
                </a:solidFill>
              </a:defRPr>
            </a:pPr>
            <a:r>
              <a:t>The Role of LLM in AI Agents</a:t>
            </a:r>
          </a:p>
        </p:txBody>
      </p:sp>
      <p:sp>
        <p:nvSpPr>
          <p:cNvPr id="5" name="TextBox 4"/>
          <p:cNvSpPr txBox="1"/>
          <p:nvPr/>
        </p:nvSpPr>
        <p:spPr>
          <a:xfrm>
            <a:off x="457200" y="1645920"/>
            <a:ext cx="7772400" cy="274320"/>
          </a:xfrm>
          <a:prstGeom prst="rect">
            <a:avLst/>
          </a:prstGeom>
          <a:noFill/>
        </p:spPr>
        <p:txBody>
          <a:bodyPr wrap="none">
            <a:spAutoFit/>
          </a:bodyPr>
          <a:lstStyle/>
          <a:p>
            <a:pPr>
              <a:defRPr sz="1400" b="1">
                <a:solidFill>
                  <a:srgbClr val="00B4D8"/>
                </a:solidFill>
              </a:defRPr>
            </a:pPr>
            <a:r>
              <a:t>🧠 The Brain</a:t>
            </a:r>
          </a:p>
        </p:txBody>
      </p:sp>
      <p:sp>
        <p:nvSpPr>
          <p:cNvPr id="6" name="TextBox 5"/>
          <p:cNvSpPr txBox="1"/>
          <p:nvPr/>
        </p:nvSpPr>
        <p:spPr>
          <a:xfrm>
            <a:off x="640080" y="1965960"/>
            <a:ext cx="8046720" cy="411480"/>
          </a:xfrm>
          <a:prstGeom prst="rect">
            <a:avLst/>
          </a:prstGeom>
          <a:noFill/>
        </p:spPr>
        <p:txBody>
          <a:bodyPr wrap="square">
            <a:spAutoFit/>
          </a:bodyPr>
          <a:lstStyle/>
          <a:p>
            <a:pPr>
              <a:defRPr sz="1200">
                <a:solidFill>
                  <a:srgbClr val="B0BEC5"/>
                </a:solidFill>
              </a:defRPr>
            </a:pPr>
            <a:r>
              <a:t>LLMs (Large Language Models) like GPT-4, Claude, or Gemini serve as the thinking engine of AI Agents.</a:t>
            </a:r>
          </a:p>
        </p:txBody>
      </p:sp>
      <p:sp>
        <p:nvSpPr>
          <p:cNvPr id="7" name="TextBox 6"/>
          <p:cNvSpPr txBox="1"/>
          <p:nvPr/>
        </p:nvSpPr>
        <p:spPr>
          <a:xfrm>
            <a:off x="457200" y="2468880"/>
            <a:ext cx="7772400" cy="274320"/>
          </a:xfrm>
          <a:prstGeom prst="rect">
            <a:avLst/>
          </a:prstGeom>
          <a:noFill/>
        </p:spPr>
        <p:txBody>
          <a:bodyPr wrap="none">
            <a:spAutoFit/>
          </a:bodyPr>
          <a:lstStyle/>
          <a:p>
            <a:pPr>
              <a:defRPr sz="1400" b="1">
                <a:solidFill>
                  <a:srgbClr val="BA55D3"/>
                </a:solidFill>
              </a:defRPr>
            </a:pPr>
            <a:r>
              <a:t>🔍 Understanding</a:t>
            </a:r>
          </a:p>
        </p:txBody>
      </p:sp>
      <p:sp>
        <p:nvSpPr>
          <p:cNvPr id="8" name="TextBox 7"/>
          <p:cNvSpPr txBox="1"/>
          <p:nvPr/>
        </p:nvSpPr>
        <p:spPr>
          <a:xfrm>
            <a:off x="640080" y="2788920"/>
            <a:ext cx="8046720" cy="411480"/>
          </a:xfrm>
          <a:prstGeom prst="rect">
            <a:avLst/>
          </a:prstGeom>
          <a:noFill/>
        </p:spPr>
        <p:txBody>
          <a:bodyPr wrap="square">
            <a:spAutoFit/>
          </a:bodyPr>
          <a:lstStyle/>
          <a:p>
            <a:pPr>
              <a:defRPr sz="1200">
                <a:solidFill>
                  <a:srgbClr val="B0BEC5"/>
                </a:solidFill>
              </a:defRPr>
            </a:pPr>
            <a:r>
              <a:t>They comprehend complex instructions, understand context, and generate logical responses.</a:t>
            </a:r>
          </a:p>
        </p:txBody>
      </p:sp>
      <p:sp>
        <p:nvSpPr>
          <p:cNvPr id="9" name="TextBox 8"/>
          <p:cNvSpPr txBox="1"/>
          <p:nvPr/>
        </p:nvSpPr>
        <p:spPr>
          <a:xfrm>
            <a:off x="457200" y="3291840"/>
            <a:ext cx="7772400" cy="274320"/>
          </a:xfrm>
          <a:prstGeom prst="rect">
            <a:avLst/>
          </a:prstGeom>
          <a:noFill/>
        </p:spPr>
        <p:txBody>
          <a:bodyPr wrap="none">
            <a:spAutoFit/>
          </a:bodyPr>
          <a:lstStyle/>
          <a:p>
            <a:pPr>
              <a:defRPr sz="1400" b="1">
                <a:solidFill>
                  <a:srgbClr val="00C896"/>
                </a:solidFill>
              </a:defRPr>
            </a:pPr>
            <a:r>
              <a:t>🛠️ Tool Use</a:t>
            </a:r>
          </a:p>
        </p:txBody>
      </p:sp>
      <p:sp>
        <p:nvSpPr>
          <p:cNvPr id="10" name="TextBox 9"/>
          <p:cNvSpPr txBox="1"/>
          <p:nvPr/>
        </p:nvSpPr>
        <p:spPr>
          <a:xfrm>
            <a:off x="640080" y="3611880"/>
            <a:ext cx="8046720" cy="411480"/>
          </a:xfrm>
          <a:prstGeom prst="rect">
            <a:avLst/>
          </a:prstGeom>
          <a:noFill/>
        </p:spPr>
        <p:txBody>
          <a:bodyPr wrap="square">
            <a:spAutoFit/>
          </a:bodyPr>
          <a:lstStyle/>
          <a:p>
            <a:pPr>
              <a:defRPr sz="1200">
                <a:solidFill>
                  <a:srgbClr val="B0BEC5"/>
                </a:solidFill>
              </a:defRPr>
            </a:pPr>
            <a:r>
              <a:t>LLMs decide WHICH tools to use and WHEN to use them (web search, code execution, APIs).</a:t>
            </a:r>
          </a:p>
        </p:txBody>
      </p:sp>
      <p:sp>
        <p:nvSpPr>
          <p:cNvPr id="11" name="TextBox 10"/>
          <p:cNvSpPr txBox="1"/>
          <p:nvPr/>
        </p:nvSpPr>
        <p:spPr>
          <a:xfrm>
            <a:off x="457200" y="4114800"/>
            <a:ext cx="7772400" cy="274320"/>
          </a:xfrm>
          <a:prstGeom prst="rect">
            <a:avLst/>
          </a:prstGeom>
          <a:noFill/>
        </p:spPr>
        <p:txBody>
          <a:bodyPr wrap="none">
            <a:spAutoFit/>
          </a:bodyPr>
          <a:lstStyle/>
          <a:p>
            <a:pPr>
              <a:defRPr sz="1400" b="1">
                <a:solidFill>
                  <a:srgbClr val="FFD166"/>
                </a:solidFill>
              </a:defRPr>
            </a:pPr>
            <a:r>
              <a:t>📝 Planning</a:t>
            </a:r>
          </a:p>
        </p:txBody>
      </p:sp>
      <p:sp>
        <p:nvSpPr>
          <p:cNvPr id="12" name="TextBox 11"/>
          <p:cNvSpPr txBox="1"/>
          <p:nvPr/>
        </p:nvSpPr>
        <p:spPr>
          <a:xfrm>
            <a:off x="640080" y="4434840"/>
            <a:ext cx="8046720" cy="411480"/>
          </a:xfrm>
          <a:prstGeom prst="rect">
            <a:avLst/>
          </a:prstGeom>
          <a:noFill/>
        </p:spPr>
        <p:txBody>
          <a:bodyPr wrap="square">
            <a:spAutoFit/>
          </a:bodyPr>
          <a:lstStyle/>
          <a:p>
            <a:pPr>
              <a:defRPr sz="1200">
                <a:solidFill>
                  <a:srgbClr val="B0BEC5"/>
                </a:solidFill>
              </a:defRPr>
            </a:pPr>
            <a:r>
              <a:t>They break down multi-step tasks into actionable steps and reason through problems.</a:t>
            </a:r>
          </a:p>
        </p:txBody>
      </p:sp>
      <p:sp>
        <p:nvSpPr>
          <p:cNvPr id="13" name="TextBox 12"/>
          <p:cNvSpPr txBox="1"/>
          <p:nvPr/>
        </p:nvSpPr>
        <p:spPr>
          <a:xfrm>
            <a:off x="457200" y="4937760"/>
            <a:ext cx="7772400" cy="274320"/>
          </a:xfrm>
          <a:prstGeom prst="rect">
            <a:avLst/>
          </a:prstGeom>
          <a:noFill/>
        </p:spPr>
        <p:txBody>
          <a:bodyPr wrap="none">
            <a:spAutoFit/>
          </a:bodyPr>
          <a:lstStyle/>
          <a:p>
            <a:pPr>
              <a:defRPr sz="1400" b="1">
                <a:solidFill>
                  <a:srgbClr val="7C3AED"/>
                </a:solidFill>
              </a:defRPr>
            </a:pPr>
            <a:r>
              <a:t>🔄 Adaptation</a:t>
            </a:r>
          </a:p>
        </p:txBody>
      </p:sp>
      <p:sp>
        <p:nvSpPr>
          <p:cNvPr id="14" name="TextBox 13"/>
          <p:cNvSpPr txBox="1"/>
          <p:nvPr/>
        </p:nvSpPr>
        <p:spPr>
          <a:xfrm>
            <a:off x="640080" y="5257800"/>
            <a:ext cx="8046720" cy="411480"/>
          </a:xfrm>
          <a:prstGeom prst="rect">
            <a:avLst/>
          </a:prstGeom>
          <a:noFill/>
        </p:spPr>
        <p:txBody>
          <a:bodyPr wrap="square">
            <a:spAutoFit/>
          </a:bodyPr>
          <a:lstStyle/>
          <a:p>
            <a:pPr>
              <a:defRPr sz="1200">
                <a:solidFill>
                  <a:srgbClr val="B0BEC5"/>
                </a:solidFill>
              </a:defRPr>
            </a:pPr>
            <a:r>
              <a:t>LLMs adapt responses based on feedback and improve agent behavior over time.</a:t>
            </a:r>
          </a:p>
        </p:txBody>
      </p:sp>
      <p:sp>
        <p:nvSpPr>
          <p:cNvPr id="15" name="TextBox 14"/>
          <p:cNvSpPr txBox="1"/>
          <p:nvPr/>
        </p:nvSpPr>
        <p:spPr>
          <a:xfrm>
            <a:off x="457200" y="5029200"/>
            <a:ext cx="8229600" cy="457200"/>
          </a:xfrm>
          <a:prstGeom prst="rect">
            <a:avLst/>
          </a:prstGeom>
          <a:noFill/>
        </p:spPr>
        <p:txBody>
          <a:bodyPr wrap="square">
            <a:spAutoFit/>
          </a:bodyPr>
          <a:lstStyle/>
          <a:p>
            <a:pPr>
              <a:defRPr sz="1200" i="1">
                <a:solidFill>
                  <a:srgbClr val="FFD166"/>
                </a:solidFill>
              </a:defRPr>
            </a:pPr>
            <a:r>
              <a:t>💡 Without an LLM, an AI Agent is just a dumb automation tool. With it, the agent becomes intelligent, adaptable, and powerful.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365760" y="274320"/>
            <a:ext cx="1097280" cy="320040"/>
          </a:xfrm>
          <a:prstGeom prst="rect">
            <a:avLst/>
          </a:prstGeom>
          <a:solidFill>
            <a:srgbClr val="BA55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74320"/>
            <a:ext cx="8229600" cy="365760"/>
          </a:xfrm>
          <a:prstGeom prst="rect">
            <a:avLst/>
          </a:prstGeom>
          <a:noFill/>
        </p:spPr>
        <p:txBody>
          <a:bodyPr wrap="none">
            <a:spAutoFit/>
          </a:bodyPr>
          <a:lstStyle/>
          <a:p>
            <a:pPr>
              <a:defRPr sz="1800" b="1">
                <a:solidFill>
                  <a:srgbClr val="0A1628"/>
                </a:solidFill>
              </a:defRPr>
            </a:pPr>
            <a:r>
              <a:t>KNOWLEDGE ENGINE</a:t>
            </a:r>
          </a:p>
        </p:txBody>
      </p:sp>
      <p:sp>
        <p:nvSpPr>
          <p:cNvPr id="4" name="TextBox 3"/>
          <p:cNvSpPr txBox="1"/>
          <p:nvPr/>
        </p:nvSpPr>
        <p:spPr>
          <a:xfrm>
            <a:off x="457200" y="822960"/>
            <a:ext cx="8229600" cy="640080"/>
          </a:xfrm>
          <a:prstGeom prst="rect">
            <a:avLst/>
          </a:prstGeom>
          <a:noFill/>
        </p:spPr>
        <p:txBody>
          <a:bodyPr wrap="none">
            <a:spAutoFit/>
          </a:bodyPr>
          <a:lstStyle/>
          <a:p>
            <a:pPr>
              <a:defRPr sz="4000" b="1">
                <a:solidFill>
                  <a:srgbClr val="FFFFFF"/>
                </a:solidFill>
              </a:defRPr>
            </a:pPr>
            <a:r>
              <a:t>RAG: Retrieval-Augmented Generation</a:t>
            </a:r>
          </a:p>
        </p:txBody>
      </p:sp>
      <p:sp>
        <p:nvSpPr>
          <p:cNvPr id="5" name="TextBox 4"/>
          <p:cNvSpPr txBox="1"/>
          <p:nvPr/>
        </p:nvSpPr>
        <p:spPr>
          <a:xfrm>
            <a:off x="457200" y="1645920"/>
            <a:ext cx="4114800" cy="548640"/>
          </a:xfrm>
          <a:prstGeom prst="rect">
            <a:avLst/>
          </a:prstGeom>
          <a:noFill/>
        </p:spPr>
        <p:txBody>
          <a:bodyPr wrap="none">
            <a:spAutoFit/>
          </a:bodyPr>
          <a:lstStyle/>
          <a:p>
            <a:pPr>
              <a:defRPr sz="1600" b="1">
                <a:solidFill>
                  <a:srgbClr val="BA55D3"/>
                </a:solidFill>
              </a:defRPr>
            </a:pPr>
            <a:r>
              <a:t>What is RAG?</a:t>
            </a:r>
          </a:p>
        </p:txBody>
      </p:sp>
      <p:sp>
        <p:nvSpPr>
          <p:cNvPr id="6" name="TextBox 5"/>
          <p:cNvSpPr txBox="1"/>
          <p:nvPr/>
        </p:nvSpPr>
        <p:spPr>
          <a:xfrm>
            <a:off x="457200" y="2286000"/>
            <a:ext cx="4114800" cy="1371600"/>
          </a:xfrm>
          <a:prstGeom prst="rect">
            <a:avLst/>
          </a:prstGeom>
          <a:noFill/>
        </p:spPr>
        <p:txBody>
          <a:bodyPr wrap="square">
            <a:spAutoFit/>
          </a:bodyPr>
          <a:lstStyle/>
          <a:p>
            <a:pPr>
              <a:defRPr sz="1100">
                <a:solidFill>
                  <a:srgbClr val="B0BEC5"/>
                </a:solidFill>
              </a:defRPr>
            </a:pPr>
            <a:r>
              <a:t>RAG is a technique that allows AI Agents to fetch relevant information from external knowledge bases before generating responses.</a:t>
            </a:r>
          </a:p>
          <a:p>
            <a:br/>
            <a:r>
              <a:t>It prevents hallucinations and ensures answers are grounded in real data.</a:t>
            </a:r>
          </a:p>
        </p:txBody>
      </p:sp>
      <p:sp>
        <p:nvSpPr>
          <p:cNvPr id="7" name="TextBox 6"/>
          <p:cNvSpPr txBox="1"/>
          <p:nvPr/>
        </p:nvSpPr>
        <p:spPr>
          <a:xfrm>
            <a:off x="4846320" y="1645920"/>
            <a:ext cx="3840480" cy="548640"/>
          </a:xfrm>
          <a:prstGeom prst="rect">
            <a:avLst/>
          </a:prstGeom>
          <a:noFill/>
        </p:spPr>
        <p:txBody>
          <a:bodyPr wrap="none">
            <a:spAutoFit/>
          </a:bodyPr>
          <a:lstStyle/>
          <a:p>
            <a:pPr>
              <a:defRPr sz="1600" b="1">
                <a:solidFill>
                  <a:srgbClr val="BA55D3"/>
                </a:solidFill>
              </a:defRPr>
            </a:pPr>
            <a:r>
              <a:t>How RAG Works:</a:t>
            </a:r>
          </a:p>
        </p:txBody>
      </p:sp>
      <p:sp>
        <p:nvSpPr>
          <p:cNvPr id="8" name="TextBox 7"/>
          <p:cNvSpPr txBox="1"/>
          <p:nvPr/>
        </p:nvSpPr>
        <p:spPr>
          <a:xfrm>
            <a:off x="4846320" y="2286000"/>
            <a:ext cx="3840480" cy="548640"/>
          </a:xfrm>
          <a:prstGeom prst="rect">
            <a:avLst/>
          </a:prstGeom>
          <a:noFill/>
        </p:spPr>
        <p:txBody>
          <a:bodyPr wrap="square">
            <a:spAutoFit/>
          </a:bodyPr>
          <a:lstStyle/>
          <a:p>
            <a:pPr>
              <a:defRPr sz="1200" b="1">
                <a:solidFill>
                  <a:srgbClr val="00C896"/>
                </a:solidFill>
              </a:defRPr>
            </a:pPr>
            <a:r>
              <a:t>1. Retrieve</a:t>
            </a:r>
          </a:p>
          <a:p>
            <a:pPr>
              <a:defRPr sz="1100">
                <a:solidFill>
                  <a:srgbClr val="B0BEC5"/>
                </a:solidFill>
              </a:defRPr>
            </a:pPr>
            <a:r>
              <a:t>Search knowledge base for relevant documents</a:t>
            </a:r>
          </a:p>
        </p:txBody>
      </p:sp>
      <p:sp>
        <p:nvSpPr>
          <p:cNvPr id="9" name="TextBox 8"/>
          <p:cNvSpPr txBox="1"/>
          <p:nvPr/>
        </p:nvSpPr>
        <p:spPr>
          <a:xfrm>
            <a:off x="4846320" y="2926080"/>
            <a:ext cx="3840480" cy="548640"/>
          </a:xfrm>
          <a:prstGeom prst="rect">
            <a:avLst/>
          </a:prstGeom>
          <a:noFill/>
        </p:spPr>
        <p:txBody>
          <a:bodyPr wrap="square">
            <a:spAutoFit/>
          </a:bodyPr>
          <a:lstStyle/>
          <a:p>
            <a:pPr>
              <a:defRPr sz="1200" b="1">
                <a:solidFill>
                  <a:srgbClr val="00C896"/>
                </a:solidFill>
              </a:defRPr>
            </a:pPr>
            <a:r>
              <a:t>2. Augment</a:t>
            </a:r>
          </a:p>
          <a:p>
            <a:pPr>
              <a:defRPr sz="1100">
                <a:solidFill>
                  <a:srgbClr val="B0BEC5"/>
                </a:solidFill>
              </a:defRPr>
            </a:pPr>
            <a:r>
              <a:t>Add retrieved context to the LLM prompt</a:t>
            </a:r>
          </a:p>
        </p:txBody>
      </p:sp>
      <p:sp>
        <p:nvSpPr>
          <p:cNvPr id="10" name="TextBox 9"/>
          <p:cNvSpPr txBox="1"/>
          <p:nvPr/>
        </p:nvSpPr>
        <p:spPr>
          <a:xfrm>
            <a:off x="4846320" y="3566160"/>
            <a:ext cx="3840480" cy="548640"/>
          </a:xfrm>
          <a:prstGeom prst="rect">
            <a:avLst/>
          </a:prstGeom>
          <a:noFill/>
        </p:spPr>
        <p:txBody>
          <a:bodyPr wrap="square">
            <a:spAutoFit/>
          </a:bodyPr>
          <a:lstStyle/>
          <a:p>
            <a:pPr>
              <a:defRPr sz="1200" b="1">
                <a:solidFill>
                  <a:srgbClr val="00C896"/>
                </a:solidFill>
              </a:defRPr>
            </a:pPr>
            <a:r>
              <a:t>3. Generate</a:t>
            </a:r>
          </a:p>
          <a:p>
            <a:pPr>
              <a:defRPr sz="1100">
                <a:solidFill>
                  <a:srgbClr val="B0BEC5"/>
                </a:solidFill>
              </a:defRPr>
            </a:pPr>
            <a:r>
              <a:t>LLM produces response using actual data</a:t>
            </a:r>
          </a:p>
        </p:txBody>
      </p:sp>
      <p:sp>
        <p:nvSpPr>
          <p:cNvPr id="11" name="TextBox 10"/>
          <p:cNvSpPr txBox="1"/>
          <p:nvPr/>
        </p:nvSpPr>
        <p:spPr>
          <a:xfrm>
            <a:off x="457200" y="3840480"/>
            <a:ext cx="8229600" cy="457200"/>
          </a:xfrm>
          <a:prstGeom prst="rect">
            <a:avLst/>
          </a:prstGeom>
          <a:noFill/>
        </p:spPr>
        <p:txBody>
          <a:bodyPr wrap="none">
            <a:spAutoFit/>
          </a:bodyPr>
          <a:lstStyle/>
          <a:p>
            <a:pPr>
              <a:defRPr sz="1400" b="1">
                <a:solidFill>
                  <a:srgbClr val="FFD166"/>
                </a:solidFill>
              </a:defRPr>
            </a:pPr>
            <a:r>
              <a:t>Real-World Examples:</a:t>
            </a:r>
          </a:p>
        </p:txBody>
      </p:sp>
      <p:sp>
        <p:nvSpPr>
          <p:cNvPr id="12" name="TextBox 11"/>
          <p:cNvSpPr txBox="1"/>
          <p:nvPr/>
        </p:nvSpPr>
        <p:spPr>
          <a:xfrm>
            <a:off x="457200" y="4389120"/>
            <a:ext cx="8229600" cy="822960"/>
          </a:xfrm>
          <a:prstGeom prst="rect">
            <a:avLst/>
          </a:prstGeom>
          <a:noFill/>
        </p:spPr>
        <p:txBody>
          <a:bodyPr wrap="square">
            <a:spAutoFit/>
          </a:bodyPr>
          <a:lstStyle/>
          <a:p>
            <a:pPr>
              <a:defRPr sz="1200">
                <a:solidFill>
                  <a:srgbClr val="B0BEC5"/>
                </a:solidFill>
              </a:defRPr>
            </a:pPr>
            <a:r>
              <a:t>📚 Customer Support Agents (search company docs) | 🏥 Medical AI (access patient records &amp; research papers) | 🔍 Legal AI (search case law &amp; contracts)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365760" y="274320"/>
            <a:ext cx="1371600" cy="3200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74320"/>
            <a:ext cx="8229600" cy="365760"/>
          </a:xfrm>
          <a:prstGeom prst="rect">
            <a:avLst/>
          </a:prstGeom>
          <a:noFill/>
        </p:spPr>
        <p:txBody>
          <a:bodyPr wrap="none">
            <a:spAutoFit/>
          </a:bodyPr>
          <a:lstStyle/>
          <a:p>
            <a:pPr>
              <a:defRPr sz="1800" b="1">
                <a:solidFill>
                  <a:srgbClr val="0A1628"/>
                </a:solidFill>
              </a:defRPr>
            </a:pPr>
            <a:r>
              <a:t>MARKET TODAY</a:t>
            </a:r>
          </a:p>
        </p:txBody>
      </p:sp>
      <p:sp>
        <p:nvSpPr>
          <p:cNvPr id="4" name="TextBox 3"/>
          <p:cNvSpPr txBox="1"/>
          <p:nvPr/>
        </p:nvSpPr>
        <p:spPr>
          <a:xfrm>
            <a:off x="457200" y="822960"/>
            <a:ext cx="8229600" cy="731520"/>
          </a:xfrm>
          <a:prstGeom prst="rect">
            <a:avLst/>
          </a:prstGeom>
          <a:noFill/>
        </p:spPr>
        <p:txBody>
          <a:bodyPr wrap="none">
            <a:spAutoFit/>
          </a:bodyPr>
          <a:lstStyle/>
          <a:p>
            <a:pPr>
              <a:defRPr sz="4000" b="1">
                <a:solidFill>
                  <a:srgbClr val="FFFFFF"/>
                </a:solidFill>
              </a:defRPr>
            </a:pPr>
            <a:r>
              <a:t>🎬 Netflix: AI Agents in Action</a:t>
            </a:r>
          </a:p>
        </p:txBody>
      </p:sp>
      <p:sp>
        <p:nvSpPr>
          <p:cNvPr id="5" name="TextBox 4"/>
          <p:cNvSpPr txBox="1"/>
          <p:nvPr/>
        </p:nvSpPr>
        <p:spPr>
          <a:xfrm>
            <a:off x="457200" y="1554480"/>
            <a:ext cx="8229600" cy="274320"/>
          </a:xfrm>
          <a:prstGeom prst="rect">
            <a:avLst/>
          </a:prstGeom>
          <a:noFill/>
        </p:spPr>
        <p:txBody>
          <a:bodyPr wrap="none">
            <a:spAutoFit/>
          </a:bodyPr>
          <a:lstStyle/>
          <a:p>
            <a:pPr>
              <a:defRPr sz="1400">
                <a:solidFill>
                  <a:srgbClr val="FF8C00"/>
                </a:solidFill>
              </a:defRPr>
            </a:pPr>
            <a:r>
              <a:t>How Netflix Uses AI Agents to Deliver 250M+ Personalized Experiences Daily</a:t>
            </a:r>
          </a:p>
        </p:txBody>
      </p:sp>
      <p:sp>
        <p:nvSpPr>
          <p:cNvPr id="6" name="TextBox 5"/>
          <p:cNvSpPr txBox="1"/>
          <p:nvPr/>
        </p:nvSpPr>
        <p:spPr>
          <a:xfrm>
            <a:off x="457200" y="2011680"/>
            <a:ext cx="8229600" cy="228600"/>
          </a:xfrm>
          <a:prstGeom prst="rect">
            <a:avLst/>
          </a:prstGeom>
          <a:noFill/>
        </p:spPr>
        <p:txBody>
          <a:bodyPr wrap="none">
            <a:spAutoFit/>
          </a:bodyPr>
          <a:lstStyle/>
          <a:p>
            <a:pPr>
              <a:defRPr sz="1300" b="1">
                <a:solidFill>
                  <a:srgbClr val="FF8C00"/>
                </a:solidFill>
              </a:defRPr>
            </a:pPr>
            <a:r>
              <a:t>→ Recommendation Engine</a:t>
            </a:r>
          </a:p>
        </p:txBody>
      </p:sp>
      <p:sp>
        <p:nvSpPr>
          <p:cNvPr id="7" name="TextBox 6"/>
          <p:cNvSpPr txBox="1"/>
          <p:nvPr/>
        </p:nvSpPr>
        <p:spPr>
          <a:xfrm>
            <a:off x="731520" y="2267712"/>
            <a:ext cx="7955279" cy="320040"/>
          </a:xfrm>
          <a:prstGeom prst="rect">
            <a:avLst/>
          </a:prstGeom>
          <a:noFill/>
        </p:spPr>
        <p:txBody>
          <a:bodyPr wrap="square">
            <a:spAutoFit/>
          </a:bodyPr>
          <a:lstStyle/>
          <a:p>
            <a:pPr>
              <a:defRPr sz="1100">
                <a:solidFill>
                  <a:srgbClr val="B0BEC5"/>
                </a:solidFill>
              </a:defRPr>
            </a:pPr>
            <a:r>
              <a:t>Analyzes viewing history, search patterns, and similar user behavior to suggest content. Uses RAG to pull from 18,000+ titles.</a:t>
            </a:r>
          </a:p>
        </p:txBody>
      </p:sp>
      <p:sp>
        <p:nvSpPr>
          <p:cNvPr id="8" name="TextBox 7"/>
          <p:cNvSpPr txBox="1"/>
          <p:nvPr/>
        </p:nvSpPr>
        <p:spPr>
          <a:xfrm>
            <a:off x="457200" y="2697480"/>
            <a:ext cx="8229600" cy="228600"/>
          </a:xfrm>
          <a:prstGeom prst="rect">
            <a:avLst/>
          </a:prstGeom>
          <a:noFill/>
        </p:spPr>
        <p:txBody>
          <a:bodyPr wrap="none">
            <a:spAutoFit/>
          </a:bodyPr>
          <a:lstStyle/>
          <a:p>
            <a:pPr>
              <a:defRPr sz="1300" b="1">
                <a:solidFill>
                  <a:srgbClr val="FF8C00"/>
                </a:solidFill>
              </a:defRPr>
            </a:pPr>
            <a:r>
              <a:t>→ Content Quality Assurance</a:t>
            </a:r>
          </a:p>
        </p:txBody>
      </p:sp>
      <p:sp>
        <p:nvSpPr>
          <p:cNvPr id="9" name="TextBox 8"/>
          <p:cNvSpPr txBox="1"/>
          <p:nvPr/>
        </p:nvSpPr>
        <p:spPr>
          <a:xfrm>
            <a:off x="731520" y="2953512"/>
            <a:ext cx="7955279" cy="320040"/>
          </a:xfrm>
          <a:prstGeom prst="rect">
            <a:avLst/>
          </a:prstGeom>
          <a:noFill/>
        </p:spPr>
        <p:txBody>
          <a:bodyPr wrap="square">
            <a:spAutoFit/>
          </a:bodyPr>
          <a:lstStyle/>
          <a:p>
            <a:pPr>
              <a:defRPr sz="1100">
                <a:solidFill>
                  <a:srgbClr val="B0BEC5"/>
                </a:solidFill>
              </a:defRPr>
            </a:pPr>
            <a:r>
              <a:t>AI agents automatically test playback, check video quality, detect errors across 50+ device types.</a:t>
            </a:r>
          </a:p>
        </p:txBody>
      </p:sp>
      <p:sp>
        <p:nvSpPr>
          <p:cNvPr id="10" name="TextBox 9"/>
          <p:cNvSpPr txBox="1"/>
          <p:nvPr/>
        </p:nvSpPr>
        <p:spPr>
          <a:xfrm>
            <a:off x="457200" y="3383280"/>
            <a:ext cx="8229600" cy="228600"/>
          </a:xfrm>
          <a:prstGeom prst="rect">
            <a:avLst/>
          </a:prstGeom>
          <a:noFill/>
        </p:spPr>
        <p:txBody>
          <a:bodyPr wrap="none">
            <a:spAutoFit/>
          </a:bodyPr>
          <a:lstStyle/>
          <a:p>
            <a:pPr>
              <a:defRPr sz="1300" b="1">
                <a:solidFill>
                  <a:srgbClr val="FF8C00"/>
                </a:solidFill>
              </a:defRPr>
            </a:pPr>
            <a:r>
              <a:t>→ Personalized UI</a:t>
            </a:r>
          </a:p>
        </p:txBody>
      </p:sp>
      <p:sp>
        <p:nvSpPr>
          <p:cNvPr id="11" name="TextBox 10"/>
          <p:cNvSpPr txBox="1"/>
          <p:nvPr/>
        </p:nvSpPr>
        <p:spPr>
          <a:xfrm>
            <a:off x="731520" y="3639312"/>
            <a:ext cx="7955279" cy="320040"/>
          </a:xfrm>
          <a:prstGeom prst="rect">
            <a:avLst/>
          </a:prstGeom>
          <a:noFill/>
        </p:spPr>
        <p:txBody>
          <a:bodyPr wrap="square">
            <a:spAutoFit/>
          </a:bodyPr>
          <a:lstStyle/>
          <a:p>
            <a:pPr>
              <a:defRPr sz="1100">
                <a:solidFill>
                  <a:srgbClr val="B0BEC5"/>
                </a:solidFill>
              </a:defRPr>
            </a:pPr>
            <a:r>
              <a:t>Every user sees a different interface. Agents decide which titles appear where based on predicted preferences.</a:t>
            </a:r>
          </a:p>
        </p:txBody>
      </p:sp>
      <p:sp>
        <p:nvSpPr>
          <p:cNvPr id="12" name="TextBox 11"/>
          <p:cNvSpPr txBox="1"/>
          <p:nvPr/>
        </p:nvSpPr>
        <p:spPr>
          <a:xfrm>
            <a:off x="457200" y="4069080"/>
            <a:ext cx="8229600" cy="228600"/>
          </a:xfrm>
          <a:prstGeom prst="rect">
            <a:avLst/>
          </a:prstGeom>
          <a:noFill/>
        </p:spPr>
        <p:txBody>
          <a:bodyPr wrap="none">
            <a:spAutoFit/>
          </a:bodyPr>
          <a:lstStyle/>
          <a:p>
            <a:pPr>
              <a:defRPr sz="1300" b="1">
                <a:solidFill>
                  <a:srgbClr val="FF8C00"/>
                </a:solidFill>
              </a:defRPr>
            </a:pPr>
            <a:r>
              <a:t>→ Churn Prediction</a:t>
            </a:r>
          </a:p>
        </p:txBody>
      </p:sp>
      <p:sp>
        <p:nvSpPr>
          <p:cNvPr id="13" name="TextBox 12"/>
          <p:cNvSpPr txBox="1"/>
          <p:nvPr/>
        </p:nvSpPr>
        <p:spPr>
          <a:xfrm>
            <a:off x="731520" y="4325112"/>
            <a:ext cx="7955279" cy="320040"/>
          </a:xfrm>
          <a:prstGeom prst="rect">
            <a:avLst/>
          </a:prstGeom>
          <a:noFill/>
        </p:spPr>
        <p:txBody>
          <a:bodyPr wrap="square">
            <a:spAutoFit/>
          </a:bodyPr>
          <a:lstStyle/>
          <a:p>
            <a:pPr>
              <a:defRPr sz="1100">
                <a:solidFill>
                  <a:srgbClr val="B0BEC5"/>
                </a:solidFill>
              </a:defRPr>
            </a:pPr>
            <a:r>
              <a:t>Predicts which users might cancel subscription. Triggers agent to send personalized offers &amp; new content alerts.</a:t>
            </a:r>
          </a:p>
        </p:txBody>
      </p:sp>
      <p:sp>
        <p:nvSpPr>
          <p:cNvPr id="14" name="TextBox 13"/>
          <p:cNvSpPr txBox="1"/>
          <p:nvPr/>
        </p:nvSpPr>
        <p:spPr>
          <a:xfrm>
            <a:off x="457200" y="4754880"/>
            <a:ext cx="8229600" cy="457200"/>
          </a:xfrm>
          <a:prstGeom prst="rect">
            <a:avLst/>
          </a:prstGeom>
          <a:noFill/>
        </p:spPr>
        <p:txBody>
          <a:bodyPr wrap="none">
            <a:spAutoFit/>
          </a:bodyPr>
          <a:lstStyle/>
          <a:p>
            <a:pPr>
              <a:defRPr sz="1300" b="1">
                <a:solidFill>
                  <a:srgbClr val="FFD166"/>
                </a:solidFill>
              </a:defRPr>
            </a:pPr>
            <a:r>
              <a:rPr>
                <a:solidFill>
                  <a:srgbClr val="FFD166"/>
                </a:solidFill>
              </a:rPr>
              <a:t>📊 Impact: </a:t>
            </a:r>
          </a:p>
          <a:p>
            <a:pPr>
              <a:defRPr sz="1200">
                <a:solidFill>
                  <a:srgbClr val="B0BEC5"/>
                </a:solidFill>
              </a:defRPr>
            </a:pPr>
            <a:r>
              <a:t>80% of Netflix viewing comes from recommendation agents | 40% lower churn rate than industry average | $1B+ saved in infrastructure optimization per year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365760" y="274320"/>
            <a:ext cx="1371600" cy="32004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74320"/>
            <a:ext cx="8229600" cy="365760"/>
          </a:xfrm>
          <a:prstGeom prst="rect">
            <a:avLst/>
          </a:prstGeom>
          <a:noFill/>
        </p:spPr>
        <p:txBody>
          <a:bodyPr wrap="none">
            <a:spAutoFit/>
          </a:bodyPr>
          <a:lstStyle/>
          <a:p>
            <a:pPr>
              <a:defRPr sz="1800" b="1">
                <a:solidFill>
                  <a:srgbClr val="0A1628"/>
                </a:solidFill>
              </a:defRPr>
            </a:pPr>
            <a:r>
              <a:t>MARKET TODAY</a:t>
            </a:r>
          </a:p>
        </p:txBody>
      </p:sp>
      <p:sp>
        <p:nvSpPr>
          <p:cNvPr id="4" name="TextBox 3"/>
          <p:cNvSpPr txBox="1"/>
          <p:nvPr/>
        </p:nvSpPr>
        <p:spPr>
          <a:xfrm>
            <a:off x="457200" y="822960"/>
            <a:ext cx="8229600" cy="731520"/>
          </a:xfrm>
          <a:prstGeom prst="rect">
            <a:avLst/>
          </a:prstGeom>
          <a:noFill/>
        </p:spPr>
        <p:txBody>
          <a:bodyPr wrap="none">
            <a:spAutoFit/>
          </a:bodyPr>
          <a:lstStyle/>
          <a:p>
            <a:pPr>
              <a:defRPr sz="4000" b="1">
                <a:solidFill>
                  <a:srgbClr val="FFFFFF"/>
                </a:solidFill>
              </a:defRPr>
            </a:pPr>
            <a:r>
              <a:t>🤖 Tesla: AI Agents in Autonomous Vehicles</a:t>
            </a:r>
          </a:p>
        </p:txBody>
      </p:sp>
      <p:sp>
        <p:nvSpPr>
          <p:cNvPr id="5" name="TextBox 4"/>
          <p:cNvSpPr txBox="1"/>
          <p:nvPr/>
        </p:nvSpPr>
        <p:spPr>
          <a:xfrm>
            <a:off x="457200" y="1554480"/>
            <a:ext cx="8229600" cy="274320"/>
          </a:xfrm>
          <a:prstGeom prst="rect">
            <a:avLst/>
          </a:prstGeom>
          <a:noFill/>
        </p:spPr>
        <p:txBody>
          <a:bodyPr wrap="none">
            <a:spAutoFit/>
          </a:bodyPr>
          <a:lstStyle/>
          <a:p>
            <a:pPr>
              <a:defRPr sz="1400">
                <a:solidFill>
                  <a:srgbClr val="00C896"/>
                </a:solidFill>
              </a:defRPr>
            </a:pPr>
            <a:r>
              <a:t>Autonomous Driving powered by Real-Time Multi-Agent AI Systems</a:t>
            </a:r>
          </a:p>
        </p:txBody>
      </p:sp>
      <p:sp>
        <p:nvSpPr>
          <p:cNvPr id="6" name="TextBox 5"/>
          <p:cNvSpPr txBox="1"/>
          <p:nvPr/>
        </p:nvSpPr>
        <p:spPr>
          <a:xfrm>
            <a:off x="457200" y="2011680"/>
            <a:ext cx="8229600" cy="228600"/>
          </a:xfrm>
          <a:prstGeom prst="rect">
            <a:avLst/>
          </a:prstGeom>
          <a:noFill/>
        </p:spPr>
        <p:txBody>
          <a:bodyPr wrap="none">
            <a:spAutoFit/>
          </a:bodyPr>
          <a:lstStyle/>
          <a:p>
            <a:pPr>
              <a:defRPr sz="1300" b="1">
                <a:solidFill>
                  <a:srgbClr val="00C896"/>
                </a:solidFill>
              </a:defRPr>
            </a:pPr>
            <a:r>
              <a:t>→ Vision Agent</a:t>
            </a:r>
          </a:p>
        </p:txBody>
      </p:sp>
      <p:sp>
        <p:nvSpPr>
          <p:cNvPr id="7" name="TextBox 6"/>
          <p:cNvSpPr txBox="1"/>
          <p:nvPr/>
        </p:nvSpPr>
        <p:spPr>
          <a:xfrm>
            <a:off x="731520" y="2267712"/>
            <a:ext cx="7955279" cy="320040"/>
          </a:xfrm>
          <a:prstGeom prst="rect">
            <a:avLst/>
          </a:prstGeom>
          <a:noFill/>
        </p:spPr>
        <p:txBody>
          <a:bodyPr wrap="square">
            <a:spAutoFit/>
          </a:bodyPr>
          <a:lstStyle/>
          <a:p>
            <a:pPr>
              <a:defRPr sz="1100">
                <a:solidFill>
                  <a:srgbClr val="B0BEC5"/>
                </a:solidFill>
              </a:defRPr>
            </a:pPr>
            <a:r>
              <a:t>8 cameras process 2.5 billion frames/day. Detects pedestrians, cars, lane markings in real-time with 99.9% accuracy.</a:t>
            </a:r>
          </a:p>
        </p:txBody>
      </p:sp>
      <p:sp>
        <p:nvSpPr>
          <p:cNvPr id="8" name="TextBox 7"/>
          <p:cNvSpPr txBox="1"/>
          <p:nvPr/>
        </p:nvSpPr>
        <p:spPr>
          <a:xfrm>
            <a:off x="457200" y="2697480"/>
            <a:ext cx="8229600" cy="228600"/>
          </a:xfrm>
          <a:prstGeom prst="rect">
            <a:avLst/>
          </a:prstGeom>
          <a:noFill/>
        </p:spPr>
        <p:txBody>
          <a:bodyPr wrap="none">
            <a:spAutoFit/>
          </a:bodyPr>
          <a:lstStyle/>
          <a:p>
            <a:pPr>
              <a:defRPr sz="1300" b="1">
                <a:solidFill>
                  <a:srgbClr val="00C896"/>
                </a:solidFill>
              </a:defRPr>
            </a:pPr>
            <a:r>
              <a:t>→ Decision Agent</a:t>
            </a:r>
          </a:p>
        </p:txBody>
      </p:sp>
      <p:sp>
        <p:nvSpPr>
          <p:cNvPr id="9" name="TextBox 8"/>
          <p:cNvSpPr txBox="1"/>
          <p:nvPr/>
        </p:nvSpPr>
        <p:spPr>
          <a:xfrm>
            <a:off x="731520" y="2953512"/>
            <a:ext cx="7955279" cy="320040"/>
          </a:xfrm>
          <a:prstGeom prst="rect">
            <a:avLst/>
          </a:prstGeom>
          <a:noFill/>
        </p:spPr>
        <p:txBody>
          <a:bodyPr wrap="square">
            <a:spAutoFit/>
          </a:bodyPr>
          <a:lstStyle/>
          <a:p>
            <a:pPr>
              <a:defRPr sz="1100">
                <a:solidFill>
                  <a:srgbClr val="B0BEC5"/>
                </a:solidFill>
              </a:defRPr>
            </a:pPr>
            <a:r>
              <a:t>Makes split-second driving decisions: accelerate, brake, turn. Plans 5-10 seconds ahead.</a:t>
            </a:r>
          </a:p>
        </p:txBody>
      </p:sp>
      <p:sp>
        <p:nvSpPr>
          <p:cNvPr id="10" name="TextBox 9"/>
          <p:cNvSpPr txBox="1"/>
          <p:nvPr/>
        </p:nvSpPr>
        <p:spPr>
          <a:xfrm>
            <a:off x="457200" y="3383280"/>
            <a:ext cx="8229600" cy="228600"/>
          </a:xfrm>
          <a:prstGeom prst="rect">
            <a:avLst/>
          </a:prstGeom>
          <a:noFill/>
        </p:spPr>
        <p:txBody>
          <a:bodyPr wrap="none">
            <a:spAutoFit/>
          </a:bodyPr>
          <a:lstStyle/>
          <a:p>
            <a:pPr>
              <a:defRPr sz="1300" b="1">
                <a:solidFill>
                  <a:srgbClr val="00C896"/>
                </a:solidFill>
              </a:defRPr>
            </a:pPr>
            <a:r>
              <a:t>→ Safety Agent</a:t>
            </a:r>
          </a:p>
        </p:txBody>
      </p:sp>
      <p:sp>
        <p:nvSpPr>
          <p:cNvPr id="11" name="TextBox 10"/>
          <p:cNvSpPr txBox="1"/>
          <p:nvPr/>
        </p:nvSpPr>
        <p:spPr>
          <a:xfrm>
            <a:off x="731520" y="3639312"/>
            <a:ext cx="7955279" cy="320040"/>
          </a:xfrm>
          <a:prstGeom prst="rect">
            <a:avLst/>
          </a:prstGeom>
          <a:noFill/>
        </p:spPr>
        <p:txBody>
          <a:bodyPr wrap="square">
            <a:spAutoFit/>
          </a:bodyPr>
          <a:lstStyle/>
          <a:p>
            <a:pPr>
              <a:defRPr sz="1100">
                <a:solidFill>
                  <a:srgbClr val="B0BEC5"/>
                </a:solidFill>
              </a:defRPr>
            </a:pPr>
            <a:r>
              <a:t>Monitors vehicle health, detects anomalies, alerts driver of issues before they become problems.</a:t>
            </a:r>
          </a:p>
        </p:txBody>
      </p:sp>
      <p:sp>
        <p:nvSpPr>
          <p:cNvPr id="12" name="TextBox 11"/>
          <p:cNvSpPr txBox="1"/>
          <p:nvPr/>
        </p:nvSpPr>
        <p:spPr>
          <a:xfrm>
            <a:off x="457200" y="4069080"/>
            <a:ext cx="8229600" cy="228600"/>
          </a:xfrm>
          <a:prstGeom prst="rect">
            <a:avLst/>
          </a:prstGeom>
          <a:noFill/>
        </p:spPr>
        <p:txBody>
          <a:bodyPr wrap="none">
            <a:spAutoFit/>
          </a:bodyPr>
          <a:lstStyle/>
          <a:p>
            <a:pPr>
              <a:defRPr sz="1300" b="1">
                <a:solidFill>
                  <a:srgbClr val="00C896"/>
                </a:solidFill>
              </a:defRPr>
            </a:pPr>
            <a:r>
              <a:t>→ Fleet Learning Agent</a:t>
            </a:r>
          </a:p>
        </p:txBody>
      </p:sp>
      <p:sp>
        <p:nvSpPr>
          <p:cNvPr id="13" name="TextBox 12"/>
          <p:cNvSpPr txBox="1"/>
          <p:nvPr/>
        </p:nvSpPr>
        <p:spPr>
          <a:xfrm>
            <a:off x="731520" y="4325112"/>
            <a:ext cx="7955279" cy="320040"/>
          </a:xfrm>
          <a:prstGeom prst="rect">
            <a:avLst/>
          </a:prstGeom>
          <a:noFill/>
        </p:spPr>
        <p:txBody>
          <a:bodyPr wrap="square">
            <a:spAutoFit/>
          </a:bodyPr>
          <a:lstStyle/>
          <a:p>
            <a:pPr>
              <a:defRPr sz="1100">
                <a:solidFill>
                  <a:srgbClr val="B0BEC5"/>
                </a:solidFill>
              </a:defRPr>
            </a:pPr>
            <a:r>
              <a:t>Collects driving data from 5M+ Teslas. Agents learn from collective experience and improve together.</a:t>
            </a:r>
          </a:p>
        </p:txBody>
      </p:sp>
      <p:sp>
        <p:nvSpPr>
          <p:cNvPr id="14" name="TextBox 13"/>
          <p:cNvSpPr txBox="1"/>
          <p:nvPr/>
        </p:nvSpPr>
        <p:spPr>
          <a:xfrm>
            <a:off x="457200" y="4754880"/>
            <a:ext cx="8229600" cy="457200"/>
          </a:xfrm>
          <a:prstGeom prst="rect">
            <a:avLst/>
          </a:prstGeom>
          <a:noFill/>
        </p:spPr>
        <p:txBody>
          <a:bodyPr wrap="none">
            <a:spAutoFit/>
          </a:bodyPr>
          <a:lstStyle/>
          <a:p>
            <a:pPr>
              <a:defRPr sz="1300" b="1">
                <a:solidFill>
                  <a:srgbClr val="FFD166"/>
                </a:solidFill>
              </a:defRPr>
            </a:pPr>
            <a:r>
              <a:t>🎯 Impact: </a:t>
            </a:r>
          </a:p>
          <a:p>
            <a:pPr>
              <a:defRPr sz="1200">
                <a:solidFill>
                  <a:srgbClr val="B0BEC5"/>
                </a:solidFill>
              </a:defRPr>
            </a:pPr>
            <a:r>
              <a:t>1.5 Million AI-powered vehicles on roads | 99.99% incident reduction over time | Full autonomous driving released in beta | Agents process 2.5 billion visual frames daily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2743200" y="457200"/>
            <a:ext cx="3657600" cy="3657600"/>
          </a:xfrm>
          <a:prstGeom prst="ellipse">
            <a:avLst/>
          </a:prstGeom>
          <a:solidFill>
            <a:srgbClr val="1565C0">
              <a:alpha val="15000"/>
            </a:srgbClr>
          </a:solidFill>
          <a:ln/>
        </p:spPr>
      </p:sp>
      <p:sp>
        <p:nvSpPr>
          <p:cNvPr id="3" name="Shape 1"/>
          <p:cNvSpPr/>
          <p:nvPr/>
        </p:nvSpPr>
        <p:spPr>
          <a:xfrm>
            <a:off x="3474720" y="914400"/>
            <a:ext cx="2286000" cy="2286000"/>
          </a:xfrm>
          <a:prstGeom prst="ellipse">
            <a:avLst/>
          </a:prstGeom>
          <a:solidFill>
            <a:srgbClr val="00B4D8">
              <a:alpha val="22000"/>
            </a:srgbClr>
          </a:solidFill>
          <a:ln/>
        </p:spPr>
      </p:sp>
      <p:pic>
        <p:nvPicPr>
          <p:cNvPr id="4" name="Image 0" descr="preencoded.png"/>
          <p:cNvPicPr>
            <a:picLocks noChangeAspect="1"/>
          </p:cNvPicPr>
          <p:nvPr/>
        </p:nvPicPr>
        <p:blipFill>
          <a:blip r:embed="rId3"/>
          <a:stretch>
            <a:fillRect/>
          </a:stretch>
        </p:blipFill>
        <p:spPr>
          <a:xfrm>
            <a:off x="3886200" y="1005840"/>
            <a:ext cx="1371600" cy="1371600"/>
          </a:xfrm>
          <a:prstGeom prst="rect">
            <a:avLst/>
          </a:prstGeom>
        </p:spPr>
      </p:pic>
      <p:sp>
        <p:nvSpPr>
          <p:cNvPr id="5" name="Text 2"/>
          <p:cNvSpPr/>
          <p:nvPr/>
        </p:nvSpPr>
        <p:spPr>
          <a:xfrm>
            <a:off x="457200" y="2514600"/>
            <a:ext cx="8229600" cy="82296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Text 3"/>
          <p:cNvSpPr/>
          <p:nvPr/>
        </p:nvSpPr>
        <p:spPr>
          <a:xfrm>
            <a:off x="457200" y="3337560"/>
            <a:ext cx="8229600" cy="457200"/>
          </a:xfrm>
          <a:prstGeom prst="rect">
            <a:avLst/>
          </a:prstGeom>
          <a:noFill/>
          <a:ln/>
        </p:spPr>
        <p:txBody>
          <a:bodyPr wrap="square" rtlCol="0" anchor="ctr"/>
          <a:lstStyle/>
          <a:p>
            <a:pPr marL="0" indent="0" algn="ctr">
              <a:buNone/>
            </a:pPr>
            <a:r>
              <a:rPr lang="en-US" sz="2000" i="1" dirty="0">
                <a:solidFill>
                  <a:srgbClr val="00B4D8"/>
                </a:solidFill>
                <a:latin typeface="Calibri" pitchFamily="34" charset="0"/>
                <a:ea typeface="Calibri" pitchFamily="34" charset="-122"/>
                <a:cs typeface="Calibri" pitchFamily="34" charset="-120"/>
              </a:rPr>
              <a:t>The Age of AI Agents is Here.</a:t>
            </a:r>
            <a:endParaRPr lang="en-US" sz="2000" dirty="0"/>
          </a:p>
        </p:txBody>
      </p:sp>
      <p:sp>
        <p:nvSpPr>
          <p:cNvPr id="7" name="Shape 4"/>
          <p:cNvSpPr/>
          <p:nvPr/>
        </p:nvSpPr>
        <p:spPr>
          <a:xfrm>
            <a:off x="640080" y="3977640"/>
            <a:ext cx="2560320" cy="10058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8" name="Shape 5"/>
          <p:cNvSpPr/>
          <p:nvPr/>
        </p:nvSpPr>
        <p:spPr>
          <a:xfrm>
            <a:off x="640080" y="3977640"/>
            <a:ext cx="2560320" cy="36576"/>
          </a:xfrm>
          <a:prstGeom prst="rect">
            <a:avLst/>
          </a:prstGeom>
          <a:solidFill>
            <a:srgbClr val="00B4D8"/>
          </a:solidFill>
          <a:ln/>
        </p:spPr>
      </p:sp>
      <p:sp>
        <p:nvSpPr>
          <p:cNvPr id="9" name="Text 6"/>
          <p:cNvSpPr/>
          <p:nvPr/>
        </p:nvSpPr>
        <p:spPr>
          <a:xfrm>
            <a:off x="749808" y="4041648"/>
            <a:ext cx="2377440" cy="411480"/>
          </a:xfrm>
          <a:prstGeom prst="rect">
            <a:avLst/>
          </a:prstGeom>
          <a:noFill/>
          <a:ln/>
        </p:spPr>
        <p:txBody>
          <a:bodyPr wrap="square" lIns="0" tIns="0" rIns="0" bIns="0" rtlCol="0" anchor="ctr"/>
          <a:lstStyle/>
          <a:p>
            <a:pPr marL="0" indent="0">
              <a:buNone/>
            </a:pPr>
            <a:r>
              <a:rPr lang="en-US" sz="1300" b="1" dirty="0">
                <a:solidFill>
                  <a:srgbClr val="00B4D8"/>
                </a:solidFill>
              </a:rPr>
              <a:t>🧠 Keep Learning</a:t>
            </a:r>
            <a:endParaRPr lang="en-US" sz="1300" dirty="0"/>
          </a:p>
        </p:txBody>
      </p:sp>
      <p:sp>
        <p:nvSpPr>
          <p:cNvPr id="10" name="Text 7"/>
          <p:cNvSpPr/>
          <p:nvPr/>
        </p:nvSpPr>
        <p:spPr>
          <a:xfrm>
            <a:off x="749808" y="4462272"/>
            <a:ext cx="2377440" cy="438912"/>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Follow AI news &amp; build small projects</a:t>
            </a:r>
            <a:endParaRPr lang="en-US" sz="1050" dirty="0"/>
          </a:p>
        </p:txBody>
      </p:sp>
      <p:sp>
        <p:nvSpPr>
          <p:cNvPr id="11" name="Shape 8"/>
          <p:cNvSpPr/>
          <p:nvPr/>
        </p:nvSpPr>
        <p:spPr>
          <a:xfrm>
            <a:off x="3429000" y="3977640"/>
            <a:ext cx="2560320" cy="10058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2" name="Shape 9"/>
          <p:cNvSpPr/>
          <p:nvPr/>
        </p:nvSpPr>
        <p:spPr>
          <a:xfrm>
            <a:off x="3429000" y="3977640"/>
            <a:ext cx="2560320" cy="36576"/>
          </a:xfrm>
          <a:prstGeom prst="rect">
            <a:avLst/>
          </a:prstGeom>
          <a:solidFill>
            <a:srgbClr val="7C3AED"/>
          </a:solidFill>
          <a:ln/>
        </p:spPr>
      </p:sp>
      <p:sp>
        <p:nvSpPr>
          <p:cNvPr id="13" name="Text 10"/>
          <p:cNvSpPr/>
          <p:nvPr/>
        </p:nvSpPr>
        <p:spPr>
          <a:xfrm>
            <a:off x="3538728" y="4041648"/>
            <a:ext cx="2377440" cy="411480"/>
          </a:xfrm>
          <a:prstGeom prst="rect">
            <a:avLst/>
          </a:prstGeom>
          <a:noFill/>
          <a:ln/>
        </p:spPr>
        <p:txBody>
          <a:bodyPr wrap="square" lIns="0" tIns="0" rIns="0" bIns="0" rtlCol="0" anchor="ctr"/>
          <a:lstStyle/>
          <a:p>
            <a:pPr marL="0" indent="0">
              <a:buNone/>
            </a:pPr>
            <a:r>
              <a:rPr lang="en-US" sz="1300" b="1" dirty="0">
                <a:solidFill>
                  <a:srgbClr val="7C3AED"/>
                </a:solidFill>
              </a:rPr>
              <a:t>🔧 Start Building</a:t>
            </a:r>
            <a:endParaRPr lang="en-US" sz="1300" dirty="0"/>
          </a:p>
        </p:txBody>
      </p:sp>
      <p:sp>
        <p:nvSpPr>
          <p:cNvPr id="14" name="Text 11"/>
          <p:cNvSpPr/>
          <p:nvPr/>
        </p:nvSpPr>
        <p:spPr>
          <a:xfrm>
            <a:off x="3538728" y="4462272"/>
            <a:ext cx="2377440" cy="438912"/>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Try LangChain or AutoGPT today</a:t>
            </a:r>
            <a:endParaRPr lang="en-US" sz="1050" dirty="0"/>
          </a:p>
        </p:txBody>
      </p:sp>
      <p:sp>
        <p:nvSpPr>
          <p:cNvPr id="15" name="Shape 12"/>
          <p:cNvSpPr/>
          <p:nvPr/>
        </p:nvSpPr>
        <p:spPr>
          <a:xfrm>
            <a:off x="6217920" y="3977640"/>
            <a:ext cx="2560320" cy="1005840"/>
          </a:xfrm>
          <a:prstGeom prst="rect">
            <a:avLst/>
          </a:prstGeom>
          <a:solidFill>
            <a:srgbClr val="152A4E"/>
          </a:solidFill>
          <a:ln w="6350">
            <a:solidFill>
              <a:srgbClr val="1565C0"/>
            </a:solidFill>
            <a:prstDash val="solid"/>
          </a:ln>
          <a:effectLst>
            <a:outerShdw blurRad="152400" dist="50800" dir="8100000" algn="bl" rotWithShape="0">
              <a:srgbClr val="000000">
                <a:alpha val="35000"/>
              </a:srgbClr>
            </a:outerShdw>
          </a:effectLst>
        </p:spPr>
      </p:sp>
      <p:sp>
        <p:nvSpPr>
          <p:cNvPr id="16" name="Shape 13"/>
          <p:cNvSpPr/>
          <p:nvPr/>
        </p:nvSpPr>
        <p:spPr>
          <a:xfrm>
            <a:off x="6217920" y="3977640"/>
            <a:ext cx="2560320" cy="36576"/>
          </a:xfrm>
          <a:prstGeom prst="rect">
            <a:avLst/>
          </a:prstGeom>
          <a:solidFill>
            <a:srgbClr val="00C896"/>
          </a:solidFill>
          <a:ln/>
        </p:spPr>
      </p:sp>
      <p:sp>
        <p:nvSpPr>
          <p:cNvPr id="17" name="Text 14"/>
          <p:cNvSpPr/>
          <p:nvPr/>
        </p:nvSpPr>
        <p:spPr>
          <a:xfrm>
            <a:off x="6327648" y="4041648"/>
            <a:ext cx="2377440" cy="411480"/>
          </a:xfrm>
          <a:prstGeom prst="rect">
            <a:avLst/>
          </a:prstGeom>
          <a:noFill/>
          <a:ln/>
        </p:spPr>
        <p:txBody>
          <a:bodyPr wrap="square" lIns="0" tIns="0" rIns="0" bIns="0" rtlCol="0" anchor="ctr"/>
          <a:lstStyle/>
          <a:p>
            <a:pPr marL="0" indent="0">
              <a:buNone/>
            </a:pPr>
            <a:r>
              <a:rPr lang="en-US" sz="1300" b="1" dirty="0">
                <a:solidFill>
                  <a:srgbClr val="00C896"/>
                </a:solidFill>
              </a:rPr>
              <a:t>🌐 Stay Updated</a:t>
            </a:r>
            <a:endParaRPr lang="en-US" sz="1300" dirty="0"/>
          </a:p>
        </p:txBody>
      </p:sp>
      <p:sp>
        <p:nvSpPr>
          <p:cNvPr id="18" name="Text 15"/>
          <p:cNvSpPr/>
          <p:nvPr/>
        </p:nvSpPr>
        <p:spPr>
          <a:xfrm>
            <a:off x="6327648" y="4462272"/>
            <a:ext cx="2377440" cy="438912"/>
          </a:xfrm>
          <a:prstGeom prst="rect">
            <a:avLst/>
          </a:prstGeom>
          <a:noFill/>
          <a:ln/>
        </p:spPr>
        <p:txBody>
          <a:bodyPr wrap="square" rtlCol="0" anchor="t"/>
          <a:lstStyle/>
          <a:p>
            <a:pPr marL="0" indent="0">
              <a:buNone/>
            </a:pPr>
            <a:r>
              <a:rPr lang="en-US" sz="1050" dirty="0">
                <a:solidFill>
                  <a:srgbClr val="B0BEC5"/>
                </a:solidFill>
                <a:latin typeface="Calibri" pitchFamily="34" charset="0"/>
                <a:ea typeface="Calibri" pitchFamily="34" charset="-122"/>
                <a:cs typeface="Calibri" pitchFamily="34" charset="-120"/>
              </a:rPr>
              <a:t>AI moves fast — never stop exploring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2165</Words>
  <Application>Microsoft Office PowerPoint</Application>
  <PresentationFormat>On-screen Show (16:9)</PresentationFormat>
  <Paragraphs>379</Paragraphs>
  <Slides>24</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 The Future of Intelligent Automation</dc:title>
  <dc:subject>PptxGenJS Presentation</dc:subject>
  <dc:creator>AI Agents Presentation</dc:creator>
  <cp:lastModifiedBy>Dakshata Shinde</cp:lastModifiedBy>
  <cp:revision>2</cp:revision>
  <dcterms:created xsi:type="dcterms:W3CDTF">2026-06-07T17:07:27Z</dcterms:created>
  <dcterms:modified xsi:type="dcterms:W3CDTF">2026-06-24T07:35:49Z</dcterms:modified>
</cp:coreProperties>
</file>